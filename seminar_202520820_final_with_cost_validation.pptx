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charts/chart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5.xml" ContentType="application/vnd.openxmlformats-officedocument.drawingml.chart+xml"/>
  <Override PartName="/ppt/notesSlides/notesSlide29.xml" ContentType="application/vnd.openxmlformats-officedocument.presentationml.notesSlide+xml"/>
  <Override PartName="/ppt/charts/chart6.xml" ContentType="application/vnd.openxmlformats-officedocument.drawingml.chart+xml"/>
  <Override PartName="/ppt/notesSlides/notesSlide30.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89" r:id="rId2"/>
    <p:sldId id="290"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77" r:id="rId17"/>
    <p:sldId id="278" r:id="rId18"/>
    <p:sldId id="287" r:id="rId19"/>
    <p:sldId id="280" r:id="rId20"/>
    <p:sldId id="281" r:id="rId21"/>
    <p:sldId id="282" r:id="rId22"/>
    <p:sldId id="286" r:id="rId23"/>
    <p:sldId id="279" r:id="rId24"/>
    <p:sldId id="288" r:id="rId25"/>
    <p:sldId id="269" r:id="rId26"/>
    <p:sldId id="270" r:id="rId27"/>
    <p:sldId id="271" r:id="rId28"/>
    <p:sldId id="272" r:id="rId29"/>
    <p:sldId id="273" r:id="rId30"/>
    <p:sldId id="274" r:id="rId31"/>
    <p:sldId id="275" r:id="rId32"/>
    <p:sldId id="276" r:id="rId33"/>
    <p:sldId id="283" r:id="rId34"/>
    <p:sldId id="284" r:id="rId35"/>
    <p:sldId id="285" r:id="rId3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1761"/>
  </p:normalViewPr>
  <p:slideViewPr>
    <p:cSldViewPr snapToGrid="0">
      <p:cViewPr varScale="1">
        <p:scale>
          <a:sx n="88" d="100"/>
          <a:sy n="88" d="100"/>
        </p:scale>
        <p:origin x="1480" y="192"/>
      </p:cViewPr>
      <p:guideLst/>
    </p:cSldViewPr>
  </p:slideViewPr>
  <p:notesTextViewPr>
    <p:cViewPr>
      <p:scale>
        <a:sx n="1" d="1"/>
        <a:sy n="1" d="1"/>
      </p:scale>
      <p:origin x="0" y="-288"/>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Fixed standard</c:v>
          </c:tx>
          <c:spPr>
            <a:ln w="0">
              <a:solidFill>
                <a:srgbClr val="6A8CAF"/>
              </a:solidFill>
              <a:prstDash val="solid"/>
            </a:ln>
          </c:spPr>
          <c:marker>
            <c:symbol val="circle"/>
            <c:size val="15"/>
          </c:marker>
          <c:dLbls>
            <c:dLbl>
              <c:idx val="0"/>
              <c:layout>
                <c:manualLayout>
                  <c:x val="8.7980937925291169E-3"/>
                  <c:y val="-5.495816796297983E-3"/>
                </c:manualLayout>
              </c:layout>
              <c:tx>
                <c:rich>
                  <a:bodyPr/>
                  <a:lstStyle/>
                  <a:p>
                    <a:r>
                      <a:rPr lang="en-US" sz="1400" b="1" dirty="0">
                        <a:solidFill>
                          <a:srgbClr val="1F1F1F"/>
                        </a:solidFill>
                      </a:rPr>
                      <a:t>Fixed standard
3.97 s | 0.783</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3.9682369999999998</c:v>
              </c:pt>
            </c:numLit>
          </c:xVal>
          <c:yVal>
            <c:numLit>
              <c:formatCode>0.000</c:formatCode>
              <c:ptCount val="1"/>
              <c:pt idx="0">
                <c:v>0.78299099999999999</c:v>
              </c:pt>
            </c:numLit>
          </c:yVal>
          <c:smooth val="1"/>
          <c:extLst>
            <c:ext xmlns:c16="http://schemas.microsoft.com/office/drawing/2014/chart" uri="{C3380CC4-5D6E-409C-BE32-E72D297353CC}">
              <c16:uniqueId val="{00000001-C531-4D45-874C-29B279170E29}"/>
            </c:ext>
          </c:extLst>
        </c:ser>
        <c:ser>
          <c:idx val="1"/>
          <c:order val="1"/>
          <c:tx>
            <c:v>High mutation</c:v>
          </c:tx>
          <c:spPr>
            <a:ln w="0">
              <a:solidFill>
                <a:srgbClr val="70AD47"/>
              </a:solidFill>
              <a:prstDash val="solid"/>
            </a:ln>
          </c:spPr>
          <c:marker>
            <c:symbol val="circle"/>
            <c:size val="15"/>
          </c:marker>
          <c:dLbls>
            <c:dLbl>
              <c:idx val="0"/>
              <c:layout>
                <c:manualLayout>
                  <c:x val="1.0264442757950673E-2"/>
                  <c:y val="-8.2437251944469745E-3"/>
                </c:manualLayout>
              </c:layout>
              <c:tx>
                <c:rich>
                  <a:bodyPr/>
                  <a:lstStyle/>
                  <a:p>
                    <a:r>
                      <a:rPr lang="en-US" sz="1400" b="1" dirty="0">
                        <a:solidFill>
                          <a:srgbClr val="1F1F1F"/>
                        </a:solidFill>
                      </a:rPr>
                      <a:t>High mutation
3.36 s | 0.808</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3.3592789999999999</c:v>
              </c:pt>
            </c:numLit>
          </c:xVal>
          <c:yVal>
            <c:numLit>
              <c:formatCode>0.000</c:formatCode>
              <c:ptCount val="1"/>
              <c:pt idx="0">
                <c:v>0.80831500000000001</c:v>
              </c:pt>
            </c:numLit>
          </c:yVal>
          <c:smooth val="1"/>
          <c:extLst>
            <c:ext xmlns:c16="http://schemas.microsoft.com/office/drawing/2014/chart" uri="{C3380CC4-5D6E-409C-BE32-E72D297353CC}">
              <c16:uniqueId val="{00000003-C531-4D45-874C-29B279170E29}"/>
            </c:ext>
          </c:extLst>
        </c:ser>
        <c:ser>
          <c:idx val="2"/>
          <c:order val="2"/>
          <c:tx>
            <c:v>Proposed method</c:v>
          </c:tx>
          <c:spPr>
            <a:ln w="0">
              <a:solidFill>
                <a:srgbClr val="D95F5F"/>
              </a:solidFill>
              <a:prstDash val="solid"/>
            </a:ln>
          </c:spPr>
          <c:marker>
            <c:symbol val="circle"/>
            <c:size val="17"/>
          </c:marker>
          <c:dLbls>
            <c:dLbl>
              <c:idx val="0"/>
              <c:layout>
                <c:manualLayout>
                  <c:x val="-0.14365797722125023"/>
                  <c:y val="2.7479083981489915E-3"/>
                </c:manualLayout>
              </c:layout>
              <c:tx>
                <c:rich>
                  <a:bodyPr/>
                  <a:lstStyle/>
                  <a:p>
                    <a:r>
                      <a:rPr lang="en-US" sz="1400" b="1" dirty="0">
                        <a:solidFill>
                          <a:srgbClr val="1F1F1F"/>
                        </a:solidFill>
                      </a:rPr>
                      <a:t>Proposed method
7.60 s | 0.802</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7.5982779999999996</c:v>
              </c:pt>
            </c:numLit>
          </c:xVal>
          <c:yVal>
            <c:numLit>
              <c:formatCode>0.000</c:formatCode>
              <c:ptCount val="1"/>
              <c:pt idx="0">
                <c:v>0.80246099999999998</c:v>
              </c:pt>
            </c:numLit>
          </c:yVal>
          <c:smooth val="1"/>
          <c:extLst>
            <c:ext xmlns:c16="http://schemas.microsoft.com/office/drawing/2014/chart" uri="{C3380CC4-5D6E-409C-BE32-E72D297353CC}">
              <c16:uniqueId val="{00000005-C531-4D45-874C-29B279170E29}"/>
            </c:ext>
          </c:extLst>
        </c:ser>
        <c:dLbls>
          <c:showLegendKey val="0"/>
          <c:showVal val="0"/>
          <c:showCatName val="0"/>
          <c:showSerName val="1"/>
          <c:showPercent val="0"/>
          <c:showBubbleSize val="0"/>
        </c:dLbls>
        <c:axId val="48650112"/>
        <c:axId val="48672768"/>
      </c:scatterChart>
      <c:valAx>
        <c:axId val="48672768"/>
        <c:scaling>
          <c:orientation val="minMax"/>
          <c:max val="0.81499999999999995"/>
          <c:min val="0.77"/>
        </c:scaling>
        <c:delete val="0"/>
        <c:axPos val="l"/>
        <c:majorGridlines>
          <c:spPr>
            <a:ln w="9525">
              <a:solidFill>
                <a:srgbClr val="D9E2F3"/>
              </a:solidFill>
              <a:prstDash val="solid"/>
            </a:ln>
          </c:spPr>
        </c:majorGridlines>
        <c:title>
          <c:tx>
            <c:rich>
              <a:bodyPr/>
              <a:lstStyle/>
              <a:p>
                <a:r>
                  <a:rPr lang="en" sz="1275" b="1">
                    <a:solidFill>
                      <a:srgbClr val="1F1F1F"/>
                    </a:solidFill>
                  </a:rPr>
                  <a:t>Final archive HV</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50112"/>
        <c:crosses val="autoZero"/>
        <c:crossBetween val="midCat"/>
        <c:majorUnit val="0.01"/>
      </c:valAx>
      <c:valAx>
        <c:axId val="48650112"/>
        <c:scaling>
          <c:orientation val="minMax"/>
          <c:max val="8.1999999999999993"/>
          <c:min val="3"/>
        </c:scaling>
        <c:delete val="0"/>
        <c:axPos val="b"/>
        <c:majorGridlines>
          <c:spPr>
            <a:ln w="9525">
              <a:solidFill>
                <a:srgbClr val="D9E2F3"/>
              </a:solidFill>
              <a:prstDash val="solid"/>
            </a:ln>
          </c:spPr>
        </c:majorGridlines>
        <c:title>
          <c:tx>
            <c:rich>
              <a:bodyPr/>
              <a:lstStyle/>
              <a:p>
                <a:r>
                  <a:rPr lang="en" sz="1275" b="1">
                    <a:solidFill>
                      <a:srgbClr val="1F1F1F"/>
                    </a:solidFill>
                  </a:rPr>
                  <a:t>Mean wall time [s]</a:t>
                </a:r>
              </a:p>
            </c:rich>
          </c:tx>
          <c:overlay val="0"/>
        </c:title>
        <c:numFmt formatCode="General"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72768"/>
        <c:crosses val="autoZero"/>
        <c:crossBetween val="midCat"/>
        <c:majorUnit val="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HV at 3.470 s</c:v>
          </c:tx>
          <c:spPr>
            <a:solidFill>
              <a:srgbClr val="6A8CAF"/>
            </a:solidFill>
          </c:spPr>
          <c:invertIfNegative val="1"/>
          <c:dPt>
            <c:idx val="0"/>
            <c:invertIfNegative val="0"/>
            <c:bubble3D val="0"/>
            <c:spPr>
              <a:solidFill>
                <a:srgbClr val="6A8CAF"/>
              </a:solidFill>
              <a:ln w="9525">
                <a:solidFill>
                  <a:srgbClr val="6A8CAF"/>
                </a:solidFill>
                <a:prstDash val="solid"/>
              </a:ln>
            </c:spPr>
            <c:extLst>
              <c:ext xmlns:c16="http://schemas.microsoft.com/office/drawing/2014/chart" uri="{C3380CC4-5D6E-409C-BE32-E72D297353CC}">
                <c16:uniqueId val="{00000001-4F36-DD4C-BA6F-CC385100A801}"/>
              </c:ext>
            </c:extLst>
          </c:dPt>
          <c:dPt>
            <c:idx val="1"/>
            <c:invertIfNegative val="0"/>
            <c:bubble3D val="0"/>
            <c:spPr>
              <a:solidFill>
                <a:srgbClr val="70AD47"/>
              </a:solidFill>
              <a:ln w="9525">
                <a:solidFill>
                  <a:srgbClr val="70AD47"/>
                </a:solidFill>
                <a:prstDash val="solid"/>
              </a:ln>
            </c:spPr>
            <c:extLst>
              <c:ext xmlns:c16="http://schemas.microsoft.com/office/drawing/2014/chart" uri="{C3380CC4-5D6E-409C-BE32-E72D297353CC}">
                <c16:uniqueId val="{00000003-4F36-DD4C-BA6F-CC385100A801}"/>
              </c:ext>
            </c:extLst>
          </c:dPt>
          <c:dPt>
            <c:idx val="2"/>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5-4F36-DD4C-BA6F-CC385100A801}"/>
              </c:ext>
            </c:extLst>
          </c:dPt>
          <c:dLbls>
            <c:spPr>
              <a:noFill/>
              <a:ln>
                <a:noFill/>
              </a:ln>
              <a:effectLst/>
            </c:spPr>
            <c:txPr>
              <a:bodyPr anchorCtr="1"/>
              <a:lstStyle/>
              <a:p>
                <a:pPr>
                  <a:defRPr sz="1275"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Fixed
standard</c:v>
              </c:pt>
              <c:pt idx="1">
                <c:v>High
mutation</c:v>
              </c:pt>
              <c:pt idx="2">
                <c:v>Proposed
method</c:v>
              </c:pt>
            </c:strLit>
          </c:cat>
          <c:val>
            <c:numLit>
              <c:formatCode>0.000</c:formatCode>
              <c:ptCount val="3"/>
              <c:pt idx="0">
                <c:v>0.77968499999999996</c:v>
              </c:pt>
              <c:pt idx="1">
                <c:v>0.80529300000000004</c:v>
              </c:pt>
              <c:pt idx="2">
                <c:v>0.79259599999999997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4F36-DD4C-BA6F-CC385100A801}"/>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75" b="1">
                <a:solidFill>
                  <a:srgbClr val="1F1F1F"/>
                </a:solidFill>
              </a:defRPr>
            </a:pPr>
            <a:endParaRPr lang="ja-JP"/>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D9E2F3"/>
              </a:solidFill>
              <a:prstDash val="solid"/>
            </a:ln>
          </c:spPr>
        </c:majorGridlines>
        <c:title>
          <c:tx>
            <c:rich>
              <a:bodyPr/>
              <a:lstStyle/>
              <a:p>
                <a:r>
                  <a:rPr lang="en" sz="1275" b="1">
                    <a:solidFill>
                      <a:srgbClr val="1F1F1F"/>
                    </a:solidFill>
                  </a:rPr>
                  <a:t>Mean HV at deadline</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050">
                <a:solidFill>
                  <a:srgbClr val="1F1F1F"/>
                </a:solidFill>
              </a:defRPr>
            </a:pPr>
            <a:endParaRPr lang="ja-JP"/>
          </a:p>
        </c:txPr>
        <c:crossAx val="48650112"/>
        <c:crosses val="autoZero"/>
        <c:crossBetween val="between"/>
        <c:majorUnit val="0.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Fixed standard</c:v>
          </c:tx>
          <c:spPr>
            <a:ln w="0">
              <a:solidFill>
                <a:srgbClr val="6A8CAF"/>
              </a:solidFill>
              <a:prstDash val="solid"/>
            </a:ln>
          </c:spPr>
          <c:marker>
            <c:symbol val="circle"/>
            <c:size val="15"/>
          </c:marker>
          <c:dLbls>
            <c:dLbl>
              <c:idx val="0"/>
              <c:layout>
                <c:manualLayout>
                  <c:x val="8.7980937925291169E-3"/>
                  <c:y val="-5.495816796297983E-3"/>
                </c:manualLayout>
              </c:layout>
              <c:tx>
                <c:rich>
                  <a:bodyPr/>
                  <a:lstStyle/>
                  <a:p>
                    <a:r>
                      <a:rPr lang="en-US" sz="1400" b="1" dirty="0">
                        <a:solidFill>
                          <a:srgbClr val="1F1F1F"/>
                        </a:solidFill>
                      </a:rPr>
                      <a:t>Fixed standard
3.97 s | 0.783</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3.9682369999999998</c:v>
              </c:pt>
            </c:numLit>
          </c:xVal>
          <c:yVal>
            <c:numLit>
              <c:formatCode>0.000</c:formatCode>
              <c:ptCount val="1"/>
              <c:pt idx="0">
                <c:v>0.78299099999999999</c:v>
              </c:pt>
            </c:numLit>
          </c:yVal>
          <c:smooth val="1"/>
          <c:extLst>
            <c:ext xmlns:c16="http://schemas.microsoft.com/office/drawing/2014/chart" uri="{C3380CC4-5D6E-409C-BE32-E72D297353CC}">
              <c16:uniqueId val="{00000001-C531-4D45-874C-29B279170E29}"/>
            </c:ext>
          </c:extLst>
        </c:ser>
        <c:ser>
          <c:idx val="1"/>
          <c:order val="1"/>
          <c:tx>
            <c:v>High mutation</c:v>
          </c:tx>
          <c:spPr>
            <a:ln w="0">
              <a:solidFill>
                <a:srgbClr val="70AD47"/>
              </a:solidFill>
              <a:prstDash val="solid"/>
            </a:ln>
          </c:spPr>
          <c:marker>
            <c:symbol val="circle"/>
            <c:size val="15"/>
          </c:marker>
          <c:dLbls>
            <c:dLbl>
              <c:idx val="0"/>
              <c:layout>
                <c:manualLayout>
                  <c:x val="1.0264442757950673E-2"/>
                  <c:y val="-8.2437251944469745E-3"/>
                </c:manualLayout>
              </c:layout>
              <c:tx>
                <c:rich>
                  <a:bodyPr/>
                  <a:lstStyle/>
                  <a:p>
                    <a:r>
                      <a:rPr lang="en-US" sz="1400" b="1" dirty="0">
                        <a:solidFill>
                          <a:srgbClr val="1F1F1F"/>
                        </a:solidFill>
                      </a:rPr>
                      <a:t>High mutation
3.36 s | 0.808</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3.3592789999999999</c:v>
              </c:pt>
            </c:numLit>
          </c:xVal>
          <c:yVal>
            <c:numLit>
              <c:formatCode>0.000</c:formatCode>
              <c:ptCount val="1"/>
              <c:pt idx="0">
                <c:v>0.80831500000000001</c:v>
              </c:pt>
            </c:numLit>
          </c:yVal>
          <c:smooth val="1"/>
          <c:extLst>
            <c:ext xmlns:c16="http://schemas.microsoft.com/office/drawing/2014/chart" uri="{C3380CC4-5D6E-409C-BE32-E72D297353CC}">
              <c16:uniqueId val="{00000003-C531-4D45-874C-29B279170E29}"/>
            </c:ext>
          </c:extLst>
        </c:ser>
        <c:ser>
          <c:idx val="2"/>
          <c:order val="2"/>
          <c:tx>
            <c:v>Proposed method</c:v>
          </c:tx>
          <c:spPr>
            <a:ln w="0">
              <a:solidFill>
                <a:srgbClr val="D95F5F"/>
              </a:solidFill>
              <a:prstDash val="solid"/>
            </a:ln>
          </c:spPr>
          <c:marker>
            <c:symbol val="circle"/>
            <c:size val="17"/>
          </c:marker>
          <c:dLbls>
            <c:dLbl>
              <c:idx val="0"/>
              <c:layout>
                <c:manualLayout>
                  <c:x val="-0.14365797722125023"/>
                  <c:y val="2.7479083981489915E-3"/>
                </c:manualLayout>
              </c:layout>
              <c:tx>
                <c:rich>
                  <a:bodyPr/>
                  <a:lstStyle/>
                  <a:p>
                    <a:r>
                      <a:rPr lang="en-US" sz="1400" b="1" dirty="0">
                        <a:solidFill>
                          <a:srgbClr val="1F1F1F"/>
                        </a:solidFill>
                      </a:rPr>
                      <a:t>Proposed method
7.60 s | 0.802</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7.5982779999999996</c:v>
              </c:pt>
            </c:numLit>
          </c:xVal>
          <c:yVal>
            <c:numLit>
              <c:formatCode>0.000</c:formatCode>
              <c:ptCount val="1"/>
              <c:pt idx="0">
                <c:v>0.80246099999999998</c:v>
              </c:pt>
            </c:numLit>
          </c:yVal>
          <c:smooth val="1"/>
          <c:extLst>
            <c:ext xmlns:c16="http://schemas.microsoft.com/office/drawing/2014/chart" uri="{C3380CC4-5D6E-409C-BE32-E72D297353CC}">
              <c16:uniqueId val="{00000005-C531-4D45-874C-29B279170E29}"/>
            </c:ext>
          </c:extLst>
        </c:ser>
        <c:dLbls>
          <c:showLegendKey val="0"/>
          <c:showVal val="0"/>
          <c:showCatName val="0"/>
          <c:showSerName val="1"/>
          <c:showPercent val="0"/>
          <c:showBubbleSize val="0"/>
        </c:dLbls>
        <c:axId val="48650112"/>
        <c:axId val="48672768"/>
      </c:scatterChart>
      <c:valAx>
        <c:axId val="48672768"/>
        <c:scaling>
          <c:orientation val="minMax"/>
          <c:max val="0.81499999999999995"/>
          <c:min val="0.77"/>
        </c:scaling>
        <c:delete val="0"/>
        <c:axPos val="l"/>
        <c:majorGridlines>
          <c:spPr>
            <a:ln w="9525">
              <a:solidFill>
                <a:srgbClr val="D9E2F3"/>
              </a:solidFill>
              <a:prstDash val="solid"/>
            </a:ln>
          </c:spPr>
        </c:majorGridlines>
        <c:title>
          <c:tx>
            <c:rich>
              <a:bodyPr/>
              <a:lstStyle/>
              <a:p>
                <a:r>
                  <a:rPr lang="en" sz="1275" b="1">
                    <a:solidFill>
                      <a:srgbClr val="1F1F1F"/>
                    </a:solidFill>
                  </a:rPr>
                  <a:t>Final archive HV</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50112"/>
        <c:crosses val="autoZero"/>
        <c:crossBetween val="midCat"/>
        <c:majorUnit val="0.01"/>
      </c:valAx>
      <c:valAx>
        <c:axId val="48650112"/>
        <c:scaling>
          <c:orientation val="minMax"/>
          <c:max val="8.1999999999999993"/>
          <c:min val="3"/>
        </c:scaling>
        <c:delete val="0"/>
        <c:axPos val="b"/>
        <c:majorGridlines>
          <c:spPr>
            <a:ln w="9525">
              <a:solidFill>
                <a:srgbClr val="D9E2F3"/>
              </a:solidFill>
              <a:prstDash val="solid"/>
            </a:ln>
          </c:spPr>
        </c:majorGridlines>
        <c:title>
          <c:tx>
            <c:rich>
              <a:bodyPr/>
              <a:lstStyle/>
              <a:p>
                <a:r>
                  <a:rPr lang="en" sz="1275" b="1">
                    <a:solidFill>
                      <a:srgbClr val="1F1F1F"/>
                    </a:solidFill>
                  </a:rPr>
                  <a:t>Mean wall time [s]</a:t>
                </a:r>
              </a:p>
            </c:rich>
          </c:tx>
          <c:overlay val="0"/>
        </c:title>
        <c:numFmt formatCode="General"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72768"/>
        <c:crosses val="autoZero"/>
        <c:crossBetween val="midCat"/>
        <c:majorUnit val="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HV at 3.470 s</c:v>
          </c:tx>
          <c:spPr>
            <a:solidFill>
              <a:srgbClr val="6A8CAF"/>
            </a:solidFill>
          </c:spPr>
          <c:invertIfNegative val="1"/>
          <c:dPt>
            <c:idx val="0"/>
            <c:invertIfNegative val="0"/>
            <c:bubble3D val="0"/>
            <c:spPr>
              <a:solidFill>
                <a:srgbClr val="6A8CAF"/>
              </a:solidFill>
              <a:ln w="9525">
                <a:solidFill>
                  <a:srgbClr val="6A8CAF"/>
                </a:solidFill>
                <a:prstDash val="solid"/>
              </a:ln>
            </c:spPr>
            <c:extLst>
              <c:ext xmlns:c16="http://schemas.microsoft.com/office/drawing/2014/chart" uri="{C3380CC4-5D6E-409C-BE32-E72D297353CC}">
                <c16:uniqueId val="{00000001-4F36-DD4C-BA6F-CC385100A801}"/>
              </c:ext>
            </c:extLst>
          </c:dPt>
          <c:dPt>
            <c:idx val="1"/>
            <c:invertIfNegative val="0"/>
            <c:bubble3D val="0"/>
            <c:spPr>
              <a:solidFill>
                <a:srgbClr val="70AD47"/>
              </a:solidFill>
              <a:ln w="9525">
                <a:solidFill>
                  <a:srgbClr val="70AD47"/>
                </a:solidFill>
                <a:prstDash val="solid"/>
              </a:ln>
            </c:spPr>
            <c:extLst>
              <c:ext xmlns:c16="http://schemas.microsoft.com/office/drawing/2014/chart" uri="{C3380CC4-5D6E-409C-BE32-E72D297353CC}">
                <c16:uniqueId val="{00000003-4F36-DD4C-BA6F-CC385100A801}"/>
              </c:ext>
            </c:extLst>
          </c:dPt>
          <c:dPt>
            <c:idx val="2"/>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5-4F36-DD4C-BA6F-CC385100A801}"/>
              </c:ext>
            </c:extLst>
          </c:dPt>
          <c:dLbls>
            <c:spPr>
              <a:noFill/>
              <a:ln>
                <a:noFill/>
              </a:ln>
              <a:effectLst/>
            </c:spPr>
            <c:txPr>
              <a:bodyPr anchorCtr="1"/>
              <a:lstStyle/>
              <a:p>
                <a:pPr>
                  <a:defRPr sz="1275"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Fixed
standard</c:v>
              </c:pt>
              <c:pt idx="1">
                <c:v>High
mutation</c:v>
              </c:pt>
              <c:pt idx="2">
                <c:v>Proposed
method</c:v>
              </c:pt>
            </c:strLit>
          </c:cat>
          <c:val>
            <c:numLit>
              <c:formatCode>0.000</c:formatCode>
              <c:ptCount val="3"/>
              <c:pt idx="0">
                <c:v>0.77968499999999996</c:v>
              </c:pt>
              <c:pt idx="1">
                <c:v>0.80529300000000004</c:v>
              </c:pt>
              <c:pt idx="2">
                <c:v>0.79259599999999997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4F36-DD4C-BA6F-CC385100A801}"/>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75" b="1">
                <a:solidFill>
                  <a:srgbClr val="1F1F1F"/>
                </a:solidFill>
              </a:defRPr>
            </a:pPr>
            <a:endParaRPr lang="ja-JP"/>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D9E2F3"/>
              </a:solidFill>
              <a:prstDash val="solid"/>
            </a:ln>
          </c:spPr>
        </c:majorGridlines>
        <c:title>
          <c:tx>
            <c:rich>
              <a:bodyPr/>
              <a:lstStyle/>
              <a:p>
                <a:r>
                  <a:rPr lang="en" sz="1275" b="1">
                    <a:solidFill>
                      <a:srgbClr val="1F1F1F"/>
                    </a:solidFill>
                  </a:rPr>
                  <a:t>Mean HV at deadline</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050">
                <a:solidFill>
                  <a:srgbClr val="1F1F1F"/>
                </a:solidFill>
              </a:defRPr>
            </a:pPr>
            <a:endParaRPr lang="ja-JP"/>
          </a:p>
        </c:txPr>
        <c:crossAx val="48650112"/>
        <c:crosses val="autoZero"/>
        <c:crossBetween val="between"/>
        <c:majorUnit val="0.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Mean wall time [s]</c:v>
          </c:tx>
          <c:spPr>
            <a:solidFill>
              <a:srgbClr val="D95F5F"/>
            </a:solidFill>
          </c:spPr>
          <c:invertIfNegative val="1"/>
          <c:dPt>
            <c:idx val="0"/>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1-FE03-634A-BB1A-1E7053811FA4}"/>
              </c:ext>
            </c:extLst>
          </c:dPt>
          <c:dPt>
            <c:idx val="1"/>
            <c:invertIfNegative val="0"/>
            <c:bubble3D val="0"/>
            <c:spPr>
              <a:solidFill>
                <a:srgbClr val="7F8C8D"/>
              </a:solidFill>
              <a:ln w="9525">
                <a:solidFill>
                  <a:srgbClr val="7F8C8D"/>
                </a:solidFill>
                <a:prstDash val="solid"/>
              </a:ln>
            </c:spPr>
            <c:extLst>
              <c:ext xmlns:c16="http://schemas.microsoft.com/office/drawing/2014/chart" uri="{C3380CC4-5D6E-409C-BE32-E72D297353CC}">
                <c16:uniqueId val="{00000003-FE03-634A-BB1A-1E7053811FA4}"/>
              </c:ext>
            </c:extLst>
          </c:dPt>
          <c:dLbls>
            <c:spPr>
              <a:noFill/>
              <a:ln>
                <a:noFill/>
              </a:ln>
              <a:effectLst/>
            </c:spPr>
            <c:txPr>
              <a:bodyPr anchorCtr="1"/>
              <a:lstStyle/>
              <a:p>
                <a:pPr>
                  <a:defRPr sz="1350"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Proposed method
(online BO)</c:v>
              </c:pt>
              <c:pt idx="1">
                <c:v>Replay
(diagnostic)</c:v>
              </c:pt>
            </c:strLit>
          </c:cat>
          <c:val>
            <c:numLit>
              <c:formatCode>0.00</c:formatCode>
              <c:ptCount val="2"/>
              <c:pt idx="0">
                <c:v>7.5979999999999999</c:v>
              </c:pt>
              <c:pt idx="1">
                <c:v>3.3109999999999999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FE03-634A-BB1A-1E7053811FA4}"/>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75" b="1">
                <a:solidFill>
                  <a:srgbClr val="1F1F1F"/>
                </a:solidFill>
              </a:defRPr>
            </a:pPr>
            <a:endParaRPr lang="ja-JP"/>
          </a:p>
        </c:txPr>
        <c:crossAx val="48672768"/>
        <c:crosses val="autoZero"/>
        <c:auto val="1"/>
        <c:lblAlgn val="ctr"/>
        <c:lblOffset val="100"/>
        <c:noMultiLvlLbl val="1"/>
      </c:catAx>
      <c:valAx>
        <c:axId val="48672768"/>
        <c:scaling>
          <c:orientation val="minMax"/>
          <c:max val="8.5"/>
          <c:min val="0"/>
        </c:scaling>
        <c:delete val="0"/>
        <c:axPos val="l"/>
        <c:majorGridlines>
          <c:spPr>
            <a:ln w="9525">
              <a:solidFill>
                <a:srgbClr val="D9E2F3"/>
              </a:solidFill>
              <a:prstDash val="solid"/>
            </a:ln>
          </c:spPr>
        </c:majorGridlines>
        <c:title>
          <c:tx>
            <c:rich>
              <a:bodyPr/>
              <a:lstStyle/>
              <a:p>
                <a:r>
                  <a:rPr lang="en" sz="1200" b="1">
                    <a:solidFill>
                      <a:srgbClr val="1F1F1F"/>
                    </a:solidFill>
                  </a:rPr>
                  <a:t>Mean wall time [s]</a:t>
                </a:r>
              </a:p>
            </c:rich>
          </c:tx>
          <c:overlay val="0"/>
        </c:title>
        <c:numFmt formatCode="0.00" sourceLinked="1"/>
        <c:majorTickMark val="none"/>
        <c:minorTickMark val="none"/>
        <c:tickLblPos val="nextTo"/>
        <c:spPr>
          <a:ln w="9525">
            <a:solidFill>
              <a:srgbClr val="808080"/>
            </a:solidFill>
            <a:prstDash val="solid"/>
          </a:ln>
        </c:spPr>
        <c:txPr>
          <a:bodyPr anchorCtr="1"/>
          <a:lstStyle/>
          <a:p>
            <a:pPr>
              <a:defRPr sz="1050">
                <a:solidFill>
                  <a:srgbClr val="1F1F1F"/>
                </a:solidFill>
              </a:defRPr>
            </a:pPr>
            <a:endParaRPr lang="ja-JP"/>
          </a:p>
        </c:txPr>
        <c:crossAx val="48650112"/>
        <c:crosses val="autoZero"/>
        <c:crossBetween val="between"/>
        <c:majorUnit val="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Fit calls</c:v>
          </c:tx>
          <c:spPr>
            <a:solidFill>
              <a:srgbClr val="6A8CAF"/>
            </a:solidFill>
          </c:spPr>
          <c:invertIfNegative val="1"/>
          <c:dPt>
            <c:idx val="0"/>
            <c:invertIfNegative val="0"/>
            <c:bubble3D val="0"/>
            <c:spPr>
              <a:solidFill>
                <a:srgbClr val="6A8CAF"/>
              </a:solidFill>
              <a:ln w="9525">
                <a:solidFill>
                  <a:srgbClr val="6A8CAF"/>
                </a:solidFill>
                <a:prstDash val="solid"/>
              </a:ln>
            </c:spPr>
            <c:extLst>
              <c:ext xmlns:c16="http://schemas.microsoft.com/office/drawing/2014/chart" uri="{C3380CC4-5D6E-409C-BE32-E72D297353CC}">
                <c16:uniqueId val="{00000001-77AB-A945-B755-52EF5471BBE9}"/>
              </c:ext>
            </c:extLst>
          </c:dPt>
          <c:dPt>
            <c:idx val="1"/>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3-77AB-A945-B755-52EF5471BBE9}"/>
              </c:ext>
            </c:extLst>
          </c:dPt>
          <c:dLbls>
            <c:spPr>
              <a:noFill/>
              <a:ln>
                <a:noFill/>
              </a:ln>
              <a:effectLst/>
            </c:spPr>
            <c:txPr>
              <a:bodyPr anchorCtr="1"/>
              <a:lstStyle/>
              <a:p>
                <a:pPr>
                  <a:defRPr sz="1275"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New-data fit</c:v>
              </c:pt>
              <c:pt idx="1">
                <c:v>Repeated fit
(unchanged data)</c:v>
              </c:pt>
            </c:strLit>
          </c:cat>
          <c:val>
            <c:numLit>
              <c:formatCode>0</c:formatCode>
              <c:ptCount val="2"/>
              <c:pt idx="0">
                <c:v>2794</c:v>
              </c:pt>
              <c:pt idx="1">
                <c:v>4749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77AB-A945-B755-52EF5471BBE9}"/>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00" b="1">
                <a:solidFill>
                  <a:srgbClr val="1F1F1F"/>
                </a:solidFill>
              </a:defRPr>
            </a:pPr>
            <a:endParaRPr lang="ja-JP"/>
          </a:p>
        </c:txPr>
        <c:crossAx val="48672768"/>
        <c:crosses val="autoZero"/>
        <c:auto val="1"/>
        <c:lblAlgn val="ctr"/>
        <c:lblOffset val="100"/>
        <c:noMultiLvlLbl val="1"/>
      </c:catAx>
      <c:valAx>
        <c:axId val="48672768"/>
        <c:scaling>
          <c:orientation val="minMax"/>
          <c:max val="5500"/>
          <c:min val="0"/>
        </c:scaling>
        <c:delete val="0"/>
        <c:axPos val="l"/>
        <c:majorGridlines>
          <c:spPr>
            <a:ln w="9525">
              <a:solidFill>
                <a:srgbClr val="D9E2F3"/>
              </a:solidFill>
              <a:prstDash val="solid"/>
            </a:ln>
          </c:spPr>
        </c:majorGridlines>
        <c:title>
          <c:tx>
            <c:rich>
              <a:bodyPr/>
              <a:lstStyle/>
              <a:p>
                <a:r>
                  <a:rPr lang="en" sz="1125" b="1">
                    <a:solidFill>
                      <a:srgbClr val="1F1F1F"/>
                    </a:solidFill>
                  </a:rPr>
                  <a:t>Fit calls across 100 seeds</a:t>
                </a:r>
              </a:p>
            </c:rich>
          </c:tx>
          <c:overlay val="0"/>
        </c:title>
        <c:numFmt formatCode="0" sourceLinked="1"/>
        <c:majorTickMark val="none"/>
        <c:minorTickMark val="none"/>
        <c:tickLblPos val="nextTo"/>
        <c:spPr>
          <a:ln w="9525">
            <a:solidFill>
              <a:srgbClr val="808080"/>
            </a:solidFill>
            <a:prstDash val="solid"/>
          </a:ln>
        </c:spPr>
        <c:txPr>
          <a:bodyPr anchorCtr="1"/>
          <a:lstStyle/>
          <a:p>
            <a:pPr>
              <a:defRPr sz="975">
                <a:solidFill>
                  <a:srgbClr val="1F1F1F"/>
                </a:solidFill>
              </a:defRPr>
            </a:pPr>
            <a:endParaRPr lang="ja-JP"/>
          </a:p>
        </c:txPr>
        <c:crossAx val="48650112"/>
        <c:crosses val="autoZero"/>
        <c:crossBetween val="between"/>
        <c:majorUnit val="1000"/>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Fixed standard</c:v>
          </c:tx>
          <c:spPr>
            <a:ln w="0">
              <a:solidFill>
                <a:srgbClr val="6A8CAF"/>
              </a:solidFill>
              <a:prstDash val="solid"/>
            </a:ln>
          </c:spPr>
          <c:marker>
            <c:symbol val="circle"/>
            <c:size val="15"/>
          </c:marker>
          <c:dLbls>
            <c:dLbl>
              <c:idx val="0"/>
              <c:tx>
                <c:rich>
                  <a:bodyPr/>
                  <a:lstStyle/>
                  <a:p>
                    <a:r>
                      <a:rPr lang="en" sz="1125" b="1">
                        <a:solidFill>
                          <a:srgbClr val="1F1F1F"/>
                        </a:solidFill>
                      </a:rPr>
                      <a:t>Fixed standard
1.16 s | 0.757</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840-A34E-BE8E-479B06128EF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1.1601269999999999</c:v>
              </c:pt>
            </c:numLit>
          </c:xVal>
          <c:yVal>
            <c:numLit>
              <c:formatCode>0.000</c:formatCode>
              <c:ptCount val="1"/>
              <c:pt idx="0">
                <c:v>0.75700100000000003</c:v>
              </c:pt>
            </c:numLit>
          </c:yVal>
          <c:smooth val="1"/>
          <c:extLst>
            <c:ext xmlns:c16="http://schemas.microsoft.com/office/drawing/2014/chart" uri="{C3380CC4-5D6E-409C-BE32-E72D297353CC}">
              <c16:uniqueId val="{00000001-4840-A34E-BE8E-479B06128EF3}"/>
            </c:ext>
          </c:extLst>
        </c:ser>
        <c:ser>
          <c:idx val="1"/>
          <c:order val="1"/>
          <c:tx>
            <c:v>High mutation</c:v>
          </c:tx>
          <c:spPr>
            <a:ln w="0">
              <a:solidFill>
                <a:srgbClr val="70AD47"/>
              </a:solidFill>
              <a:prstDash val="solid"/>
            </a:ln>
          </c:spPr>
          <c:marker>
            <c:symbol val="circle"/>
            <c:size val="15"/>
          </c:marker>
          <c:dLbls>
            <c:dLbl>
              <c:idx val="0"/>
              <c:tx>
                <c:rich>
                  <a:bodyPr/>
                  <a:lstStyle/>
                  <a:p>
                    <a:r>
                      <a:rPr lang="en" sz="1125" b="1">
                        <a:solidFill>
                          <a:srgbClr val="1F1F1F"/>
                        </a:solidFill>
                      </a:rPr>
                      <a:t>High mutation
1.08 s | 0.777</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840-A34E-BE8E-479B06128EF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1.0783020000000001</c:v>
              </c:pt>
            </c:numLit>
          </c:xVal>
          <c:yVal>
            <c:numLit>
              <c:formatCode>0.000</c:formatCode>
              <c:ptCount val="1"/>
              <c:pt idx="0">
                <c:v>0.77659999999999996</c:v>
              </c:pt>
            </c:numLit>
          </c:yVal>
          <c:smooth val="1"/>
          <c:extLst>
            <c:ext xmlns:c16="http://schemas.microsoft.com/office/drawing/2014/chart" uri="{C3380CC4-5D6E-409C-BE32-E72D297353CC}">
              <c16:uniqueId val="{00000003-4840-A34E-BE8E-479B06128EF3}"/>
            </c:ext>
          </c:extLst>
        </c:ser>
        <c:ser>
          <c:idx val="2"/>
          <c:order val="2"/>
          <c:tx>
            <c:v>Proposed method</c:v>
          </c:tx>
          <c:spPr>
            <a:ln w="0">
              <a:solidFill>
                <a:srgbClr val="D95F5F"/>
              </a:solidFill>
              <a:prstDash val="solid"/>
            </a:ln>
          </c:spPr>
          <c:marker>
            <c:symbol val="circle"/>
            <c:size val="17"/>
          </c:marker>
          <c:dLbls>
            <c:dLbl>
              <c:idx val="0"/>
              <c:tx>
                <c:rich>
                  <a:bodyPr/>
                  <a:lstStyle/>
                  <a:p>
                    <a:r>
                      <a:rPr lang="en" sz="1125" b="1">
                        <a:solidFill>
                          <a:srgbClr val="1F1F1F"/>
                        </a:solidFill>
                      </a:rPr>
                      <a:t>Proposed method
1.40 s | 0.773</a:t>
                    </a:r>
                  </a:p>
                </c:rich>
              </c:tx>
              <c:spPr/>
              <c:dLblPos val="l"/>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840-A34E-BE8E-479B06128EF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1.395629</c:v>
              </c:pt>
            </c:numLit>
          </c:xVal>
          <c:yVal>
            <c:numLit>
              <c:formatCode>0.000</c:formatCode>
              <c:ptCount val="1"/>
              <c:pt idx="0">
                <c:v>0.77308100000000002</c:v>
              </c:pt>
            </c:numLit>
          </c:yVal>
          <c:smooth val="1"/>
          <c:extLst>
            <c:ext xmlns:c16="http://schemas.microsoft.com/office/drawing/2014/chart" uri="{C3380CC4-5D6E-409C-BE32-E72D297353CC}">
              <c16:uniqueId val="{00000005-4840-A34E-BE8E-479B06128EF3}"/>
            </c:ext>
          </c:extLst>
        </c:ser>
        <c:dLbls>
          <c:showLegendKey val="0"/>
          <c:showVal val="0"/>
          <c:showCatName val="0"/>
          <c:showSerName val="1"/>
          <c:showPercent val="0"/>
          <c:showBubbleSize val="0"/>
        </c:dLbls>
        <c:axId val="48650112"/>
        <c:axId val="48672768"/>
      </c:scatterChart>
      <c:valAx>
        <c:axId val="48672768"/>
        <c:scaling>
          <c:orientation val="minMax"/>
          <c:max val="0.78200000000000003"/>
          <c:min val="0.75"/>
        </c:scaling>
        <c:delete val="0"/>
        <c:axPos val="l"/>
        <c:majorGridlines>
          <c:spPr>
            <a:ln w="9525">
              <a:solidFill>
                <a:srgbClr val="D9E2F3"/>
              </a:solidFill>
              <a:prstDash val="solid"/>
            </a:ln>
          </c:spPr>
        </c:majorGridlines>
        <c:title>
          <c:tx>
            <c:rich>
              <a:bodyPr/>
              <a:lstStyle/>
              <a:p>
                <a:r>
                  <a:rPr lang="en" sz="1275" b="1">
                    <a:solidFill>
                      <a:srgbClr val="1F1F1F"/>
                    </a:solidFill>
                  </a:rPr>
                  <a:t>Final archive HV</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50112"/>
        <c:crosses val="autoZero"/>
        <c:crossBetween val="midCat"/>
        <c:majorUnit val="0.01"/>
      </c:valAx>
      <c:valAx>
        <c:axId val="48650112"/>
        <c:scaling>
          <c:orientation val="minMax"/>
          <c:max val="1.45"/>
          <c:min val="1"/>
        </c:scaling>
        <c:delete val="0"/>
        <c:axPos val="b"/>
        <c:majorGridlines>
          <c:spPr>
            <a:ln w="9525">
              <a:solidFill>
                <a:srgbClr val="D9E2F3"/>
              </a:solidFill>
              <a:prstDash val="solid"/>
            </a:ln>
          </c:spPr>
        </c:majorGridlines>
        <c:title>
          <c:tx>
            <c:rich>
              <a:bodyPr/>
              <a:lstStyle/>
              <a:p>
                <a:r>
                  <a:rPr lang="en" sz="1275" b="1">
                    <a:solidFill>
                      <a:srgbClr val="1F1F1F"/>
                    </a:solidFill>
                  </a:rPr>
                  <a:t>Mean wall time [s]</a:t>
                </a:r>
              </a:p>
            </c:rich>
          </c:tx>
          <c:overlay val="0"/>
        </c:title>
        <c:numFmt formatCode="General"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72768"/>
        <c:crosses val="autoZero"/>
        <c:crossBetween val="midCat"/>
        <c:majorUnit val="0.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BA822-B87A-4348-B9F6-C4A79C333E8A}" type="datetimeFigureOut">
              <a:rPr kumimoji="1" lang="ja-JP" altLang="en-US" smtClean="0"/>
              <a:t>2026/8/1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88A1A8-7F57-B848-952F-1C06E89B36C9}" type="slidenum">
              <a:rPr kumimoji="1" lang="ja-JP" altLang="en-US" smtClean="0"/>
              <a:t>‹#›</a:t>
            </a:fld>
            <a:endParaRPr kumimoji="1" lang="ja-JP" altLang="en-US"/>
          </a:p>
        </p:txBody>
      </p:sp>
    </p:spTree>
    <p:extLst>
      <p:ext uri="{BB962C8B-B14F-4D97-AF65-F5344CB8AC3E}">
        <p14:creationId xmlns:p14="http://schemas.microsoft.com/office/powerpoint/2010/main" val="12632397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本日は、こちらの研究テーマでディジタル制御研究室所属の明神が発表いたします。</a:t>
            </a:r>
            <a:br>
              <a:rPr kumimoji="1" lang="en-US" altLang="ja-JP" dirty="0"/>
            </a:br>
            <a:r>
              <a:rPr kumimoji="1" lang="ja-JP" altLang="en-US"/>
              <a:t>まずは、研究の背景からお話しいたします。</a:t>
            </a:r>
          </a:p>
        </p:txBody>
      </p:sp>
      <p:sp>
        <p:nvSpPr>
          <p:cNvPr id="4" name="スライド番号プレースホルダー 3"/>
          <p:cNvSpPr>
            <a:spLocks noGrp="1"/>
          </p:cNvSpPr>
          <p:nvPr>
            <p:ph type="sldNum" sz="quarter" idx="5"/>
          </p:nvPr>
        </p:nvSpPr>
        <p:spPr/>
        <p:txBody>
          <a:bodyPr/>
          <a:lstStyle/>
          <a:p>
            <a:fld id="{D7B3EACB-305F-114A-A04A-32AF29B49D70}" type="slidenum">
              <a:rPr kumimoji="1" lang="ja-JP" altLang="en-US" smtClean="0"/>
              <a:t>3</a:t>
            </a:fld>
            <a:endParaRPr kumimoji="1" lang="ja-JP" altLang="en-US"/>
          </a:p>
        </p:txBody>
      </p:sp>
    </p:spTree>
    <p:extLst>
      <p:ext uri="{BB962C8B-B14F-4D97-AF65-F5344CB8AC3E}">
        <p14:creationId xmlns:p14="http://schemas.microsoft.com/office/powerpoint/2010/main" val="480681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近年，データから解釈可能なモデルを自動的に発見したり，複雑な設計候補を探索したりする必要性が高まっています。</a:t>
            </a:r>
          </a:p>
          <a:p>
            <a:r>
              <a:rPr lang="ja-JP" altLang="ja-JP"/>
              <a:t>例えば，シンボリック回帰では，データに合う数式構造を探索します。</a:t>
            </a:r>
            <a:br>
              <a:rPr lang="en-US" altLang="ja-JP" dirty="0"/>
            </a:br>
            <a:r>
              <a:rPr lang="ja-JP" altLang="ja-JP"/>
              <a:t>構造探索では，プログラム木や設計候補の構造そのものを生成します。</a:t>
            </a:r>
            <a:br>
              <a:rPr lang="en-US" altLang="ja-JP" dirty="0"/>
            </a:br>
            <a:r>
              <a:rPr lang="ja-JP" altLang="ja-JP"/>
              <a:t>また，設計最適化では，精度や複雑さなど，複数の目的を同時に考慮する必要があります。</a:t>
            </a:r>
          </a:p>
          <a:p>
            <a:r>
              <a:rPr lang="ja-JP" altLang="ja-JP"/>
              <a:t>このような問題では，人手でよい式や構造をあらかじめ設計することは難しくなります。</a:t>
            </a:r>
            <a:br>
              <a:rPr lang="en-US" altLang="ja-JP" dirty="0"/>
            </a:br>
            <a:r>
              <a:rPr lang="ja-JP" altLang="ja-JP"/>
              <a:t>そこで，</a:t>
            </a:r>
            <a:r>
              <a:rPr lang="ja-JP" altLang="en-US"/>
              <a:t>解を自動で探索する手法の一つに</a:t>
            </a:r>
            <a:r>
              <a:rPr kumimoji="1" lang="ja-JP" altLang="en-US"/>
              <a:t>多目的遺伝的プログラミングがあります。</a:t>
            </a:r>
            <a:endParaRPr kumimoji="1" lang="en-US" altLang="ja-JP" dirty="0"/>
          </a:p>
          <a:p>
            <a:br>
              <a:rPr kumimoji="1" lang="en-US" altLang="ja-JP" dirty="0"/>
            </a:br>
            <a:r>
              <a:rPr kumimoji="1" lang="en-US" altLang="ja-JP" dirty="0"/>
              <a:t>GP</a:t>
            </a:r>
            <a:r>
              <a:rPr kumimoji="1" lang="ja-JP" altLang="en-US"/>
              <a:t>は生物の進化から着想を得たアルゴリズムで、図のような木構造でデータや解を表します。</a:t>
            </a:r>
            <a:endParaRPr kumimoji="1" lang="en-US" altLang="ja-JP" dirty="0"/>
          </a:p>
          <a:p>
            <a:r>
              <a:rPr kumimoji="1" lang="ja-JP" altLang="en-US"/>
              <a:t>木構造どうしで交叉や突然変異といった操作を行うことで解を探索します。</a:t>
            </a:r>
            <a:r>
              <a:rPr kumimoji="1" lang="en-US" altLang="ja-JP" dirty="0"/>
              <a:t>(</a:t>
            </a:r>
            <a:r>
              <a:rPr kumimoji="1" lang="ja-JP" altLang="en-US"/>
              <a:t>交叉のアニメ）</a:t>
            </a:r>
            <a:br>
              <a:rPr kumimoji="1" lang="en-US" altLang="ja-JP" dirty="0"/>
            </a:br>
            <a:br>
              <a:rPr kumimoji="1" lang="en-US" altLang="ja-JP" dirty="0"/>
            </a:br>
            <a:r>
              <a:rPr kumimoji="1" lang="ja-JP" altLang="en-US"/>
              <a:t>解釈きつい難しい式</a:t>
            </a:r>
            <a:br>
              <a:rPr kumimoji="1" lang="en-US" altLang="ja-JP" dirty="0"/>
            </a:br>
            <a:br>
              <a:rPr kumimoji="1" lang="en-US" altLang="ja-JP" dirty="0"/>
            </a:br>
            <a:r>
              <a:rPr kumimoji="1" lang="ja-JP" altLang="en-US"/>
              <a:t>オリジナリティのスライドがあってもいい</a:t>
            </a:r>
            <a:endParaRPr kumimoji="1" lang="en-US" altLang="ja-JP" dirty="0"/>
          </a:p>
          <a:p>
            <a:br>
              <a:rPr lang="en-US" altLang="ja-JP" dirty="0"/>
            </a:br>
            <a:br>
              <a:rPr lang="en-US" altLang="ja-JP" dirty="0"/>
            </a:br>
            <a:r>
              <a:rPr lang="ja-JP" altLang="ja-JP"/>
              <a:t>候補構造を木として表現し，交叉や突然変異によって探索できるGPが有効な手段になります。</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4</a:t>
            </a:fld>
            <a:endParaRPr kumimoji="1" lang="ja-JP" altLang="en-US"/>
          </a:p>
        </p:txBody>
      </p:sp>
    </p:spTree>
    <p:extLst>
      <p:ext uri="{BB962C8B-B14F-4D97-AF65-F5344CB8AC3E}">
        <p14:creationId xmlns:p14="http://schemas.microsoft.com/office/powerpoint/2010/main" val="187875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b="0" kern="1200" dirty="0">
                <a:solidFill>
                  <a:schemeClr val="tx1"/>
                </a:solidFill>
                <a:effectLst/>
                <a:latin typeface="+mn-lt"/>
                <a:ea typeface="+mn-ea"/>
                <a:cs typeface="+mn-cs"/>
              </a:rPr>
              <a:t>GP </a:t>
            </a:r>
            <a:r>
              <a:rPr kumimoji="1" lang="ja-JP" altLang="en-US" sz="1200" b="0" kern="1200">
                <a:solidFill>
                  <a:schemeClr val="tx1"/>
                </a:solidFill>
                <a:effectLst/>
                <a:latin typeface="+mn-lt"/>
                <a:ea typeface="+mn-ea"/>
                <a:cs typeface="+mn-cs"/>
              </a:rPr>
              <a:t>では、調整可能なパラメータが数多くあります。</a:t>
            </a: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例えば、交叉率や突然変異率、集団サイズなどです。</a:t>
            </a: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実際の実装では、それらを経験的に決めた固定値で与えることが多いです。</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a:solidFill>
                  <a:schemeClr val="tx1"/>
                </a:solidFill>
                <a:effectLst/>
                <a:latin typeface="+mn-lt"/>
                <a:ea typeface="+mn-ea"/>
                <a:cs typeface="+mn-cs"/>
              </a:rPr>
              <a:t>しかし、問題設定や探索の状況に応じてパラメータの適切な設定は異なります。</a:t>
            </a: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特に探索状況について、探索期は多様な構造を試し、収束期では良い構造を洗練する挙動が望ましいと指摘されています。</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a:solidFill>
                  <a:schemeClr val="tx1"/>
                </a:solidFill>
                <a:effectLst/>
                <a:latin typeface="+mn-lt"/>
                <a:ea typeface="+mn-ea"/>
                <a:cs typeface="+mn-cs"/>
              </a:rPr>
              <a:t>そのため同じパラメータを適用し続けての探索では不十分であると言えます。</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この問題に対して，操作率を適応的に変える研究も行われています。</a:t>
            </a:r>
            <a:br>
              <a:rPr lang="en-US" altLang="ja-JP" dirty="0"/>
            </a:br>
            <a:br>
              <a:rPr lang="en-US" altLang="ja-JP" dirty="0"/>
            </a:b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探索初期は多様性を保つために突然変異率を高めたい一方で、中盤以降は有望解の組み替えを進めるため交叉率を重視したいなど、望ましい率は進化の段階に応じて変わります。このため、固定率では探索性と収束性を同時にうまく満たしにくいと考えています。</a:t>
            </a:r>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r>
              <a:rPr kumimoji="1" lang="ja-JP" altLang="en-US"/>
              <a:t>スライドラフ</a:t>
            </a:r>
            <a:br>
              <a:rPr kumimoji="1" lang="en-US" altLang="ja-JP" dirty="0"/>
            </a:br>
            <a:r>
              <a:rPr kumimoji="1" lang="ja-JP" altLang="en-US"/>
              <a:t>例：データ→？→データ（シンボリック回帰）</a:t>
            </a:r>
            <a:endParaRPr kumimoji="1" lang="en-US" altLang="ja-JP" dirty="0"/>
          </a:p>
          <a:p>
            <a:r>
              <a:rPr kumimoji="1" lang="ja-JP" altLang="en-US"/>
              <a:t>例：トラス構造の設計</a:t>
            </a:r>
            <a:br>
              <a:rPr kumimoji="1" lang="en-US" altLang="ja-JP" dirty="0"/>
            </a:br>
            <a:r>
              <a:rPr kumimoji="1" lang="ja-JP" altLang="en-US"/>
              <a:t>色々なトレードオフ→最適化問題（捉えられる）</a:t>
            </a:r>
            <a:endParaRPr kumimoji="1" lang="en-US" altLang="ja-JP" dirty="0"/>
          </a:p>
          <a:p>
            <a:r>
              <a:rPr kumimoji="1" lang="en-US" altLang="ja-JP" dirty="0"/>
              <a:t>GP</a:t>
            </a:r>
            <a:r>
              <a:rPr kumimoji="1" lang="ja-JP" altLang="en-US">
                <a:sym typeface="Wingdings" pitchFamily="2" charset="2"/>
              </a:rPr>
              <a:t>（木構造の図＝木が表す式</a:t>
            </a:r>
            <a:r>
              <a:rPr kumimoji="1" lang="en-US" altLang="ja-JP" dirty="0">
                <a:sym typeface="Wingdings" pitchFamily="2" charset="2"/>
              </a:rPr>
              <a:t>)</a:t>
            </a:r>
            <a:br>
              <a:rPr kumimoji="1" lang="en-US" altLang="ja-JP" dirty="0">
                <a:sym typeface="Wingdings" pitchFamily="2" charset="2"/>
              </a:rPr>
            </a:br>
            <a:endParaRPr kumimoji="1" lang="ja-JP" altLang="en-US"/>
          </a:p>
        </p:txBody>
      </p:sp>
      <p:sp>
        <p:nvSpPr>
          <p:cNvPr id="4" name="スライド番号プレースホルダー 3"/>
          <p:cNvSpPr>
            <a:spLocks noGrp="1"/>
          </p:cNvSpPr>
          <p:nvPr>
            <p:ph type="sldNum" sz="quarter" idx="5"/>
          </p:nvPr>
        </p:nvSpPr>
        <p:spPr/>
        <p:txBody>
          <a:bodyPr/>
          <a:lstStyle/>
          <a:p>
            <a:fld id="{D7B3EACB-305F-114A-A04A-32AF29B49D70}" type="slidenum">
              <a:rPr kumimoji="1" lang="ja-JP" altLang="en-US" smtClean="0"/>
              <a:t>5</a:t>
            </a:fld>
            <a:endParaRPr kumimoji="1" lang="ja-JP" altLang="en-US"/>
          </a:p>
        </p:txBody>
      </p:sp>
    </p:spTree>
    <p:extLst>
      <p:ext uri="{BB962C8B-B14F-4D97-AF65-F5344CB8AC3E}">
        <p14:creationId xmlns:p14="http://schemas.microsoft.com/office/powerpoint/2010/main" val="139605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文献</a:t>
            </a:r>
            <a:r>
              <a:rPr lang="en-US" altLang="ja-JP" dirty="0"/>
              <a:t>2</a:t>
            </a:r>
            <a:r>
              <a:rPr lang="ja-JP" altLang="ja-JP"/>
              <a:t>では，遺伝的演算子の適応により，操作率を探索中に変える枠組みが示されています。</a:t>
            </a:r>
            <a:br>
              <a:rPr lang="en-US" altLang="ja-JP" dirty="0"/>
            </a:br>
            <a:r>
              <a:rPr lang="ja-JP" altLang="ja-JP"/>
              <a:t>また文献</a:t>
            </a:r>
            <a:r>
              <a:rPr lang="en-US" altLang="ja-JP" dirty="0"/>
              <a:t>3</a:t>
            </a:r>
            <a:r>
              <a:rPr lang="ja-JP" altLang="ja-JP"/>
              <a:t>では，木構造に応じて交叉率や突然変異率を変更する方法が扱われています。</a:t>
            </a:r>
            <a:br>
              <a:rPr kumimoji="1" lang="en-US" altLang="ja-JP" dirty="0"/>
            </a:br>
            <a:r>
              <a:rPr kumimoji="1" lang="ja-JP" altLang="en-US"/>
              <a:t>これらの研究はどちらも、演算子による改善の成功履歴や木構造の複雑さといった単一の観点に基づいて操作率を調整しています。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しかし，多目的</a:t>
            </a:r>
            <a:r>
              <a:rPr kumimoji="1" lang="en-US" altLang="ja-JP" dirty="0"/>
              <a:t>GP</a:t>
            </a:r>
            <a:r>
              <a:rPr kumimoji="1" lang="ja-JP" altLang="en-US"/>
              <a:t>では，探索進捗，多様性，複雑さ，停滞状況が相互に関係するため，</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単一指標だけでは現在の探索状態を十分に考慮できません。</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また操作率が状態依存なら、操作率を更新するタイミングも状態依存であるべきです。</a:t>
            </a:r>
          </a:p>
          <a:p>
            <a:r>
              <a:rPr lang="ja-JP" altLang="ja-JP"/>
              <a:t>例えば、探索状態が大きく変化しているときには、前の操作率がすぐに合わなくなる可能性があります。</a:t>
            </a:r>
            <a:br>
              <a:rPr lang="en-US" altLang="ja-JP" dirty="0"/>
            </a:br>
            <a:r>
              <a:rPr lang="ja-JP" altLang="ja-JP"/>
              <a:t>この場合は、短い周期で状態を観測し直し、操作率を更新する必要があります。</a:t>
            </a:r>
          </a:p>
          <a:p>
            <a:r>
              <a:rPr lang="ja-JP" altLang="ja-JP"/>
              <a:t>一方で、探索状態が安定しているときには、毎世代のように細かく更新しても得られる情報は少なく、むしろノイズに振り回される可能性があります。</a:t>
            </a:r>
            <a:br>
              <a:rPr lang="en-US" altLang="ja-JP" dirty="0"/>
            </a:br>
            <a:r>
              <a:rPr lang="ja-JP" altLang="ja-JP"/>
              <a:t>この場合は、しばらく同じ操作率を保持した方がよいです。</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6</a:t>
            </a:fld>
            <a:endParaRPr kumimoji="1" lang="ja-JP" altLang="en-US"/>
          </a:p>
        </p:txBody>
      </p:sp>
    </p:spTree>
    <p:extLst>
      <p:ext uri="{BB962C8B-B14F-4D97-AF65-F5344CB8AC3E}">
        <p14:creationId xmlns:p14="http://schemas.microsoft.com/office/powerpoint/2010/main" val="3129696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そこで本研究では，複数の世代状態を考慮した操作率・更新周期適応による多目的</a:t>
            </a:r>
            <a:r>
              <a:rPr kumimoji="1" lang="en-US" altLang="ja-JP" dirty="0"/>
              <a:t>GP</a:t>
            </a:r>
            <a:r>
              <a:rPr kumimoji="1" lang="ja-JP" altLang="en-US"/>
              <a:t>の多様性・収束性の改善を目的とします。</a:t>
            </a:r>
            <a:br>
              <a:rPr kumimoji="1" lang="en-US" altLang="ja-JP" dirty="0"/>
            </a:br>
            <a:r>
              <a:rPr kumimoji="1" lang="ja-JP" altLang="en-US"/>
              <a:t>ここでの世代状態とは、世代進行率、解候補集合の性能、その性能の直近での改善量、解候補集合の構造の多様性、平均木サイズ、進化停滞世代数です。</a:t>
            </a:r>
            <a:br>
              <a:rPr kumimoji="1" lang="en-US" altLang="ja-JP" dirty="0"/>
            </a:br>
            <a:r>
              <a:rPr kumimoji="1" lang="ja-JP" altLang="ja-JP" sz="1200" kern="1200">
                <a:solidFill>
                  <a:schemeClr val="tx1"/>
                </a:solidFill>
                <a:effectLst/>
                <a:latin typeface="+mn-lt"/>
                <a:ea typeface="+mn-ea"/>
                <a:cs typeface="+mn-cs"/>
              </a:rPr>
              <a:t>本研究</a:t>
            </a:r>
            <a:r>
              <a:rPr kumimoji="1" lang="ja-JP" altLang="en-US" sz="1200" kern="1200">
                <a:solidFill>
                  <a:schemeClr val="tx1"/>
                </a:solidFill>
                <a:effectLst/>
                <a:latin typeface="+mn-lt"/>
                <a:ea typeface="+mn-ea"/>
                <a:cs typeface="+mn-cs"/>
              </a:rPr>
              <a:t>の方策として</a:t>
            </a:r>
            <a:r>
              <a:rPr kumimoji="1" lang="ja-JP" altLang="ja-JP" sz="1200" kern="1200">
                <a:solidFill>
                  <a:schemeClr val="tx1"/>
                </a:solidFill>
                <a:effectLst/>
                <a:latin typeface="+mn-lt"/>
                <a:ea typeface="+mn-ea"/>
                <a:cs typeface="+mn-cs"/>
              </a:rPr>
              <a:t>は</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GP の操作率設定を静的なハイパーパラメータ調整ではなく，世代状態を観測して制御入力を逐次更新する閉ループ制御問題として</a:t>
            </a:r>
            <a:r>
              <a:rPr kumimoji="1" lang="ja-JP" altLang="en-US" sz="1200" kern="1200">
                <a:solidFill>
                  <a:schemeClr val="tx1"/>
                </a:solidFill>
                <a:effectLst/>
                <a:latin typeface="+mn-lt"/>
                <a:ea typeface="+mn-ea"/>
                <a:cs typeface="+mn-cs"/>
              </a:rPr>
              <a:t>扱います。</a:t>
            </a:r>
            <a:br>
              <a:rPr kumimoji="1" lang="en-US" altLang="ja-JP" sz="1200" kern="1200" dirty="0">
                <a:solidFill>
                  <a:schemeClr val="tx1"/>
                </a:solidFill>
                <a:effectLst/>
                <a:latin typeface="+mn-lt"/>
                <a:ea typeface="+mn-ea"/>
                <a:cs typeface="+mn-cs"/>
              </a:rPr>
            </a:br>
            <a:br>
              <a:rPr kumimoji="1" lang="en-US" altLang="ja-JP" sz="1200" kern="1200" dirty="0">
                <a:solidFill>
                  <a:schemeClr val="tx1"/>
                </a:solidFill>
                <a:effectLst/>
                <a:latin typeface="+mn-lt"/>
                <a:ea typeface="+mn-ea"/>
                <a:cs typeface="+mn-cs"/>
              </a:rPr>
            </a:br>
            <a:r>
              <a:rPr kumimoji="1" lang="ja-JP" altLang="en-US" sz="1200" kern="1200">
                <a:solidFill>
                  <a:schemeClr val="tx1"/>
                </a:solidFill>
                <a:effectLst/>
                <a:latin typeface="+mn-lt"/>
                <a:ea typeface="+mn-ea"/>
                <a:cs typeface="+mn-cs"/>
              </a:rPr>
              <a:t>計算コスト</a:t>
            </a:r>
            <a:br>
              <a:rPr kumimoji="1" lang="en-US" altLang="ja-JP" sz="1200" kern="1200" dirty="0">
                <a:solidFill>
                  <a:schemeClr val="tx1"/>
                </a:solidFill>
                <a:effectLst/>
                <a:latin typeface="+mn-lt"/>
                <a:ea typeface="+mn-ea"/>
                <a:cs typeface="+mn-cs"/>
              </a:rPr>
            </a:br>
            <a:endParaRPr kumimoji="1" lang="ja-JP" altLang="ja-JP"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D7B3EACB-305F-114A-A04A-32AF29B49D70}" type="slidenum">
              <a:rPr kumimoji="1" lang="ja-JP" altLang="en-US" smtClean="0"/>
              <a:t>7</a:t>
            </a:fld>
            <a:endParaRPr kumimoji="1" lang="ja-JP" altLang="en-US"/>
          </a:p>
        </p:txBody>
      </p:sp>
    </p:spTree>
    <p:extLst>
      <p:ext uri="{BB962C8B-B14F-4D97-AF65-F5344CB8AC3E}">
        <p14:creationId xmlns:p14="http://schemas.microsoft.com/office/powerpoint/2010/main" val="1848160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こちらが提案手法とそのブロック線図です。</a:t>
            </a:r>
            <a:br>
              <a:rPr kumimoji="1" lang="en-US" altLang="ja-JP" dirty="0"/>
            </a:br>
            <a:r>
              <a:rPr lang="ja-JP" altLang="ja-JP"/>
              <a:t>提案手法では，GPをプラント，</a:t>
            </a:r>
            <a:r>
              <a:rPr lang="ja-JP" altLang="en-US"/>
              <a:t>ベイズ最適化手法</a:t>
            </a:r>
            <a:r>
              <a:rPr lang="ja-JP" altLang="ja-JP"/>
              <a:t>を制御器とみなして閉ループを構成します。</a:t>
            </a:r>
            <a:br>
              <a:rPr lang="en-US" altLang="ja-JP" dirty="0"/>
            </a:br>
            <a:r>
              <a:rPr lang="ja-JP" altLang="ja-JP"/>
              <a:t>まず，</a:t>
            </a:r>
            <a:r>
              <a:rPr lang="ja-JP" altLang="en-US"/>
              <a:t>先ほどご紹介した</a:t>
            </a:r>
            <a:r>
              <a:rPr lang="ja-JP" altLang="ja-JP"/>
              <a:t>現在の</a:t>
            </a:r>
            <a:r>
              <a:rPr lang="ja-JP" altLang="en-US"/>
              <a:t>世代</a:t>
            </a:r>
            <a:r>
              <a:rPr lang="ja-JP" altLang="ja-JP"/>
              <a:t>状態を観測します。</a:t>
            </a:r>
            <a:br>
              <a:rPr kumimoji="1" lang="en-US" altLang="ja-JP" dirty="0"/>
            </a:br>
            <a:r>
              <a:rPr kumimoji="1" lang="ja-JP" altLang="en-US"/>
              <a:t>次に</a:t>
            </a:r>
            <a:r>
              <a:rPr lang="ja-JP" altLang="ja-JP"/>
              <a:t>BO制御器はこの状態 </a:t>
            </a:r>
            <a:r>
              <a:rPr kumimoji="1" lang="ja-JP" altLang="ja-JP" sz="1200" kern="1200">
                <a:solidFill>
                  <a:schemeClr val="tx1"/>
                </a:solidFill>
                <a:latin typeface="+mn-lt"/>
                <a:ea typeface="+mn-ea"/>
                <a:cs typeface="+mn-cs"/>
              </a:rPr>
              <a:t>x</a:t>
            </a:r>
            <a:r>
              <a:rPr lang="ja-JP" altLang="ja-JP"/>
              <a:t> を受け取り，次に適用する制御入力 </a:t>
            </a:r>
            <a:r>
              <a:rPr kumimoji="1" lang="ja-JP" altLang="ja-JP" sz="1200" kern="1200">
                <a:solidFill>
                  <a:schemeClr val="tx1"/>
                </a:solidFill>
                <a:latin typeface="+mn-lt"/>
                <a:ea typeface="+mn-ea"/>
                <a:cs typeface="+mn-cs"/>
              </a:rPr>
              <a:t>u</a:t>
            </a:r>
            <a:r>
              <a:rPr lang="ja-JP" altLang="ja-JP"/>
              <a:t> を決めます。</a:t>
            </a:r>
            <a:br>
              <a:rPr lang="en-US" altLang="ja-JP" dirty="0"/>
            </a:br>
            <a:r>
              <a:rPr lang="ja-JP" altLang="ja-JP"/>
              <a:t>制御入力は，交叉率 </a:t>
            </a:r>
            <a:r>
              <a:rPr kumimoji="1" lang="ja-JP" altLang="ja-JP" sz="1200" kern="1200">
                <a:solidFill>
                  <a:schemeClr val="tx1"/>
                </a:solidFill>
                <a:latin typeface="+mn-lt"/>
                <a:ea typeface="+mn-ea"/>
                <a:cs typeface="+mn-cs"/>
              </a:rPr>
              <a:t>p_c</a:t>
            </a:r>
            <a:r>
              <a:rPr lang="ja-JP" altLang="ja-JP"/>
              <a:t>，突然変異率 </a:t>
            </a:r>
            <a:r>
              <a:rPr kumimoji="1" lang="ja-JP" altLang="ja-JP" sz="1200" kern="1200">
                <a:solidFill>
                  <a:schemeClr val="tx1"/>
                </a:solidFill>
                <a:latin typeface="+mn-lt"/>
                <a:ea typeface="+mn-ea"/>
                <a:cs typeface="+mn-cs"/>
              </a:rPr>
              <a:t>p_m</a:t>
            </a:r>
            <a:r>
              <a:rPr lang="ja-JP" altLang="ja-JP"/>
              <a:t>，更新</a:t>
            </a:r>
            <a:r>
              <a:rPr lang="ja-JP" altLang="en-US"/>
              <a:t>周期</a:t>
            </a:r>
            <a:r>
              <a:rPr lang="ja-JP" altLang="ja-JP"/>
              <a:t> </a:t>
            </a:r>
            <a:r>
              <a:rPr kumimoji="1" lang="ja-JP" altLang="ja-JP" sz="1200" kern="1200">
                <a:solidFill>
                  <a:schemeClr val="tx1"/>
                </a:solidFill>
                <a:latin typeface="+mn-lt"/>
                <a:ea typeface="+mn-ea"/>
                <a:cs typeface="+mn-cs"/>
              </a:rPr>
              <a:t>k</a:t>
            </a:r>
            <a:r>
              <a:rPr lang="ja-JP" altLang="ja-JP"/>
              <a:t> の組です</a:t>
            </a:r>
            <a:r>
              <a:rPr lang="ja-JP" altLang="en-US"/>
              <a:t>。</a:t>
            </a:r>
            <a:br>
              <a:rPr lang="en-US" altLang="ja-JP" dirty="0"/>
            </a:br>
            <a:r>
              <a:rPr lang="ja-JP" altLang="ja-JP"/>
              <a:t>その後，GPプラントは，決定された入力に基づいて </a:t>
            </a:r>
            <a:r>
              <a:rPr kumimoji="1" lang="ja-JP" altLang="ja-JP" sz="1200" kern="1200">
                <a:solidFill>
                  <a:schemeClr val="tx1"/>
                </a:solidFill>
                <a:latin typeface="+mn-lt"/>
                <a:ea typeface="+mn-ea"/>
                <a:cs typeface="+mn-cs"/>
              </a:rPr>
              <a:t>k</a:t>
            </a:r>
            <a:r>
              <a:rPr lang="ja-JP" altLang="ja-JP"/>
              <a:t> 世代</a:t>
            </a:r>
            <a:r>
              <a:rPr lang="ja-JP" altLang="en-US"/>
              <a:t>探索を実行</a:t>
            </a:r>
            <a:r>
              <a:rPr lang="ja-JP" altLang="ja-JP"/>
              <a:t>します。</a:t>
            </a:r>
            <a:br>
              <a:rPr lang="en-US" altLang="ja-JP" dirty="0"/>
            </a:br>
            <a:r>
              <a:rPr lang="ja-JP" altLang="en-US"/>
              <a:t>実行</a:t>
            </a:r>
            <a:r>
              <a:rPr lang="ja-JP" altLang="ja-JP"/>
              <a:t>後には，</a:t>
            </a:r>
            <a:r>
              <a:rPr lang="ja-JP" altLang="en-US"/>
              <a:t>解候補集合の</a:t>
            </a:r>
            <a:r>
              <a:rPr lang="ja-JP" altLang="ja-JP"/>
              <a:t>改善，多様性維持，制御更新コストから報酬を計算します。</a:t>
            </a:r>
            <a:br>
              <a:rPr lang="en-US" altLang="ja-JP" dirty="0"/>
            </a:br>
            <a:r>
              <a:rPr lang="ja-JP" altLang="en-US"/>
              <a:t>また、</a:t>
            </a:r>
            <a:r>
              <a:rPr lang="ja-JP" altLang="ja-JP"/>
              <a:t>進化後の集団状態</a:t>
            </a:r>
            <a:r>
              <a:rPr lang="ja-JP" altLang="en-US"/>
              <a:t>から</a:t>
            </a:r>
            <a:r>
              <a:rPr lang="ja-JP" altLang="ja-JP"/>
              <a:t>次の</a:t>
            </a:r>
            <a:r>
              <a:rPr lang="ja-JP" altLang="en-US"/>
              <a:t>世代</a:t>
            </a:r>
            <a:r>
              <a:rPr lang="ja-JP" altLang="ja-JP"/>
              <a:t>状態</a:t>
            </a:r>
            <a:r>
              <a:rPr lang="ja-JP" altLang="en-US"/>
              <a:t>を計算します。</a:t>
            </a:r>
            <a:br>
              <a:rPr lang="en-US" altLang="ja-JP" dirty="0"/>
            </a:br>
            <a:r>
              <a:rPr lang="ja-JP" altLang="ja-JP"/>
              <a:t>得られた報酬はBOに戻され，BOの履歴データが更新されます。</a:t>
            </a:r>
            <a:br>
              <a:rPr lang="en-US" altLang="ja-JP" dirty="0"/>
            </a:br>
            <a:r>
              <a:rPr lang="ja-JP" altLang="en-US"/>
              <a:t>また</a:t>
            </a:r>
            <a:r>
              <a:rPr lang="ja-JP" altLang="ja-JP"/>
              <a:t>，</a:t>
            </a:r>
            <a:r>
              <a:rPr lang="ja-JP" altLang="en-US"/>
              <a:t>計算された</a:t>
            </a:r>
            <a:r>
              <a:rPr lang="ja-JP" altLang="ja-JP"/>
              <a:t>次の</a:t>
            </a:r>
            <a:r>
              <a:rPr lang="ja-JP" altLang="en-US"/>
              <a:t>世代</a:t>
            </a:r>
            <a:r>
              <a:rPr lang="ja-JP" altLang="ja-JP"/>
              <a:t>状態</a:t>
            </a:r>
            <a:r>
              <a:rPr lang="ja-JP" altLang="en-US"/>
              <a:t>を</a:t>
            </a:r>
            <a:r>
              <a:rPr lang="ja-JP" altLang="ja-JP"/>
              <a:t>観測</a:t>
            </a:r>
            <a:r>
              <a:rPr lang="ja-JP" altLang="en-US"/>
              <a:t>します</a:t>
            </a:r>
            <a:r>
              <a:rPr lang="ja-JP" altLang="ja-JP"/>
              <a:t>。</a:t>
            </a:r>
          </a:p>
          <a:p>
            <a:r>
              <a:rPr lang="ja-JP" altLang="ja-JP"/>
              <a:t>このように，提案法は固定率の単なる置き換えではなく，探索状態を観測しながら操作率と更新周期を再決定する制御問題として扱います。</a:t>
            </a:r>
          </a:p>
          <a:p>
            <a:r>
              <a:rPr lang="ja-JP" altLang="ja-JP"/>
              <a:t>次に，BO制御器</a:t>
            </a:r>
            <a:r>
              <a:rPr lang="ja-JP" altLang="en-US"/>
              <a:t>について少し</a:t>
            </a:r>
            <a:r>
              <a:rPr lang="ja-JP" altLang="ja-JP"/>
              <a:t>説明します。</a:t>
            </a:r>
            <a:br>
              <a:rPr lang="en-US" altLang="ja-JP" dirty="0"/>
            </a:br>
            <a:br>
              <a:rPr lang="en-US" altLang="ja-JP" dirty="0"/>
            </a:br>
            <a:br>
              <a:rPr lang="en-US" altLang="ja-JP" dirty="0"/>
            </a:br>
            <a:br>
              <a:rPr lang="en-US" altLang="ja-JP" dirty="0"/>
            </a:br>
            <a:r>
              <a:rPr lang="ja-JP" altLang="ja-JP"/>
              <a:t>本研究では，報酬を三つの要素から設計します。</a:t>
            </a:r>
          </a:p>
          <a:p>
            <a:r>
              <a:rPr lang="ja-JP" altLang="ja-JP"/>
              <a:t>第一に，進捗です。これは世代あたりのHV改善として評価します。HVが増加するほど，精度と複雑さのパレートフロントが改善していると考えます。</a:t>
            </a:r>
          </a:p>
          <a:p>
            <a:r>
              <a:rPr lang="ja-JP" altLang="ja-JP"/>
              <a:t>第二に，多様性です。多目的GPでは，単に一部の解に収束するだけでなく，解集合の広がりを保つことも重要です。そのため，区間平均多様性を報酬に含めます。</a:t>
            </a:r>
          </a:p>
          <a:p>
            <a:r>
              <a:rPr lang="ja-JP" altLang="ja-JP"/>
              <a:t>第三に，コストです。頻繁に制御更新を行うと，制御の負荷が増えます。そのため，制御更新コストを抑制項として入れます。</a:t>
            </a:r>
          </a:p>
          <a:p>
            <a:r>
              <a:rPr lang="ja-JP" altLang="ja-JP"/>
              <a:t>重要なのは，HVだけを報酬にすると収束寄りになりやすい点です。本研究では，多様性を維持する項を残すことで，多目的探索としてのバランスを取ります。</a:t>
            </a:r>
          </a:p>
          <a:p>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8</a:t>
            </a:fld>
            <a:endParaRPr kumimoji="1" lang="ja-JP" altLang="en-US"/>
          </a:p>
        </p:txBody>
      </p:sp>
    </p:spTree>
    <p:extLst>
      <p:ext uri="{BB962C8B-B14F-4D97-AF65-F5344CB8AC3E}">
        <p14:creationId xmlns:p14="http://schemas.microsoft.com/office/powerpoint/2010/main" val="3021727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そもそも</a:t>
            </a:r>
            <a:r>
              <a:rPr lang="en-US" altLang="ja-JP" dirty="0"/>
              <a:t>BO</a:t>
            </a:r>
            <a:r>
              <a:rPr lang="ja-JP" altLang="en-US"/>
              <a:t>とは何かについてですが、</a:t>
            </a:r>
            <a:r>
              <a:rPr lang="ja-JP" altLang="ja-JP"/>
              <a:t>BO は、</a:t>
            </a:r>
            <a:r>
              <a:rPr lang="ja-JP" altLang="en-US"/>
              <a:t>データから性能を予測することで、効率的に解を探索する最適化手法の一つです。</a:t>
            </a:r>
            <a:br>
              <a:rPr lang="en-US" altLang="ja-JP" dirty="0"/>
            </a:br>
            <a:r>
              <a:rPr lang="ja-JP" altLang="ja-JP"/>
              <a:t>過去の評価結果を履歴として持ち，そこから</a:t>
            </a:r>
            <a:r>
              <a:rPr lang="ja-JP" altLang="en-US"/>
              <a:t>確率の基づいた</a:t>
            </a:r>
            <a:r>
              <a:rPr lang="ja-JP" altLang="ja-JP"/>
              <a:t>モデル</a:t>
            </a:r>
            <a:r>
              <a:rPr lang="ja-JP" altLang="en-US"/>
              <a:t>を用いて解</a:t>
            </a:r>
            <a:r>
              <a:rPr lang="ja-JP" altLang="ja-JP"/>
              <a:t>を予測し，有望な入力を評価します。</a:t>
            </a:r>
            <a:br>
              <a:rPr lang="en-US" altLang="ja-JP" dirty="0"/>
            </a:br>
            <a:r>
              <a:rPr lang="ja-JP" altLang="en-US"/>
              <a:t>本研究で</a:t>
            </a:r>
            <a:r>
              <a:rPr lang="en-US" altLang="ja-JP" dirty="0"/>
              <a:t>BO</a:t>
            </a:r>
            <a:r>
              <a:rPr lang="ja-JP" altLang="en-US"/>
              <a:t>を用いる理由は二つあります。</a:t>
            </a:r>
            <a:br>
              <a:rPr lang="en-US" altLang="ja-JP" dirty="0"/>
            </a:br>
            <a:r>
              <a:rPr lang="ja-JP" altLang="en-US"/>
              <a:t>一つがブラックボックスな関係を扱える点です。</a:t>
            </a:r>
            <a:br>
              <a:rPr lang="en-US" altLang="ja-JP" dirty="0"/>
            </a:br>
            <a:r>
              <a:rPr lang="en-US" altLang="ja-JP" dirty="0"/>
              <a:t>BO</a:t>
            </a:r>
            <a:r>
              <a:rPr lang="ja-JP" altLang="en-US"/>
              <a:t>は入出力関係が未知な関数の最適化に用いられる手法です。</a:t>
            </a:r>
            <a:br>
              <a:rPr lang="en-US" altLang="ja-JP" dirty="0"/>
            </a:br>
            <a:r>
              <a:rPr lang="en-US" altLang="ja-JP" dirty="0"/>
              <a:t>GP</a:t>
            </a:r>
            <a:r>
              <a:rPr lang="ja-JP" altLang="en-US"/>
              <a:t>における操作率、更新周期と、それによる解候補集合の性能の関係性は解析的には扱えません。</a:t>
            </a:r>
            <a:br>
              <a:rPr lang="en-US" altLang="ja-JP" dirty="0"/>
            </a:br>
            <a:r>
              <a:rPr lang="ja-JP" altLang="en-US"/>
              <a:t>そこで</a:t>
            </a:r>
            <a:r>
              <a:rPr lang="en-US" altLang="ja-JP" dirty="0"/>
              <a:t>BO</a:t>
            </a:r>
            <a:r>
              <a:rPr lang="ja-JP" altLang="en-US"/>
              <a:t>のこの性能が生きてきます。</a:t>
            </a:r>
            <a:br>
              <a:rPr lang="en-US" altLang="ja-JP" dirty="0"/>
            </a:br>
            <a:r>
              <a:rPr lang="ja-JP" altLang="en-US"/>
              <a:t>二つ目は、なるべく少ない試行で効率的に探索できる点です。</a:t>
            </a:r>
            <a:br>
              <a:rPr lang="en-US" altLang="ja-JP" dirty="0"/>
            </a:br>
            <a:r>
              <a:rPr lang="en-US" altLang="ja-JP" dirty="0"/>
              <a:t>BO</a:t>
            </a:r>
            <a:r>
              <a:rPr lang="ja-JP" altLang="en-US"/>
              <a:t>によって過去の観測から有望な設定を絞ってもらうことで、全ての候補を試す計算コストを抑えれます。</a:t>
            </a:r>
            <a:endParaRPr lang="en-US" altLang="ja-JP" dirty="0"/>
          </a:p>
          <a:p>
            <a:r>
              <a:rPr lang="ja-JP" altLang="en-US"/>
              <a:t>これらが、本研究で</a:t>
            </a:r>
            <a:r>
              <a:rPr lang="en-US" altLang="ja-JP" dirty="0"/>
              <a:t>BO</a:t>
            </a:r>
            <a:r>
              <a:rPr lang="ja-JP" altLang="en-US"/>
              <a:t>を用いる理由です。</a:t>
            </a:r>
            <a:br>
              <a:rPr lang="en-US" altLang="ja-JP" dirty="0"/>
            </a:br>
            <a:br>
              <a:rPr lang="en-US" altLang="ja-JP" dirty="0"/>
            </a:br>
            <a:br>
              <a:rPr lang="en-US" altLang="ja-JP" dirty="0"/>
            </a:br>
            <a:endParaRPr lang="en-US" altLang="ja-JP" dirty="0"/>
          </a:p>
          <a:p>
            <a:br>
              <a:rPr lang="en-US" altLang="ja-JP" dirty="0"/>
            </a:br>
            <a:br>
              <a:rPr lang="en-US" altLang="ja-JP" dirty="0"/>
            </a:br>
            <a:endParaRPr lang="en-US" altLang="ja-JP" dirty="0"/>
          </a:p>
          <a:p>
            <a:r>
              <a:rPr kumimoji="1" lang="ja-JP" altLang="ja-JP" sz="1200" b="0" i="0" kern="1200">
                <a:solidFill>
                  <a:schemeClr val="tx1"/>
                </a:solidFill>
                <a:effectLst/>
                <a:latin typeface="+mn-lt"/>
                <a:ea typeface="+mn-ea"/>
                <a:cs typeface="+mn-cs"/>
              </a:rPr>
              <a:t>入力に対して出力がどのような確率分布に従うか</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有望な入力を評価するのは獲得関数</a:t>
            </a:r>
            <a:br>
              <a:rPr kumimoji="1" lang="en-US" altLang="ja-JP"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EI : </a:t>
            </a:r>
            <a:r>
              <a:rPr kumimoji="1" lang="ja-JP" altLang="ja-JP" sz="1200" b="0" i="0" kern="1200">
                <a:solidFill>
                  <a:schemeClr val="tx1"/>
                </a:solidFill>
                <a:effectLst/>
                <a:latin typeface="+mn-lt"/>
                <a:ea typeface="+mn-ea"/>
                <a:cs typeface="+mn-cs"/>
              </a:rPr>
              <a:t>現在の最適な観測値からの改善量の期待値</a:t>
            </a:r>
            <a:endParaRPr lang="en-US" altLang="ja-JP" dirty="0"/>
          </a:p>
          <a:p>
            <a:r>
              <a:rPr kumimoji="1" lang="ja-JP" altLang="ja-JP" sz="1200" b="0" i="0" kern="1200">
                <a:solidFill>
                  <a:schemeClr val="tx1"/>
                </a:solidFill>
                <a:effectLst/>
                <a:latin typeface="+mn-lt"/>
                <a:ea typeface="+mn-ea"/>
                <a:cs typeface="+mn-cs"/>
              </a:rPr>
              <a:t>活用と探索の</a:t>
            </a:r>
            <a:r>
              <a:rPr kumimoji="1" lang="ja-JP" altLang="en-US" sz="1200" b="0" i="0" kern="1200">
                <a:solidFill>
                  <a:schemeClr val="tx1"/>
                </a:solidFill>
                <a:effectLst/>
                <a:latin typeface="+mn-lt"/>
                <a:ea typeface="+mn-ea"/>
                <a:cs typeface="+mn-cs"/>
              </a:rPr>
              <a:t>トレードオフの</a:t>
            </a:r>
            <a:r>
              <a:rPr kumimoji="1" lang="ja-JP" altLang="ja-JP" sz="1200" b="0" i="0" kern="1200">
                <a:solidFill>
                  <a:schemeClr val="tx1"/>
                </a:solidFill>
                <a:effectLst/>
                <a:latin typeface="+mn-lt"/>
                <a:ea typeface="+mn-ea"/>
                <a:cs typeface="+mn-cs"/>
              </a:rPr>
              <a:t>バランスが取れているとい</a:t>
            </a:r>
            <a:r>
              <a:rPr kumimoji="1" lang="ja-JP" altLang="en-US" sz="1200" b="0" i="0" kern="1200">
                <a:solidFill>
                  <a:schemeClr val="tx1"/>
                </a:solidFill>
                <a:effectLst/>
                <a:latin typeface="+mn-lt"/>
                <a:ea typeface="+mn-ea"/>
                <a:cs typeface="+mn-cs"/>
              </a:rPr>
              <a:t>える</a:t>
            </a:r>
            <a:endParaRPr lang="en-US" altLang="ja-JP" dirty="0"/>
          </a:p>
          <a:p>
            <a:br>
              <a:rPr lang="en-US" altLang="ja-JP" dirty="0"/>
            </a:br>
            <a:r>
              <a:rPr lang="ja-JP" altLang="ja-JP"/>
              <a:t>高コストな試行を少ない回数で賢く選ぶための最適化手法である。</a:t>
            </a:r>
            <a:endParaRPr lang="en-US" altLang="ja-JP" dirty="0"/>
          </a:p>
          <a:p>
            <a:r>
              <a:rPr lang="ja-JP" altLang="ja-JP"/>
              <a:t>本研究では、GP の進化状態に応じて交叉率・突然変異率・更新周期を決める制御器として BO を用いる。</a:t>
            </a:r>
            <a:br>
              <a:rPr lang="ja-JP" altLang="ja-JP"/>
            </a:br>
            <a:r>
              <a:rPr lang="ja-JP" altLang="ja-JP"/>
              <a:t>これにより、固定率では扱いにくい「探索段階に応じたパラメータ制御」を実現する。</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9</a:t>
            </a:fld>
            <a:endParaRPr kumimoji="1" lang="ja-JP" altLang="en-US"/>
          </a:p>
        </p:txBody>
      </p:sp>
    </p:spTree>
    <p:extLst>
      <p:ext uri="{BB962C8B-B14F-4D97-AF65-F5344CB8AC3E}">
        <p14:creationId xmlns:p14="http://schemas.microsoft.com/office/powerpoint/2010/main" val="1645717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次に，この手法を</a:t>
            </a:r>
            <a:r>
              <a:rPr lang="ja-JP" altLang="en-US"/>
              <a:t>検証するための実験設定</a:t>
            </a:r>
            <a:r>
              <a:rPr lang="ja-JP" altLang="ja-JP"/>
              <a:t>を説明します。</a:t>
            </a:r>
            <a:br>
              <a:rPr lang="en-US" altLang="ja-JP" dirty="0"/>
            </a:br>
            <a:r>
              <a:rPr lang="ja-JP" altLang="ja-JP"/>
              <a:t>実験では，Friedman-IIシンボリック回帰</a:t>
            </a:r>
            <a:r>
              <a:rPr lang="ja-JP" altLang="en-US"/>
              <a:t>と呼ばれる問題</a:t>
            </a:r>
            <a:r>
              <a:rPr lang="ja-JP" altLang="ja-JP"/>
              <a:t>を対象にしました。</a:t>
            </a:r>
            <a:br>
              <a:rPr lang="en-US" altLang="ja-JP" dirty="0"/>
            </a:br>
            <a:r>
              <a:rPr lang="ja-JP" altLang="ja-JP"/>
              <a:t>真の関数はスライドに示した式で，</a:t>
            </a:r>
            <a:r>
              <a:rPr kumimoji="1" lang="ja-JP" altLang="ja-JP" sz="1200" kern="1200">
                <a:solidFill>
                  <a:schemeClr val="tx1"/>
                </a:solidFill>
                <a:latin typeface="+mn-lt"/>
                <a:ea typeface="+mn-ea"/>
                <a:cs typeface="+mn-cs"/>
              </a:rPr>
              <a:t>x_1 x_2</a:t>
            </a:r>
            <a:r>
              <a:rPr lang="ja-JP" altLang="ja-JP"/>
              <a:t> の相互作用，</a:t>
            </a:r>
            <a:r>
              <a:rPr kumimoji="1" lang="ja-JP" altLang="en-US" sz="1200" kern="1200">
                <a:solidFill>
                  <a:schemeClr val="tx1"/>
                </a:solidFill>
                <a:latin typeface="+mn-lt"/>
                <a:ea typeface="+mn-ea"/>
                <a:cs typeface="+mn-cs"/>
              </a:rPr>
              <a:t>三角関数</a:t>
            </a:r>
            <a:r>
              <a:rPr lang="ja-JP" altLang="ja-JP"/>
              <a:t>，二次項，線形項を含む構造になっています。</a:t>
            </a:r>
            <a:br>
              <a:rPr lang="en-US" altLang="ja-JP" dirty="0"/>
            </a:br>
            <a:r>
              <a:rPr kumimoji="1" lang="ja-JP" altLang="ja-JP" sz="1200" kern="1200">
                <a:solidFill>
                  <a:schemeClr val="tx1"/>
                </a:solidFill>
                <a:effectLst/>
                <a:latin typeface="+mn-lt"/>
                <a:ea typeface="+mn-ea"/>
                <a:cs typeface="+mn-cs"/>
              </a:rPr>
              <a:t>単純な確認用関数よりもシンボリック回帰のベンチマークとして扱いやすい</a:t>
            </a:r>
            <a:r>
              <a:rPr kumimoji="1" lang="ja-JP" altLang="en-US" sz="1200" kern="1200">
                <a:solidFill>
                  <a:schemeClr val="tx1"/>
                </a:solidFill>
                <a:effectLst/>
                <a:latin typeface="+mn-lt"/>
                <a:ea typeface="+mn-ea"/>
                <a:cs typeface="+mn-cs"/>
              </a:rPr>
              <a:t>ため、採用しています。</a:t>
            </a:r>
            <a:br>
              <a:rPr kumimoji="1" lang="en-US" altLang="ja-JP" sz="1200" kern="1200" dirty="0">
                <a:solidFill>
                  <a:schemeClr val="tx1"/>
                </a:solidFill>
                <a:effectLst/>
                <a:latin typeface="+mn-lt"/>
                <a:ea typeface="+mn-ea"/>
                <a:cs typeface="+mn-cs"/>
              </a:rPr>
            </a:br>
            <a:r>
              <a:rPr lang="ja-JP" altLang="ja-JP"/>
              <a:t>本研究では，この</a:t>
            </a:r>
            <a:r>
              <a:rPr kumimoji="1" lang="ja-JP" altLang="en-US" sz="1200" kern="1200">
                <a:solidFill>
                  <a:schemeClr val="tx1"/>
                </a:solidFill>
                <a:effectLst/>
                <a:latin typeface="+mn-lt"/>
                <a:ea typeface="+mn-ea"/>
                <a:cs typeface="+mn-cs"/>
              </a:rPr>
              <a:t>式から生成した</a:t>
            </a:r>
            <a:r>
              <a:rPr lang="ja-JP" altLang="ja-JP"/>
              <a:t>データに対して，精度と複雑さ</a:t>
            </a:r>
            <a:r>
              <a:rPr lang="ja-JP" altLang="en-US"/>
              <a:t>を考慮した解候補集合の</a:t>
            </a:r>
            <a:r>
              <a:rPr lang="ja-JP" altLang="ja-JP"/>
              <a:t>改善を評価します。</a:t>
            </a:r>
            <a:br>
              <a:rPr lang="en-US" altLang="ja-JP" dirty="0"/>
            </a:br>
            <a:r>
              <a:rPr lang="ja-JP" altLang="ja-JP"/>
              <a:t>目的1は</a:t>
            </a:r>
            <a:r>
              <a:rPr kumimoji="1" lang="ja-JP" altLang="en-US"/>
              <a:t>二乗平均平方根誤差</a:t>
            </a:r>
            <a:r>
              <a:rPr lang="ja-JP" altLang="ja-JP"/>
              <a:t>を小さくすること，目的2は式木サイズを小さくすることです。</a:t>
            </a:r>
            <a:br>
              <a:rPr lang="en-US" altLang="ja-JP" dirty="0"/>
            </a:br>
            <a:endParaRPr lang="en-US" altLang="ja-JP" dirty="0"/>
          </a:p>
          <a:p>
            <a:endParaRPr lang="en-US" altLang="ja-JP" dirty="0"/>
          </a:p>
          <a:p>
            <a:br>
              <a:rPr lang="en-US" altLang="ja-JP" dirty="0"/>
            </a:br>
            <a:r>
              <a:rPr lang="ja-JP" altLang="ja-JP"/>
              <a:t>出力値の大きさに依存せず予測誤差を比較できる</a:t>
            </a:r>
            <a:br>
              <a:rPr lang="en-US" altLang="ja-JP" dirty="0"/>
            </a:br>
            <a:r>
              <a:rPr lang="ja-JP" altLang="ja-JP"/>
              <a:t>誤差目的のスケールを整えやすくな</a:t>
            </a:r>
            <a:r>
              <a:rPr lang="ja-JP" altLang="en-US"/>
              <a:t>るのが</a:t>
            </a:r>
            <a:r>
              <a:rPr lang="ja-JP" altLang="ja-JP"/>
              <a:t>多目的最適化と相性がよい</a:t>
            </a:r>
            <a:endParaRPr lang="en-US" altLang="ja-JP" dirty="0"/>
          </a:p>
          <a:p>
            <a:r>
              <a:rPr lang="ja-JP" altLang="ja-JP"/>
              <a:t>解釈しやすい</a:t>
            </a:r>
            <a:br>
              <a:rPr lang="en-US" altLang="ja-JP" dirty="0"/>
            </a:br>
            <a:br>
              <a:rPr lang="en-US" altLang="ja-JP" dirty="0"/>
            </a:br>
            <a:r>
              <a:rPr lang="ja-JP" altLang="en-US"/>
              <a:t>得られた式がどんな形か？</a:t>
            </a:r>
            <a:br>
              <a:rPr lang="en-US" altLang="ja-JP" dirty="0"/>
            </a:br>
            <a:r>
              <a:rPr lang="ja-JP" altLang="en-US"/>
              <a:t>やたら変な指揮も叩き出してくる</a:t>
            </a:r>
            <a:br>
              <a:rPr kumimoji="1" lang="en-US" altLang="ja-JP" sz="1200" kern="1200" dirty="0">
                <a:solidFill>
                  <a:schemeClr val="tx1"/>
                </a:solidFill>
                <a:effectLst/>
                <a:latin typeface="+mn-lt"/>
                <a:ea typeface="+mn-ea"/>
                <a:cs typeface="+mn-cs"/>
              </a:rPr>
            </a:br>
            <a:br>
              <a:rPr lang="en-US" altLang="ja-JP" dirty="0"/>
            </a:br>
            <a:br>
              <a:rPr kumimoji="1" lang="en-US" altLang="ja-JP" dirty="0"/>
            </a:br>
            <a:br>
              <a:rPr kumimoji="1" lang="en-US" altLang="ja-JP" dirty="0"/>
            </a:br>
            <a:br>
              <a:rPr kumimoji="1" lang="en-US" altLang="ja-JP" dirty="0"/>
            </a:br>
            <a:r>
              <a:rPr kumimoji="1" lang="ja-JP" altLang="ja-JP" sz="1200" kern="1200">
                <a:solidFill>
                  <a:schemeClr val="tx1"/>
                </a:solidFill>
                <a:effectLst/>
                <a:latin typeface="+mn-lt"/>
                <a:ea typeface="+mn-ea"/>
                <a:cs typeface="+mn-cs"/>
              </a:rPr>
              <a:t>この問題は，変数間相互作用，三角関数，二次項，線</a:t>
            </a:r>
          </a:p>
          <a:p>
            <a:r>
              <a:rPr kumimoji="1" lang="ja-JP" altLang="ja-JP" sz="1200" kern="1200">
                <a:solidFill>
                  <a:schemeClr val="tx1"/>
                </a:solidFill>
                <a:effectLst/>
                <a:latin typeface="+mn-lt"/>
                <a:ea typeface="+mn-ea"/>
                <a:cs typeface="+mn-cs"/>
              </a:rPr>
              <a:t>形項を含むため，単純な確認用関数よりもシンボリック</a:t>
            </a:r>
          </a:p>
          <a:p>
            <a:r>
              <a:rPr kumimoji="1" lang="ja-JP" altLang="ja-JP" sz="1200" kern="1200">
                <a:solidFill>
                  <a:schemeClr val="tx1"/>
                </a:solidFill>
                <a:effectLst/>
                <a:latin typeface="+mn-lt"/>
                <a:ea typeface="+mn-ea"/>
                <a:cs typeface="+mn-cs"/>
              </a:rPr>
              <a:t>回帰のベンチマークとして扱いやすい．また，入力変数</a:t>
            </a:r>
          </a:p>
          <a:p>
            <a:r>
              <a:rPr kumimoji="1" lang="ja-JP" altLang="ja-JP" sz="1200" kern="1200">
                <a:solidFill>
                  <a:schemeClr val="tx1"/>
                </a:solidFill>
                <a:effectLst/>
                <a:latin typeface="+mn-lt"/>
                <a:ea typeface="+mn-ea"/>
                <a:cs typeface="+mn-cs"/>
              </a:rPr>
              <a:t>が比較的少なく，結果の可視化と解釈が容易である一方，</a:t>
            </a:r>
          </a:p>
          <a:p>
            <a:r>
              <a:rPr kumimoji="1" lang="ja-JP" altLang="ja-JP" sz="1200" kern="1200">
                <a:solidFill>
                  <a:schemeClr val="tx1"/>
                </a:solidFill>
                <a:effectLst/>
                <a:latin typeface="+mn-lt"/>
                <a:ea typeface="+mn-ea"/>
                <a:cs typeface="+mn-cs"/>
              </a:rPr>
              <a:t>線形項だけでは表せない非線形構造を含む</a:t>
            </a:r>
          </a:p>
          <a:p>
            <a:br>
              <a:rPr kumimoji="1" lang="en-US" altLang="ja-JP" dirty="0"/>
            </a:br>
            <a:br>
              <a:rPr kumimoji="1" lang="en-US" altLang="ja-JP" dirty="0"/>
            </a:br>
            <a:r>
              <a:rPr kumimoji="1" lang="ja-JP" altLang="en-US"/>
              <a:t>二乗平均平方根誤差</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10</a:t>
            </a:fld>
            <a:endParaRPr kumimoji="1" lang="ja-JP" altLang="en-US"/>
          </a:p>
        </p:txBody>
      </p:sp>
    </p:spTree>
    <p:extLst>
      <p:ext uri="{BB962C8B-B14F-4D97-AF65-F5344CB8AC3E}">
        <p14:creationId xmlns:p14="http://schemas.microsoft.com/office/powerpoint/2010/main" val="1106523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比較条件として，提案法に加えて，標準固定率，高突然変異，高交叉の固定率GPを用います。</a:t>
            </a:r>
            <a:r>
              <a:rPr lang="ja-JP" altLang="en-US"/>
              <a:t>各手法での交叉率、突然変異率は上の表の通りです。</a:t>
            </a:r>
            <a:endParaRPr lang="en-US" altLang="ja-JP" dirty="0"/>
          </a:p>
          <a:p>
            <a:r>
              <a:rPr lang="ja-JP" altLang="ja-JP"/>
              <a:t>全条件で</a:t>
            </a:r>
            <a:r>
              <a:rPr lang="ja-JP" altLang="en-US"/>
              <a:t>母集団サイズは</a:t>
            </a:r>
            <a:r>
              <a:rPr lang="en-US" altLang="ja-JP" dirty="0"/>
              <a:t>24, </a:t>
            </a:r>
            <a:r>
              <a:rPr lang="ja-JP" altLang="en-US"/>
              <a:t>世代数は</a:t>
            </a:r>
            <a:r>
              <a:rPr lang="en-US" altLang="ja-JP" dirty="0"/>
              <a:t>60</a:t>
            </a:r>
            <a:r>
              <a:rPr lang="ja-JP" altLang="en-US"/>
              <a:t>、実行回数は</a:t>
            </a:r>
            <a:r>
              <a:rPr lang="ja-JP" altLang="ja-JP"/>
              <a:t>100</a:t>
            </a:r>
            <a:r>
              <a:rPr lang="ja-JP" altLang="en-US"/>
              <a:t>回</a:t>
            </a:r>
            <a:r>
              <a:rPr lang="ja-JP" altLang="ja-JP"/>
              <a:t>，とし，GP本体の条件は揃えます</a:t>
            </a:r>
            <a:br>
              <a:rPr lang="en-US" altLang="ja-JP" dirty="0"/>
            </a:br>
            <a:r>
              <a:rPr lang="ja-JP" altLang="en-US"/>
              <a:t>交叉率、突然変異率、更新周期の範囲は表の通りです。</a:t>
            </a:r>
            <a:br>
              <a:rPr lang="en-US" altLang="ja-JP" dirty="0"/>
            </a:br>
            <a:r>
              <a:rPr lang="ja-JP" altLang="en-US"/>
              <a:t>次に得られた結果を見てきたいと思います。</a:t>
            </a:r>
            <a:br>
              <a:rPr lang="en-US" altLang="ja-JP" dirty="0"/>
            </a:br>
            <a:br>
              <a:rPr lang="en-US" altLang="ja-JP" dirty="0"/>
            </a:br>
            <a:br>
              <a:rPr lang="en-US" altLang="ja-JP" dirty="0"/>
            </a:br>
            <a:r>
              <a:rPr lang="ja-JP" altLang="ja-JP"/>
              <a:t>母集団サイズ24は，20や30に対して性能上の最適値として選んだというより，計算予算と探索多様性のバランスを取るために設定しました。本実験では100 seedかつ複数手法を比較するため，母集団サイズを大きくすると評価回数が直接増えます。30にすると1 runあたりの評価回数は900となり，24の場合の720より25%増えます。一方，20では評価回数は減りますが，多目的GPでPareto frontや集団多様性を評価するにはやや小さく，初期集団や各世代の解集合が不安定になりやすいと考えました。そこで，20よりは多様性を確保でき，30よりは計算量を抑えられる値として24を採用しました。</a:t>
            </a:r>
            <a:endParaRPr lang="en-US" altLang="ja-JP" dirty="0"/>
          </a:p>
          <a:p>
            <a:endParaRPr kumimoji="1" lang="en-US" altLang="ja-JP" dirty="0"/>
          </a:p>
          <a:p>
            <a:r>
              <a:rPr lang="ja-JP" altLang="ja-JP"/>
              <a:t>標準的な固定率GPだけを比較対象にすると，提案法が良く見えたとしても，それが状態依存制御の効果なのか，単に交叉率や突然変異率を強めれば得られる効果なのかが分かりません。そこで，固定率のまま交叉を強めた条件と，突然変異を強めた条件を入れました。これにより，提案法が単なる「高交叉」「高突然変異」の代替ではなく，探索状態に応じて操作率や更新周期を切り替えることに意味があるかを確認できます。</a:t>
            </a:r>
            <a:br>
              <a:rPr lang="en-US" altLang="ja-JP" dirty="0"/>
            </a:br>
            <a:br>
              <a:rPr lang="en-US" altLang="ja-JP" dirty="0"/>
            </a:br>
            <a:r>
              <a:rPr lang="ja-JP" altLang="ja-JP"/>
              <a:t>k=1,3,5 は，毎世代更新，中程度の更新，やや長めの更新を表す代表値です。2や4が不適切というわけではありませんが，候補を増やすと限られた世代数の中でBOが各候補を十分に学習しにくくなります。また，5より大きい値では更新回数が少なくなり，状態依存に制御する効果を観察しにくくなります。そのため今回は，短周期から長周期までを最小限にカバーする候補として1,3,5を採用しました。</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11</a:t>
            </a:fld>
            <a:endParaRPr kumimoji="1" lang="ja-JP" altLang="en-US"/>
          </a:p>
        </p:txBody>
      </p:sp>
    </p:spTree>
    <p:extLst>
      <p:ext uri="{BB962C8B-B14F-4D97-AF65-F5344CB8AC3E}">
        <p14:creationId xmlns:p14="http://schemas.microsoft.com/office/powerpoint/2010/main" val="1649141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この図は最終的アーカイブ</a:t>
            </a:r>
            <a:r>
              <a:rPr kumimoji="1" lang="en-US" altLang="ja-JP" dirty="0"/>
              <a:t>HV</a:t>
            </a:r>
            <a:r>
              <a:rPr kumimoji="1" lang="ja-JP" altLang="en-US"/>
              <a:t>と多様性の平均と標準偏差をまとめたものです。</a:t>
            </a:r>
            <a:br>
              <a:rPr kumimoji="1" lang="en-US" altLang="ja-JP" dirty="0"/>
            </a:br>
            <a:r>
              <a:rPr kumimoji="1" lang="ja-JP" altLang="en-US"/>
              <a:t>アーカイブ</a:t>
            </a:r>
            <a:r>
              <a:rPr kumimoji="1" lang="en-US" altLang="ja-JP" dirty="0"/>
              <a:t>HV</a:t>
            </a:r>
            <a:r>
              <a:rPr kumimoji="1" lang="ja-JP" altLang="en-US"/>
              <a:t>とは、それまでの探索で得られた最適解候補集合の性能を表します。</a:t>
            </a:r>
            <a:br>
              <a:rPr kumimoji="1" lang="en-US" altLang="ja-JP" dirty="0"/>
            </a:br>
            <a:r>
              <a:rPr kumimoji="1" lang="ja-JP" altLang="en-US"/>
              <a:t>図より、赤の提案手法はどちらにおいても青の固定率</a:t>
            </a:r>
            <a:r>
              <a:rPr kumimoji="1" lang="en-US" altLang="ja-JP" dirty="0"/>
              <a:t>GP</a:t>
            </a:r>
            <a:r>
              <a:rPr kumimoji="1" lang="ja-JP" altLang="en-US"/>
              <a:t>とオレンジの高交叉率のものよりも良い傾向を示しています。</a:t>
            </a:r>
            <a:br>
              <a:rPr kumimoji="1" lang="en-US" altLang="ja-JP" dirty="0"/>
            </a:br>
            <a:r>
              <a:rPr kumimoji="1" lang="ja-JP" altLang="en-US"/>
              <a:t>しかしながら高突然変異率に対してはどちらも届くことはありませんでした。</a:t>
            </a:r>
            <a:br>
              <a:rPr kumimoji="1" lang="en-US" altLang="ja-JP" dirty="0"/>
            </a:br>
            <a:br>
              <a:rPr kumimoji="1"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12</a:t>
            </a:fld>
            <a:endParaRPr kumimoji="1" lang="ja-JP" altLang="en-US"/>
          </a:p>
        </p:txBody>
      </p:sp>
    </p:spTree>
    <p:extLst>
      <p:ext uri="{BB962C8B-B14F-4D97-AF65-F5344CB8AC3E}">
        <p14:creationId xmlns:p14="http://schemas.microsoft.com/office/powerpoint/2010/main" val="1478746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a:t>
            </a:r>
            <a:r>
              <a:rPr kumimoji="1" lang="en-US" altLang="ja-JP" dirty="0"/>
              <a:t>HV</a:t>
            </a:r>
            <a:r>
              <a:rPr kumimoji="1" lang="ja-JP" altLang="en-US"/>
              <a:t>の世代推移の図です。</a:t>
            </a:r>
            <a:br>
              <a:rPr kumimoji="1" lang="en-US" altLang="ja-JP" dirty="0"/>
            </a:br>
            <a:r>
              <a:rPr kumimoji="1" lang="ja-JP" altLang="en-US"/>
              <a:t>提案手法は固定率や高交叉率のものよりも高い水準を維持し続けながら推移していることが読み取れます。</a:t>
            </a:r>
            <a:br>
              <a:rPr kumimoji="1" lang="en-US" altLang="ja-JP" dirty="0"/>
            </a:br>
            <a:r>
              <a:rPr kumimoji="1" lang="ja-JP" altLang="en-US"/>
              <a:t>一方で高突然変異率のものには</a:t>
            </a:r>
            <a:r>
              <a:rPr kumimoji="1" lang="en-US" altLang="ja-JP" dirty="0"/>
              <a:t>53</a:t>
            </a:r>
            <a:r>
              <a:rPr kumimoji="1" lang="ja-JP" altLang="en-US"/>
              <a:t>世代付近で抜かれ、以降上回ることはできていません。</a:t>
            </a:r>
            <a:br>
              <a:rPr kumimoji="1" lang="en-US" altLang="ja-JP" dirty="0"/>
            </a:br>
            <a:r>
              <a:rPr kumimoji="1" lang="ja-JP" altLang="en-US"/>
              <a:t>また、提案手法は</a:t>
            </a:r>
            <a:r>
              <a:rPr kumimoji="1" lang="en-US" altLang="ja-JP" dirty="0"/>
              <a:t>40</a:t>
            </a:r>
            <a:r>
              <a:rPr kumimoji="1" lang="ja-JP" altLang="en-US"/>
              <a:t>世代付近からばらつきが小さくなっていく様子が確認できます。</a:t>
            </a:r>
            <a:endParaRPr kumimoji="1" lang="en-US" altLang="ja-JP" dirty="0"/>
          </a:p>
          <a:p>
            <a:r>
              <a:rPr kumimoji="1" lang="ja-JP" altLang="en-US"/>
              <a:t>このことから提案手法は探索の収束を支援し、性能の安定化に貢献している可能性があります。</a:t>
            </a:r>
            <a:br>
              <a:rPr kumimoji="1" lang="en-US" altLang="ja-JP" dirty="0"/>
            </a:br>
            <a:br>
              <a:rPr kumimoji="1" lang="en-US" altLang="ja-JP" dirty="0"/>
            </a:br>
            <a:br>
              <a:rPr kumimoji="1" lang="en-US" altLang="ja-JP" dirty="0"/>
            </a:br>
            <a:br>
              <a:rPr kumimoji="1" lang="en-US" altLang="ja-JP" dirty="0"/>
            </a:br>
            <a:r>
              <a:rPr kumimoji="1" lang="ja-JP" altLang="en-US"/>
              <a:t>標準偏差：データの散らばり具合を比較しやすいように</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13</a:t>
            </a:fld>
            <a:endParaRPr kumimoji="1" lang="ja-JP" altLang="en-US"/>
          </a:p>
        </p:txBody>
      </p:sp>
    </p:spTree>
    <p:extLst>
      <p:ext uri="{BB962C8B-B14F-4D97-AF65-F5344CB8AC3E}">
        <p14:creationId xmlns:p14="http://schemas.microsoft.com/office/powerpoint/2010/main" val="2396968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最後に、更新タイミングと</a:t>
            </a:r>
            <a:r>
              <a:rPr kumimoji="1" lang="en-US" altLang="ja-JP" dirty="0"/>
              <a:t>HV</a:t>
            </a:r>
            <a:r>
              <a:rPr kumimoji="1" lang="ja-JP" altLang="en-US"/>
              <a:t>、多様性の推移のグラフです。</a:t>
            </a:r>
            <a:br>
              <a:rPr kumimoji="1" lang="en-US" altLang="ja-JP" dirty="0"/>
            </a:br>
            <a:r>
              <a:rPr kumimoji="1" lang="ja-JP" altLang="en-US"/>
              <a:t>図より、</a:t>
            </a:r>
            <a:r>
              <a:rPr kumimoji="1" lang="en-US" altLang="ja-JP" dirty="0"/>
              <a:t>k</a:t>
            </a:r>
            <a:r>
              <a:rPr kumimoji="1" lang="ja-JP" altLang="en-US"/>
              <a:t>が決まったパターンではなく都度短周期、長周期を切り替えていることがわかります。</a:t>
            </a:r>
            <a:br>
              <a:rPr kumimoji="1" lang="en-US" altLang="ja-JP" dirty="0"/>
            </a:br>
            <a:r>
              <a:rPr kumimoji="1" lang="ja-JP" altLang="en-US"/>
              <a:t>このことから</a:t>
            </a:r>
            <a:r>
              <a:rPr lang="ja-JP" altLang="ja-JP"/>
              <a:t>いつ再調整するかも状態に応じて変えていることが確認できます</a:t>
            </a:r>
            <a:r>
              <a:rPr lang="ja-JP" altLang="en-US"/>
              <a:t>。</a:t>
            </a:r>
            <a:br>
              <a:rPr kumimoji="1" lang="en-US" altLang="ja-JP" dirty="0"/>
            </a:br>
            <a:r>
              <a:rPr kumimoji="1" lang="ja-JP" altLang="en-US"/>
              <a:t>また後半ではアーカイブ</a:t>
            </a:r>
            <a:r>
              <a:rPr kumimoji="1" lang="en-US" altLang="ja-JP" dirty="0"/>
              <a:t>HV</a:t>
            </a:r>
            <a:r>
              <a:rPr kumimoji="1" lang="ja-JP" altLang="en-US"/>
              <a:t>が安定している中、再び多様性に改善が見られました。</a:t>
            </a:r>
            <a:br>
              <a:rPr kumimoji="1" lang="en-US" altLang="ja-JP" dirty="0"/>
            </a:br>
            <a:r>
              <a:rPr kumimoji="1" lang="ja-JP" altLang="en-US"/>
              <a:t>これは探索状態の変化が小さくなった後でも制御器が短い更新タイミングで状態を観測し直し、改善を図っている可能性が示唆されます。</a:t>
            </a:r>
            <a:endParaRPr kumimoji="1" lang="en-US" altLang="ja-JP" dirty="0"/>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14</a:t>
            </a:fld>
            <a:endParaRPr kumimoji="1" lang="ja-JP" altLang="en-US"/>
          </a:p>
        </p:txBody>
      </p:sp>
    </p:spTree>
    <p:extLst>
      <p:ext uri="{BB962C8B-B14F-4D97-AF65-F5344CB8AC3E}">
        <p14:creationId xmlns:p14="http://schemas.microsoft.com/office/powerpoint/2010/main" val="3939047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最後に結論とまとめです。</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本研究の目的は</a:t>
            </a:r>
            <a:r>
              <a:rPr kumimoji="1" lang="ja-JP" altLang="en-US"/>
              <a:t>複数の世代状態を考慮した操作率・更新周期適応による多目的</a:t>
            </a:r>
            <a:r>
              <a:rPr kumimoji="1" lang="en-US" altLang="ja-JP" dirty="0"/>
              <a:t>GP</a:t>
            </a:r>
            <a:r>
              <a:rPr kumimoji="1" lang="ja-JP" altLang="en-US"/>
              <a:t>の多様性・収束性の改善を図ることです。</a:t>
            </a:r>
            <a:endParaRPr kumimoji="1" lang="en-US" altLang="ja-JP" dirty="0"/>
          </a:p>
          <a:p>
            <a:r>
              <a:rPr kumimoji="1" lang="ja-JP" altLang="en-US" sz="1200" b="0" i="0" kern="1200">
                <a:solidFill>
                  <a:schemeClr val="tx1"/>
                </a:solidFill>
                <a:effectLst/>
                <a:latin typeface="+mn-lt"/>
                <a:ea typeface="+mn-ea"/>
                <a:cs typeface="+mn-cs"/>
              </a:rPr>
              <a:t>そのために</a:t>
            </a:r>
            <a:r>
              <a:rPr lang="ja-JP" altLang="ja-JP"/>
              <a:t>GPをプラント，</a:t>
            </a:r>
            <a:r>
              <a:rPr lang="ja-JP" altLang="en-US"/>
              <a:t>ベイズ最適化手法</a:t>
            </a:r>
            <a:r>
              <a:rPr lang="ja-JP" altLang="ja-JP"/>
              <a:t>を制御器とみなして閉ループを構成</a:t>
            </a:r>
            <a:r>
              <a:rPr lang="ja-JP" altLang="en-US"/>
              <a:t>して</a:t>
            </a:r>
            <a:r>
              <a:rPr kumimoji="1" lang="ja-JP" altLang="en-US"/>
              <a:t>操作率・更新周期を適応的に制御する手法を提案しました。</a:t>
            </a:r>
            <a:br>
              <a:rPr kumimoji="1" lang="en-US" altLang="ja-JP" dirty="0"/>
            </a:br>
            <a:r>
              <a:rPr kumimoji="1" lang="ja-JP" altLang="en-US"/>
              <a:t>提案手法は</a:t>
            </a:r>
            <a:r>
              <a:rPr kumimoji="1" lang="ja-JP" altLang="en-US" sz="1200" b="0" i="0" kern="1200">
                <a:solidFill>
                  <a:schemeClr val="tx1"/>
                </a:solidFill>
                <a:effectLst/>
                <a:latin typeface="+mn-lt"/>
                <a:ea typeface="+mn-ea"/>
                <a:cs typeface="+mn-cs"/>
              </a:rPr>
              <a:t>標準固定率と高交叉率に対して良い傾向を示したが、高突然変異率を上回ることはできなかった。</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また提案手法は探索途中で他の手法と比較してばらつきが小さくなっていく挙動が見られた。</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これらのことから本研究で提案する閉ループ制御によって収束性と多様性維持を両立できる可能性が確認された。</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一方で現行の報酬設計，状態変数の利用方法，更新周期の選択には改善余地がある。</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それらの改善や、状態を観測しない</a:t>
            </a:r>
            <a:r>
              <a:rPr kumimoji="1" lang="en-US" altLang="ja-JP" sz="1200" b="0" i="0" kern="1200" dirty="0">
                <a:solidFill>
                  <a:schemeClr val="tx1"/>
                </a:solidFill>
                <a:effectLst/>
                <a:latin typeface="+mn-lt"/>
                <a:ea typeface="+mn-ea"/>
                <a:cs typeface="+mn-cs"/>
              </a:rPr>
              <a:t>BO</a:t>
            </a:r>
            <a:r>
              <a:rPr kumimoji="1" lang="ja-JP" altLang="en-US" sz="1200" b="0" i="0" kern="1200">
                <a:solidFill>
                  <a:schemeClr val="tx1"/>
                </a:solidFill>
                <a:effectLst/>
                <a:latin typeface="+mn-lt"/>
                <a:ea typeface="+mn-ea"/>
                <a:cs typeface="+mn-cs"/>
              </a:rPr>
              <a:t>など他の手法との比較、検証などを今後の課題といたします。</a:t>
            </a:r>
            <a:br>
              <a:rPr kumimoji="1" lang="en-US" altLang="ja-JP" sz="1200" b="0" i="0" kern="1200" dirty="0">
                <a:solidFill>
                  <a:schemeClr val="tx1"/>
                </a:solidFill>
                <a:effectLst/>
                <a:latin typeface="+mn-lt"/>
                <a:ea typeface="+mn-ea"/>
                <a:cs typeface="+mn-cs"/>
              </a:rPr>
            </a:br>
            <a:endParaRPr kumimoji="1" lang="en-US" altLang="ja-JP" sz="1200" b="0" i="0" kern="1200" dirty="0">
              <a:solidFill>
                <a:schemeClr val="tx1"/>
              </a:solidFill>
              <a:effectLst/>
              <a:latin typeface="+mn-lt"/>
              <a:ea typeface="+mn-ea"/>
              <a:cs typeface="+mn-cs"/>
            </a:endParaRPr>
          </a:p>
          <a:p>
            <a:br>
              <a:rPr kumimoji="1" lang="en-US" altLang="ja-JP" sz="1200" b="0" i="0" kern="1200" dirty="0">
                <a:solidFill>
                  <a:schemeClr val="tx1"/>
                </a:solidFill>
                <a:effectLst/>
                <a:latin typeface="+mn-lt"/>
                <a:ea typeface="+mn-ea"/>
                <a:cs typeface="+mn-cs"/>
              </a:rPr>
            </a:b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15</a:t>
            </a:fld>
            <a:endParaRPr kumimoji="1" lang="ja-JP" altLang="en-US"/>
          </a:p>
        </p:txBody>
      </p:sp>
    </p:spTree>
    <p:extLst>
      <p:ext uri="{BB962C8B-B14F-4D97-AF65-F5344CB8AC3E}">
        <p14:creationId xmlns:p14="http://schemas.microsoft.com/office/powerpoint/2010/main" val="3869895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ここから、Proposed</a:t>
            </a:r>
            <a:r>
              <a:rPr dirty="0"/>
              <a:t> </a:t>
            </a:r>
            <a:r>
              <a:rPr dirty="0" err="1"/>
              <a:t>methodの計算コストを追加で検証します。これまでの結果は、同じ世代数まで探索したときの最終品質を比較していました</a:t>
            </a:r>
            <a:r>
              <a:rPr dirty="0"/>
              <a:t>。</a:t>
            </a:r>
            <a:r>
              <a:rPr lang="ja-JP" altLang="ja-JP"/>
              <a:t>一方、BOGPは探索途中で状態を観測し、ベイズ最適化によって次の制御値を決めます。そのため、同じ世代まで実行しても、fixed GPと同じ計算時間になるとは限りません。</a:t>
            </a:r>
            <a:r>
              <a:rPr dirty="0" err="1"/>
              <a:t>そこで今回は、品質の改善が追加時間に見合うか、また同じ時間内ではどの手法が有利かを確認します</a:t>
            </a:r>
            <a:r>
              <a:rPr dirty="0"/>
              <a:t>。</a:t>
            </a:r>
          </a:p>
          <a:p>
            <a:pPr marL="0" marR="0" lvl="0" indent="0" algn="l" defTabSz="914400">
              <a:lnSpc>
                <a:spcPct val="100000"/>
              </a:lnSpc>
              <a:spcBef>
                <a:spcPts val="0"/>
              </a:spcBef>
              <a:spcAft>
                <a:spcPts val="0"/>
              </a:spcAft>
              <a:buClrTx/>
              <a:buSzTx/>
              <a:buFontTx/>
              <a:buNone/>
            </a:pPr>
            <a:endParaRPr dirty="0"/>
          </a:p>
          <a:p>
            <a:pPr marL="0" marR="0" lvl="0" indent="0" algn="l" defTabSz="914400">
              <a:lnSpc>
                <a:spcPct val="100000"/>
              </a:lnSpc>
              <a:spcBef>
                <a:spcPts val="0"/>
              </a:spcBef>
              <a:spcAft>
                <a:spcPts val="0"/>
              </a:spcAft>
              <a:buClrTx/>
              <a:buSzTx/>
              <a:buFontTx/>
              <a:buNone/>
            </a:pPr>
            <a:r>
              <a:rPr dirty="0"/>
              <a:t>[Sources]</a:t>
            </a:r>
          </a:p>
          <a:p>
            <a:pPr marL="0" marR="0" lvl="0" indent="0" algn="l" defTabSz="914400">
              <a:lnSpc>
                <a:spcPct val="100000"/>
              </a:lnSpc>
              <a:spcBef>
                <a:spcPts val="0"/>
              </a:spcBef>
              <a:spcAft>
                <a:spcPts val="0"/>
              </a:spcAft>
              <a:buClrTx/>
              <a:buSzTx/>
              <a:buFontTx/>
              <a:buNone/>
            </a:pPr>
            <a:r>
              <a:rPr dirty="0"/>
              <a:t>- Local experiment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比較するのは、従来のseminar条件であるFixed</a:t>
            </a:r>
            <a:r>
              <a:rPr dirty="0"/>
              <a:t> </a:t>
            </a:r>
            <a:r>
              <a:rPr dirty="0" err="1"/>
              <a:t>standard、突然変異率を高く固定したHigh</a:t>
            </a:r>
            <a:r>
              <a:rPr dirty="0"/>
              <a:t> </a:t>
            </a:r>
            <a:r>
              <a:rPr dirty="0" err="1"/>
              <a:t>mutation、探索中に制御入力を選ぶProposed</a:t>
            </a:r>
            <a:r>
              <a:rPr dirty="0"/>
              <a:t> methodの3手法です。78世代、100 seedを同じ条件で実行し、同一seedで対応比較しました。総時間は初期化と探索を含み、Python起動、ファイル保存、事後解析は含みません。</a:t>
            </a:r>
          </a:p>
          <a:p>
            <a:endParaRPr dirty="0"/>
          </a:p>
          <a:p>
            <a:r>
              <a:rPr dirty="0"/>
              <a:t>[Sources]</a:t>
            </a:r>
          </a:p>
          <a:p>
            <a:r>
              <a:rPr dirty="0"/>
              <a:t>- Experiment configuration: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experiment_config.json</a:t>
            </a:r>
            <a:endParaRPr dirty="0"/>
          </a:p>
          <a:p>
            <a:r>
              <a:rPr dirty="0"/>
              <a:t>- Run-level results: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run_summary.csv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A40C-7272-9429-9E02-98ED57B87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ED2B3-120A-CE7D-7CCD-AD343DAF3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6BFD2-1076-05B6-D2E1-D18BB1977AFD}"/>
              </a:ext>
            </a:extLst>
          </p:cNvPr>
          <p:cNvSpPr>
            <a:spLocks noGrp="1"/>
          </p:cNvSpPr>
          <p:nvPr>
            <p:ph type="body" idx="1"/>
          </p:nvPr>
        </p:nvSpPr>
        <p:spPr/>
        <p:txBody>
          <a:bodyPr/>
          <a:lstStyle/>
          <a:p>
            <a:r>
              <a:rPr lang="ja-JP" altLang="en-US"/>
              <a:t>まずは探索にかかった総時間からです。</a:t>
            </a:r>
            <a:r>
              <a:rPr dirty="0" err="1"/>
              <a:t>横軸は総時間で左ほど速く、縦軸は最終HVで上ほど良いことを表します。Proposed</a:t>
            </a:r>
            <a:r>
              <a:rPr dirty="0"/>
              <a:t> </a:t>
            </a:r>
            <a:r>
              <a:rPr dirty="0" err="1"/>
              <a:t>methodはFixed</a:t>
            </a:r>
            <a:r>
              <a:rPr dirty="0"/>
              <a:t> standardよりHVが平均0.0195高く、この正方向の差は信頼区間と補正済み検定の双方で支持されました。一方、時間は7.60秒対3.97秒で、対応seedごとの比を平均的に見ると約2.02倍です。High mutationに対する品質優位は確認できず、時間は約2.27倍です。</a:t>
            </a:r>
          </a:p>
          <a:p>
            <a:endParaRPr dirty="0"/>
          </a:p>
          <a:p>
            <a:r>
              <a:rPr dirty="0"/>
              <a:t>[Sources]</a:t>
            </a:r>
          </a:p>
          <a:p>
            <a:r>
              <a:rPr dirty="0"/>
              <a:t>- Aggregate means: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aggregate_summary.csv</a:t>
            </a:r>
            <a:endParaRPr dirty="0"/>
          </a:p>
          <a:p>
            <a:r>
              <a:rPr dirty="0"/>
              <a:t>- Paired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a:extLst>
              <a:ext uri="{FF2B5EF4-FFF2-40B4-BE49-F238E27FC236}">
                <a16:creationId xmlns:a16="http://schemas.microsoft.com/office/drawing/2014/main" id="{3D9095DA-B2BB-5476-675F-530684311F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05739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次に、同じ時間内での品質に関する結果です。</a:t>
            </a:r>
            <a:endParaRPr lang="en-US" altLang="ja-JP" dirty="0"/>
          </a:p>
          <a:p>
            <a:r>
              <a:rPr lang="ja-JP" altLang="ja-JP"/>
              <a:t>そこで、standard fixedの実行時間中央値である3.47秒を、すべての手法に共通の制限時間として与えました。</a:t>
            </a:r>
            <a:br>
              <a:rPr lang="ja-JP" altLang="ja-JP"/>
            </a:br>
            <a:r>
              <a:rPr lang="ja-JP" altLang="ja-JP"/>
              <a:t>この時間内でhigh-mutation fixedは平均73.5世代まで進み、HVは0.805でした。BOGPはBOによる判断時間が加わるため、平均49.6世代までとなり、HVは0.793でした。</a:t>
            </a:r>
            <a:br>
              <a:rPr lang="ja-JP" altLang="ja-JP"/>
            </a:br>
            <a:r>
              <a:rPr lang="ja-JP" altLang="ja-JP"/>
              <a:t>high-mutation fixedとBOGPの差は平均0.0127で</a:t>
            </a:r>
            <a:r>
              <a:rPr lang="ja-JP" altLang="en-US"/>
              <a:t>した。</a:t>
            </a:r>
            <a:endParaRPr lang="en-US" dirty="0"/>
          </a:p>
          <a:p>
            <a:endParaRPr lang="en-US" dirty="0"/>
          </a:p>
          <a:p>
            <a:r>
              <a:rPr dirty="0" err="1"/>
              <a:t>ここでは全手法に、Fixed</a:t>
            </a:r>
            <a:r>
              <a:rPr dirty="0"/>
              <a:t> standardの総時間中央値である3.470秒を共通deadlineとして与えます。その時点の平均HVはFixed standardが0.780、High mutationが0.805、Proposed methodが0.793でした。平均到達世代は順に69.8、73.5、49.6です。High mutationとの差0.0127の対応bootstrap区間はゼロを含みませんでした。</a:t>
            </a:r>
          </a:p>
          <a:p>
            <a:endParaRPr dirty="0"/>
          </a:p>
          <a:p>
            <a:r>
              <a:rPr dirty="0"/>
              <a:t>[Sources]</a:t>
            </a:r>
          </a:p>
          <a:p>
            <a:r>
              <a:rPr dirty="0"/>
              <a:t>- Generation trace used for the 3.470 s cutoff: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generation_trace.csv</a:t>
            </a:r>
            <a:endParaRPr dirty="0"/>
          </a:p>
          <a:p>
            <a:r>
              <a:rPr dirty="0"/>
              <a:t>- Paired deadline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a:t>現時点の結論です。</a:t>
            </a:r>
            <a:br>
              <a:rPr lang="ja-JP" altLang="ja-JP"/>
            </a:br>
            <a:r>
              <a:rPr lang="ja-JP" altLang="ja-JP"/>
              <a:t>BOGPはstandard fixed GPに対して、78世代で最終HVを改善しました。一方、その計算時間は約2倍でした。また、high-mutation fixedに対しては、最終品質の優位性を確認できず、同じ時間で比較するとhigh-mutation fixedの方が良い結果でした。</a:t>
            </a:r>
            <a:br>
              <a:rPr lang="ja-JP" altLang="ja-JP"/>
            </a:br>
            <a:r>
              <a:rPr lang="ja-JP" altLang="ja-JP"/>
              <a:t>したがって、今回のFriedman-IIの条件では、BOGPが有力な固定設定を上回る費用対効果を持つとは結論できません。</a:t>
            </a:r>
            <a:br>
              <a:rPr lang="en-US" altLang="ja-JP" dirty="0"/>
            </a:br>
            <a:r>
              <a:rPr lang="ja-JP" altLang="en-US"/>
              <a:t>今後の課題として、手法が有効そうな問題設定を探す、観測なし</a:t>
            </a:r>
            <a:r>
              <a:rPr lang="en-US" altLang="ja-JP" dirty="0"/>
              <a:t>BO</a:t>
            </a:r>
            <a:r>
              <a:rPr lang="ja-JP" altLang="en-US"/>
              <a:t>との比較、また報酬項一つ一つがどのような働きをするか観察し報酬項の調整が挙げられます。</a:t>
            </a:r>
            <a:endParaRPr lang="en-US" sz="1200" b="0" i="0" dirty="0">
              <a:solidFill>
                <a:schemeClr val="tx1"/>
              </a:solidFill>
              <a:latin typeface="+mn-lt"/>
              <a:ea typeface="+mn-lt"/>
              <a:cs typeface="+mn-lt"/>
            </a:endParaRPr>
          </a:p>
          <a:p>
            <a:endParaRPr lang="en-US" sz="1200" b="0" i="0" dirty="0">
              <a:solidFill>
                <a:schemeClr val="tx1"/>
              </a:solidFill>
              <a:latin typeface="+mn-lt"/>
              <a:ea typeface="+mn-lt"/>
              <a:cs typeface="+mn-lt"/>
            </a:endParaRPr>
          </a:p>
          <a:p>
            <a:endParaRPr lang="en-US" sz="1200" b="0" i="0" dirty="0">
              <a:solidFill>
                <a:schemeClr val="tx1"/>
              </a:solidFill>
              <a:latin typeface="+mn-lt"/>
              <a:ea typeface="+mn-lt"/>
              <a:cs typeface="+mn-lt"/>
            </a:endParaRPr>
          </a:p>
          <a:p>
            <a:endParaRPr lang="en-US" sz="1200" b="0" i="0" dirty="0">
              <a:solidFill>
                <a:schemeClr val="tx1"/>
              </a:solidFill>
              <a:latin typeface="+mn-lt"/>
              <a:ea typeface="+mn-lt"/>
              <a:cs typeface="+mn-lt"/>
            </a:endParaRPr>
          </a:p>
          <a:p>
            <a:r>
              <a:rPr sz="1200" b="0" i="0" dirty="0" err="1">
                <a:solidFill>
                  <a:schemeClr val="tx1"/>
                </a:solidFill>
                <a:latin typeface="+mn-lt"/>
                <a:ea typeface="+mn-lt"/>
                <a:cs typeface="+mn-lt"/>
              </a:rPr>
              <a:t>同じ世代数の比較は、同じ探索回数を与えたときの最終品質を見ています。ここではProposed</a:t>
            </a:r>
            <a:r>
              <a:rPr sz="1200" b="0" i="0" dirty="0">
                <a:solidFill>
                  <a:schemeClr val="tx1"/>
                </a:solidFill>
                <a:latin typeface="+mn-lt"/>
                <a:ea typeface="+mn-lt"/>
                <a:cs typeface="+mn-lt"/>
              </a:rPr>
              <a:t> </a:t>
            </a:r>
            <a:r>
              <a:rPr sz="1200" b="0" i="0" dirty="0" err="1">
                <a:solidFill>
                  <a:schemeClr val="tx1"/>
                </a:solidFill>
                <a:latin typeface="+mn-lt"/>
                <a:ea typeface="+mn-lt"/>
                <a:cs typeface="+mn-lt"/>
              </a:rPr>
              <a:t>methodはFixed</a:t>
            </a:r>
            <a:r>
              <a:rPr sz="1200" b="0" i="0" dirty="0">
                <a:solidFill>
                  <a:schemeClr val="tx1"/>
                </a:solidFill>
                <a:latin typeface="+mn-lt"/>
                <a:ea typeface="+mn-lt"/>
                <a:cs typeface="+mn-lt"/>
              </a:rPr>
              <a:t> </a:t>
            </a:r>
            <a:r>
              <a:rPr sz="1200" b="0" i="0" dirty="0" err="1">
                <a:solidFill>
                  <a:schemeClr val="tx1"/>
                </a:solidFill>
                <a:latin typeface="+mn-lt"/>
                <a:ea typeface="+mn-lt"/>
                <a:cs typeface="+mn-lt"/>
              </a:rPr>
              <a:t>standardを改善しました。一方、同じdeadlineの比較は、同じ待ち時間で得られる品質を見るもので、High</a:t>
            </a:r>
            <a:r>
              <a:rPr sz="1200" b="0" i="0" dirty="0">
                <a:solidFill>
                  <a:schemeClr val="tx1"/>
                </a:solidFill>
                <a:latin typeface="+mn-lt"/>
                <a:ea typeface="+mn-lt"/>
                <a:cs typeface="+mn-lt"/>
              </a:rPr>
              <a:t> </a:t>
            </a:r>
            <a:r>
              <a:rPr sz="1200" b="0" i="0" dirty="0" err="1">
                <a:solidFill>
                  <a:schemeClr val="tx1"/>
                </a:solidFill>
                <a:latin typeface="+mn-lt"/>
                <a:ea typeface="+mn-lt"/>
                <a:cs typeface="+mn-lt"/>
              </a:rPr>
              <a:t>mutationが先行しました。したがって、Proposed</a:t>
            </a:r>
            <a:r>
              <a:rPr sz="1200" b="0" i="0" dirty="0">
                <a:solidFill>
                  <a:schemeClr val="tx1"/>
                </a:solidFill>
                <a:latin typeface="+mn-lt"/>
                <a:ea typeface="+mn-lt"/>
                <a:cs typeface="+mn-lt"/>
              </a:rPr>
              <a:t> methodの効果は比較基準に依存し、現条件で費用対効果まで優位とは結論できません。なお、これはFriedman-II、100 </a:t>
            </a:r>
            <a:r>
              <a:rPr sz="1200" b="0" i="0" dirty="0" err="1">
                <a:solidFill>
                  <a:schemeClr val="tx1"/>
                </a:solidFill>
                <a:latin typeface="+mn-lt"/>
                <a:ea typeface="+mn-lt"/>
                <a:cs typeface="+mn-lt"/>
              </a:rPr>
              <a:t>seed、現実装での結果です</a:t>
            </a:r>
            <a:r>
              <a:rPr sz="1200" b="0" i="0" dirty="0">
                <a:solidFill>
                  <a:schemeClr val="tx1"/>
                </a:solidFill>
                <a:latin typeface="+mn-lt"/>
                <a:ea typeface="+mn-lt"/>
                <a:cs typeface="+mn-lt"/>
              </a:rPr>
              <a:t>。</a:t>
            </a:r>
          </a:p>
          <a:p>
            <a:endParaRPr sz="1200" b="0" i="0" dirty="0">
              <a:solidFill>
                <a:schemeClr val="tx1"/>
              </a:solidFill>
              <a:latin typeface="+mn-lt"/>
              <a:ea typeface="+mn-lt"/>
              <a:cs typeface="+mn-lt"/>
            </a:endParaRPr>
          </a:p>
          <a:p>
            <a:r>
              <a:rPr dirty="0"/>
              <a:t>[Sources]</a:t>
            </a:r>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a:p>
            <a:r>
              <a:rPr dirty="0"/>
              <a:t>- Paired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dirty="0" err="1">
                <a:solidFill>
                  <a:schemeClr val="tx1"/>
                </a:solidFill>
                <a:latin typeface="+mn-lt"/>
                <a:ea typeface="+mn-lt"/>
                <a:cs typeface="+mn-lt"/>
              </a:rPr>
              <a:t>現時点では、Proposed</a:t>
            </a:r>
            <a:r>
              <a:rPr sz="1200" b="0" i="0" dirty="0">
                <a:solidFill>
                  <a:schemeClr val="tx1"/>
                </a:solidFill>
                <a:latin typeface="+mn-lt"/>
                <a:ea typeface="+mn-lt"/>
                <a:cs typeface="+mn-lt"/>
              </a:rPr>
              <a:t> </a:t>
            </a:r>
            <a:r>
              <a:rPr sz="1200" b="0" i="0" dirty="0" err="1">
                <a:solidFill>
                  <a:schemeClr val="tx1"/>
                </a:solidFill>
                <a:latin typeface="+mn-lt"/>
                <a:ea typeface="+mn-lt"/>
                <a:cs typeface="+mn-lt"/>
              </a:rPr>
              <a:t>methodはFixed</a:t>
            </a:r>
            <a:r>
              <a:rPr sz="1200" b="0" i="0" dirty="0">
                <a:solidFill>
                  <a:schemeClr val="tx1"/>
                </a:solidFill>
                <a:latin typeface="+mn-lt"/>
                <a:ea typeface="+mn-lt"/>
                <a:cs typeface="+mn-lt"/>
              </a:rPr>
              <a:t> </a:t>
            </a:r>
            <a:r>
              <a:rPr sz="1200" b="0" i="0" dirty="0" err="1">
                <a:solidFill>
                  <a:schemeClr val="tx1"/>
                </a:solidFill>
                <a:latin typeface="+mn-lt"/>
                <a:ea typeface="+mn-lt"/>
                <a:cs typeface="+mn-lt"/>
              </a:rPr>
              <a:t>standardに対して品質改善を示しましたが、High</a:t>
            </a:r>
            <a:r>
              <a:rPr sz="1200" b="0" i="0" dirty="0">
                <a:solidFill>
                  <a:schemeClr val="tx1"/>
                </a:solidFill>
                <a:latin typeface="+mn-lt"/>
                <a:ea typeface="+mn-lt"/>
                <a:cs typeface="+mn-lt"/>
              </a:rPr>
              <a:t> mutationを含めると費用対効果の優位性は未確立です。次は、制御器の更新を軽量化した条件で、総時間をどこまで下げられるか、その際にHVを維持できるかを同時に検証します。さらに問題設定を増やし、適応制御が有効になる条件を切り分けます。</a:t>
            </a:r>
          </a:p>
          <a:p>
            <a:endParaRPr sz="1200" b="0" i="0" dirty="0">
              <a:solidFill>
                <a:schemeClr val="tx1"/>
              </a:solidFill>
              <a:latin typeface="+mn-lt"/>
              <a:ea typeface="+mn-lt"/>
              <a:cs typeface="+mn-lt"/>
            </a:endParaRPr>
          </a:p>
          <a:p>
            <a:r>
              <a:rPr sz="1200" b="0" i="0" dirty="0">
                <a:solidFill>
                  <a:schemeClr val="tx1"/>
                </a:solidFill>
                <a:latin typeface="+mn-lt"/>
                <a:ea typeface="+mn-lt"/>
                <a:cs typeface="+mn-lt"/>
              </a:rPr>
              <a:t>[Sources]</a:t>
            </a:r>
          </a:p>
          <a:p>
            <a:r>
              <a:rPr sz="1200" b="0" i="0" dirty="0">
                <a:solidFill>
                  <a:schemeClr val="tx1"/>
                </a:solidFill>
                <a:latin typeface="+mn-lt"/>
                <a:ea typeface="+mn-lt"/>
                <a:cs typeface="+mn-lt"/>
              </a:rPr>
              <a:t>- Analysis summary: /Users/</a:t>
            </a:r>
            <a:r>
              <a:rPr sz="1200" b="0" i="0" dirty="0" err="1">
                <a:solidFill>
                  <a:schemeClr val="tx1"/>
                </a:solidFill>
                <a:latin typeface="+mn-lt"/>
                <a:ea typeface="+mn-lt"/>
                <a:cs typeface="+mn-lt"/>
              </a:rPr>
              <a:t>kakemyo</a:t>
            </a:r>
            <a:r>
              <a:rPr sz="1200" b="0" i="0" dirty="0">
                <a:solidFill>
                  <a:schemeClr val="tx1"/>
                </a:solidFill>
                <a:latin typeface="+mn-lt"/>
                <a:ea typeface="+mn-lt"/>
                <a:cs typeface="+mn-lt"/>
              </a:rPr>
              <a:t>/Downloads/</a:t>
            </a:r>
            <a:r>
              <a:rPr sz="1200" b="0" i="0" dirty="0" err="1">
                <a:solidFill>
                  <a:schemeClr val="tx1"/>
                </a:solidFill>
                <a:latin typeface="+mn-lt"/>
                <a:ea typeface="+mn-lt"/>
                <a:cs typeface="+mn-lt"/>
              </a:rPr>
              <a:t>master_BOGP</a:t>
            </a:r>
            <a:r>
              <a:rPr sz="1200" b="0" i="0" dirty="0">
                <a:solidFill>
                  <a:schemeClr val="tx1"/>
                </a:solidFill>
                <a:latin typeface="+mn-lt"/>
                <a:ea typeface="+mn-lt"/>
                <a:cs typeface="+mn-lt"/>
              </a:rPr>
              <a:t>/outputs/</a:t>
            </a:r>
            <a:r>
              <a:rPr sz="1200" b="0" i="0" dirty="0" err="1">
                <a:solidFill>
                  <a:schemeClr val="tx1"/>
                </a:solidFill>
                <a:latin typeface="+mn-lt"/>
                <a:ea typeface="+mn-lt"/>
                <a:cs typeface="+mn-lt"/>
              </a:rPr>
              <a:t>computation_cost_friedman</a:t>
            </a:r>
            <a:r>
              <a:rPr sz="1200" b="0" i="0" dirty="0">
                <a:solidFill>
                  <a:schemeClr val="tx1"/>
                </a:solidFill>
                <a:latin typeface="+mn-lt"/>
                <a:ea typeface="+mn-lt"/>
                <a:cs typeface="+mn-lt"/>
              </a:rPr>
              <a:t>/g78_main/g78_cost_seed100_20260731_v1/analysis/</a:t>
            </a:r>
            <a:r>
              <a:rPr sz="1200" b="0" i="0" dirty="0" err="1">
                <a:solidFill>
                  <a:schemeClr val="tx1"/>
                </a:solidFill>
                <a:latin typeface="+mn-lt"/>
                <a:ea typeface="+mn-lt"/>
                <a:cs typeface="+mn-lt"/>
              </a:rPr>
              <a:t>summary.md</a:t>
            </a:r>
            <a:endParaRPr sz="1200" b="0" i="0" dirty="0">
              <a:solidFill>
                <a:schemeClr val="tx1"/>
              </a:solidFill>
              <a:latin typeface="+mn-lt"/>
              <a:ea typeface="+mn-lt"/>
              <a:cs typeface="+mn-lt"/>
            </a:endParaRPr>
          </a:p>
          <a:p>
            <a:r>
              <a:rPr sz="1200" b="0" i="0" dirty="0">
                <a:solidFill>
                  <a:schemeClr val="tx1"/>
                </a:solidFill>
                <a:latin typeface="+mn-lt"/>
                <a:ea typeface="+mn-lt"/>
                <a:cs typeface="+mn-lt"/>
              </a:rPr>
              <a:t>- Controller implementation: /Users/</a:t>
            </a:r>
            <a:r>
              <a:rPr sz="1200" b="0" i="0" dirty="0" err="1">
                <a:solidFill>
                  <a:schemeClr val="tx1"/>
                </a:solidFill>
                <a:latin typeface="+mn-lt"/>
                <a:ea typeface="+mn-lt"/>
                <a:cs typeface="+mn-lt"/>
              </a:rPr>
              <a:t>kakemyo</a:t>
            </a:r>
            <a:r>
              <a:rPr sz="1200" b="0" i="0" dirty="0">
                <a:solidFill>
                  <a:schemeClr val="tx1"/>
                </a:solidFill>
                <a:latin typeface="+mn-lt"/>
                <a:ea typeface="+mn-lt"/>
                <a:cs typeface="+mn-lt"/>
              </a:rPr>
              <a:t>/Downloads/</a:t>
            </a:r>
            <a:r>
              <a:rPr sz="1200" b="0" i="0" dirty="0" err="1">
                <a:solidFill>
                  <a:schemeClr val="tx1"/>
                </a:solidFill>
                <a:latin typeface="+mn-lt"/>
                <a:ea typeface="+mn-lt"/>
                <a:cs typeface="+mn-lt"/>
              </a:rPr>
              <a:t>master_BOGP</a:t>
            </a:r>
            <a:r>
              <a:rPr sz="1200" b="0" i="0" dirty="0">
                <a:solidFill>
                  <a:schemeClr val="tx1"/>
                </a:solidFill>
                <a:latin typeface="+mn-lt"/>
                <a:ea typeface="+mn-lt"/>
                <a:cs typeface="+mn-lt"/>
              </a:rPr>
              <a:t>/</a:t>
            </a:r>
            <a:r>
              <a:rPr sz="1200" b="0" i="0" dirty="0" err="1">
                <a:solidFill>
                  <a:schemeClr val="tx1"/>
                </a:solidFill>
                <a:latin typeface="+mn-lt"/>
                <a:ea typeface="+mn-lt"/>
                <a:cs typeface="+mn-lt"/>
              </a:rPr>
              <a:t>src</a:t>
            </a:r>
            <a:r>
              <a:rPr sz="1200" b="0" i="0" dirty="0">
                <a:solidFill>
                  <a:schemeClr val="tx1"/>
                </a:solidFill>
                <a:latin typeface="+mn-lt"/>
                <a:ea typeface="+mn-lt"/>
                <a:cs typeface="+mn-lt"/>
              </a:rPr>
              <a:t>/</a:t>
            </a:r>
            <a:r>
              <a:rPr sz="1200" b="0" i="0" dirty="0" err="1">
                <a:solidFill>
                  <a:schemeClr val="tx1"/>
                </a:solidFill>
                <a:latin typeface="+mn-lt"/>
                <a:ea typeface="+mn-lt"/>
                <a:cs typeface="+mn-lt"/>
              </a:rPr>
              <a:t>bogp</a:t>
            </a:r>
            <a:r>
              <a:rPr sz="1200" b="0" i="0" dirty="0">
                <a:solidFill>
                  <a:schemeClr val="tx1"/>
                </a:solidFill>
                <a:latin typeface="+mn-lt"/>
                <a:ea typeface="+mn-lt"/>
                <a:cs typeface="+mn-lt"/>
              </a:rPr>
              <a:t>/</a:t>
            </a:r>
            <a:r>
              <a:rPr sz="1200" b="0" i="0" dirty="0" err="1">
                <a:solidFill>
                  <a:schemeClr val="tx1"/>
                </a:solidFill>
                <a:latin typeface="+mn-lt"/>
                <a:ea typeface="+mn-lt"/>
                <a:cs typeface="+mn-lt"/>
              </a:rPr>
              <a:t>controller.py</a:t>
            </a:r>
            <a:endParaRPr sz="1200" b="0" i="0" dirty="0">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37A9A-D193-6C86-3866-66EA13FCA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03E4C-CC62-60A4-B029-D14BFC0F4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E93F6-180D-B764-F4E3-71898306D738}"/>
              </a:ext>
            </a:extLst>
          </p:cNvPr>
          <p:cNvSpPr>
            <a:spLocks noGrp="1"/>
          </p:cNvSpPr>
          <p:nvPr>
            <p:ph type="body" idx="1"/>
          </p:nvPr>
        </p:nvSpPr>
        <p:spPr/>
        <p:txBody>
          <a:bodyPr/>
          <a:lstStyle/>
          <a:p>
            <a:r>
              <a:rPr dirty="0" err="1"/>
              <a:t>ここから、Proposed</a:t>
            </a:r>
            <a:r>
              <a:rPr dirty="0"/>
              <a:t> </a:t>
            </a:r>
            <a:r>
              <a:rPr dirty="0" err="1"/>
              <a:t>methodの計算コストを追加で検証します。これまでの結果は、同じ世代数まで探索したときの最終品質を比較していました</a:t>
            </a:r>
            <a:r>
              <a:rPr dirty="0"/>
              <a:t>。</a:t>
            </a:r>
            <a:r>
              <a:rPr lang="ja-JP" altLang="ja-JP"/>
              <a:t>一方、BOGPは探索途中で状態を観測し、ベイズ最適化によって次の制御値を決めます。そのため、同じ78世代まで実行しても、fixed GPと同じ計算時間になるとは限りません。</a:t>
            </a:r>
            <a:r>
              <a:rPr dirty="0" err="1"/>
              <a:t>そこで今回は、品質の改善が追加時間に見合うか、また同じ時間内ではどの手法が有利かを確認します</a:t>
            </a:r>
            <a:r>
              <a:rPr dirty="0"/>
              <a:t>。</a:t>
            </a:r>
          </a:p>
          <a:p>
            <a:pPr marL="0" marR="0" lvl="0" indent="0" algn="l" defTabSz="914400">
              <a:lnSpc>
                <a:spcPct val="100000"/>
              </a:lnSpc>
              <a:spcBef>
                <a:spcPts val="0"/>
              </a:spcBef>
              <a:spcAft>
                <a:spcPts val="0"/>
              </a:spcAft>
              <a:buClrTx/>
              <a:buSzTx/>
              <a:buFontTx/>
              <a:buNone/>
            </a:pPr>
            <a:endParaRPr dirty="0"/>
          </a:p>
          <a:p>
            <a:pPr marL="0" marR="0" lvl="0" indent="0" algn="l" defTabSz="914400">
              <a:lnSpc>
                <a:spcPct val="100000"/>
              </a:lnSpc>
              <a:spcBef>
                <a:spcPts val="0"/>
              </a:spcBef>
              <a:spcAft>
                <a:spcPts val="0"/>
              </a:spcAft>
              <a:buClrTx/>
              <a:buSzTx/>
              <a:buFontTx/>
              <a:buNone/>
            </a:pPr>
            <a:r>
              <a:rPr dirty="0"/>
              <a:t>[Sources]</a:t>
            </a:r>
          </a:p>
          <a:p>
            <a:pPr marL="0" marR="0" lvl="0" indent="0" algn="l" defTabSz="914400">
              <a:lnSpc>
                <a:spcPct val="100000"/>
              </a:lnSpc>
              <a:spcBef>
                <a:spcPts val="0"/>
              </a:spcBef>
              <a:spcAft>
                <a:spcPts val="0"/>
              </a:spcAft>
              <a:buClrTx/>
              <a:buSzTx/>
              <a:buFontTx/>
              <a:buNone/>
            </a:pPr>
            <a:r>
              <a:rPr dirty="0"/>
              <a:t>- Local experiment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a:extLst>
              <a:ext uri="{FF2B5EF4-FFF2-40B4-BE49-F238E27FC236}">
                <a16:creationId xmlns:a16="http://schemas.microsoft.com/office/drawing/2014/main" id="{ED6C0F44-A22E-8E10-3250-3F445BE5EF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87548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まずは探索にかかった総時間からです。</a:t>
            </a:r>
            <a:r>
              <a:rPr dirty="0" err="1"/>
              <a:t>横軸は総時間で左ほど速く、縦軸は最終HVで上ほど良いことを表します。Proposed</a:t>
            </a:r>
            <a:r>
              <a:rPr dirty="0"/>
              <a:t> </a:t>
            </a:r>
            <a:r>
              <a:rPr dirty="0" err="1"/>
              <a:t>methodはFixed</a:t>
            </a:r>
            <a:r>
              <a:rPr dirty="0"/>
              <a:t> standardよりHVが平均0.0195高く、この正方向の差は信頼区間と補正済み検定の双方で支持されました。一方、時間は7.60秒対3.97秒で、対応seedごとの比を平均的に見ると約2.02倍です。High mutationに対する品質優位は確認できず、時間は約2.27倍です。</a:t>
            </a:r>
          </a:p>
          <a:p>
            <a:endParaRPr dirty="0"/>
          </a:p>
          <a:p>
            <a:r>
              <a:rPr dirty="0"/>
              <a:t>[Sources]</a:t>
            </a:r>
          </a:p>
          <a:p>
            <a:r>
              <a:rPr dirty="0"/>
              <a:t>- Aggregate means: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aggregate_summary.csv</a:t>
            </a:r>
            <a:endParaRPr dirty="0"/>
          </a:p>
          <a:p>
            <a:r>
              <a:rPr dirty="0"/>
              <a:t>- Paired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21279-960F-D3B9-2C95-650D24B15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E41DC-EA3E-875A-2C6A-46A4BC123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DE53D-596C-2A93-DB3D-E266B91D0600}"/>
              </a:ext>
            </a:extLst>
          </p:cNvPr>
          <p:cNvSpPr>
            <a:spLocks noGrp="1"/>
          </p:cNvSpPr>
          <p:nvPr>
            <p:ph type="body" idx="1"/>
          </p:nvPr>
        </p:nvSpPr>
        <p:spPr/>
        <p:txBody>
          <a:bodyPr/>
          <a:lstStyle/>
          <a:p>
            <a:r>
              <a:rPr dirty="0" err="1"/>
              <a:t>ここでは全手法に、Fixed</a:t>
            </a:r>
            <a:r>
              <a:rPr dirty="0"/>
              <a:t> standardの総時間中央値である3.470秒を共通deadlineとして与えます。その時点の平均HVはFixed standardが0.780、High mutationが0.805、Proposed methodが0.793でした。平均到達世代は順に69.8、73.5、49.6です。High mutationとの差0.0127の対応bootstrap区間はゼロを含みませんでした。</a:t>
            </a:r>
          </a:p>
          <a:p>
            <a:endParaRPr dirty="0"/>
          </a:p>
          <a:p>
            <a:r>
              <a:rPr dirty="0"/>
              <a:t>[Sources]</a:t>
            </a:r>
          </a:p>
          <a:p>
            <a:r>
              <a:rPr dirty="0"/>
              <a:t>- Generation trace used for the 3.470 s cutoff: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generation_trace.csv</a:t>
            </a:r>
            <a:endParaRPr dirty="0"/>
          </a:p>
          <a:p>
            <a:r>
              <a:rPr dirty="0"/>
              <a:t>- Paired deadline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a:extLst>
              <a:ext uri="{FF2B5EF4-FFF2-40B4-BE49-F238E27FC236}">
                <a16:creationId xmlns:a16="http://schemas.microsoft.com/office/drawing/2014/main" id="{71F5C95F-F88F-A0C0-66F5-35D137598E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40879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en-US" altLang="ja-JP" dirty="0"/>
                  <a:t>Before </a:t>
                </a:r>
                <a:r>
                  <a:rPr kumimoji="1" lang="en-US" altLang="ja-JP" dirty="0" err="1"/>
                  <a:t>explanning</a:t>
                </a:r>
                <a:r>
                  <a:rPr kumimoji="1" lang="en-US" altLang="ja-JP" dirty="0"/>
                  <a:t> about step 2, I will first explain the concept of pareto front.</a:t>
                </a:r>
              </a:p>
              <a:p>
                <a:r>
                  <a:rPr kumimoji="1" lang="en-US" altLang="ja-JP" dirty="0"/>
                  <a:t>Multi-objective optimization problems are generally formulated as this.</a:t>
                </a:r>
              </a:p>
              <a:p>
                <a:r>
                  <a:rPr kumimoji="1" lang="en-US" altLang="ja-JP" dirty="0"/>
                  <a:t>where x, k, and m are a design parameter’s vector, the</a:t>
                </a:r>
              </a:p>
              <a:p>
                <a:r>
                  <a:rPr kumimoji="1" lang="en-US" altLang="ja-JP" dirty="0"/>
                  <a:t>number of objective functions, and that of the constraints,</a:t>
                </a:r>
              </a:p>
              <a:p>
                <a:r>
                  <a:rPr kumimoji="1" lang="en-US" altLang="ja-JP" dirty="0"/>
                  <a:t>respectively, and fi(x) and </a:t>
                </a:r>
                <a:r>
                  <a:rPr kumimoji="1" lang="en-US" altLang="ja-JP" dirty="0" err="1"/>
                  <a:t>gj</a:t>
                </a:r>
                <a:r>
                  <a:rPr kumimoji="1" lang="en-US" altLang="ja-JP" dirty="0"/>
                  <a:t> (x) are the </a:t>
                </a:r>
                <a:r>
                  <a:rPr kumimoji="1" lang="en-US" altLang="ja-JP" dirty="0" err="1"/>
                  <a:t>ith</a:t>
                </a:r>
                <a:r>
                  <a:rPr kumimoji="1" lang="en-US" altLang="ja-JP" dirty="0"/>
                  <a:t> objective</a:t>
                </a:r>
              </a:p>
              <a:p>
                <a:r>
                  <a:rPr kumimoji="1" lang="en-US" altLang="ja-JP" dirty="0"/>
                  <a:t>function to be maximized or minimized and the </a:t>
                </a:r>
                <a:r>
                  <a:rPr kumimoji="1" lang="en-US" altLang="ja-JP" dirty="0" err="1"/>
                  <a:t>jth</a:t>
                </a:r>
                <a:r>
                  <a:rPr kumimoji="1" lang="en-US" altLang="ja-JP" dirty="0"/>
                  <a:t> constraint, respectively.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Arial" panose="020B0604020202020204" pitchFamily="34" charset="0"/>
                    <a:cs typeface="Arial" panose="020B0604020202020204" pitchFamily="34" charset="0"/>
                  </a:rPr>
                  <a:t>Let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kumimoji="1" lang="en-US" altLang="ja-JP" sz="1200" b="0" i="1" smtClean="0">
                            <a:latin typeface="Cambria Math" panose="02040503050406030204" pitchFamily="18" charset="0"/>
                          </a:rPr>
                          <m:t>1</m:t>
                        </m:r>
                      </m:sub>
                    </m:sSub>
                  </m:oMath>
                </a14:m>
                <a:r>
                  <a:rPr kumimoji="1" lang="en-US" altLang="ja-JP" sz="1200" dirty="0"/>
                  <a:t>and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lang="en-US" altLang="ja-JP" sz="1200" b="0" i="1" smtClean="0">
                            <a:latin typeface="Cambria Math" panose="02040503050406030204" pitchFamily="18" charset="0"/>
                            <a:ea typeface="Cambria Math" panose="02040503050406030204" pitchFamily="18" charset="0"/>
                          </a:rPr>
                          <m:t>2</m:t>
                        </m:r>
                      </m:sub>
                    </m:sSub>
                  </m:oMath>
                </a14:m>
                <a:r>
                  <a:rPr kumimoji="1" lang="en-US" altLang="ja-JP" sz="1200" dirty="0">
                    <a:latin typeface="Arial" panose="020B0604020202020204" pitchFamily="34" charset="0"/>
                    <a:cs typeface="Arial" panose="020B0604020202020204" pitchFamily="34" charset="0"/>
                  </a:rPr>
                  <a:t>be the solutions of the multi-objective optimization problem</a:t>
                </a:r>
                <a:r>
                  <a:rPr kumimoji="1" lang="en-US" altLang="ja-JP" sz="1200" dirty="0"/>
                  <a:t>.</a:t>
                </a:r>
              </a:p>
              <a:p>
                <a:pPr>
                  <a:lnSpc>
                    <a:spcPct val="110000"/>
                  </a:lnSpc>
                </a:pPr>
                <a:r>
                  <a:rPr kumimoji="1" lang="en-US" altLang="ja-JP" sz="1200" dirty="0">
                    <a:latin typeface="Arial" panose="020B0604020202020204" pitchFamily="34" charset="0"/>
                    <a:cs typeface="Arial" panose="020B0604020202020204" pitchFamily="34" charset="0"/>
                  </a:rPr>
                  <a:t>When the following conditions are satisfied,</a:t>
                </a:r>
                <a:r>
                  <a:rPr kumimoji="1" lang="en-US" altLang="ja-JP" sz="1200" dirty="0"/>
                  <a:t> we say</a:t>
                </a:r>
                <a:r>
                  <a:rPr kumimoji="1" lang="en-US" altLang="ja-JP" sz="1200" baseline="0" dirty="0"/>
                  <a:t> that</a:t>
                </a:r>
                <a:r>
                  <a:rPr kumimoji="1" lang="en-US" altLang="ja-JP" sz="1200" dirty="0"/>
                  <a:t>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lang="en-US" altLang="ja-JP" sz="1200" i="1">
                            <a:latin typeface="Cambria Math" panose="02040503050406030204" pitchFamily="18" charset="0"/>
                          </a:rPr>
                          <m:t>1</m:t>
                        </m:r>
                      </m:sub>
                    </m:sSub>
                  </m:oMath>
                </a14:m>
                <a:r>
                  <a:rPr lang="en-US" altLang="ja-JP" sz="1200" dirty="0">
                    <a:latin typeface="Arial" panose="020B0604020202020204" pitchFamily="34" charset="0"/>
                    <a:cs typeface="Arial" panose="020B0604020202020204" pitchFamily="34" charset="0"/>
                  </a:rPr>
                  <a:t> </a:t>
                </a:r>
                <a:r>
                  <a:rPr lang="en-US" altLang="ja-JP" sz="1200" b="1" dirty="0">
                    <a:solidFill>
                      <a:srgbClr val="FF0000"/>
                    </a:solidFill>
                    <a:latin typeface="Arial" panose="020B0604020202020204" pitchFamily="34" charset="0"/>
                    <a:cs typeface="Arial" panose="020B0604020202020204" pitchFamily="34" charset="0"/>
                  </a:rPr>
                  <a:t>dominates</a:t>
                </a:r>
                <a:r>
                  <a:rPr lang="en-US" altLang="ja-JP" sz="1200" b="1" baseline="0" dirty="0">
                    <a:solidFill>
                      <a:srgbClr val="FF0000"/>
                    </a:solidFill>
                    <a:latin typeface="Arial" panose="020B0604020202020204" pitchFamily="34" charset="0"/>
                    <a:cs typeface="Arial" panose="020B0604020202020204" pitchFamily="34" charset="0"/>
                  </a:rPr>
                  <a:t>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lang="en-US" altLang="ja-JP" sz="1200" i="1">
                            <a:latin typeface="Cambria Math" panose="02040503050406030204" pitchFamily="18" charset="0"/>
                            <a:ea typeface="Cambria Math" panose="02040503050406030204" pitchFamily="18" charset="0"/>
                          </a:rPr>
                          <m:t>2</m:t>
                        </m:r>
                      </m:sub>
                    </m:sSub>
                  </m:oMath>
                </a14:m>
                <a:r>
                  <a:rPr kumimoji="1" lang="en-US" altLang="ja-JP" sz="1200" dirty="0"/>
                  <a:t>.</a:t>
                </a:r>
              </a:p>
              <a:p>
                <a:pPr>
                  <a:lnSpc>
                    <a:spcPct val="110000"/>
                  </a:lnSpc>
                </a:pPr>
                <a:r>
                  <a:rPr kumimoji="1" lang="en-US" altLang="ja-JP" sz="1200" dirty="0"/>
                  <a:t>Note that in the case of a problem where the objective function is to be maximized, the inequality sign is reversed.</a:t>
                </a:r>
              </a:p>
              <a:p>
                <a:endParaRPr kumimoji="1" lang="en-US" altLang="ja-JP" dirty="0"/>
              </a:p>
              <a:p>
                <a:r>
                  <a:rPr kumimoji="1" lang="en-US" altLang="ja-JP" dirty="0"/>
                  <a:t>When a solution x1 is</a:t>
                </a:r>
              </a:p>
              <a:p>
                <a:r>
                  <a:rPr kumimoji="1" lang="en-US" altLang="ja-JP" dirty="0"/>
                  <a:t>not dominated by any other solutions, this solution x1 is</a:t>
                </a:r>
              </a:p>
              <a:p>
                <a:r>
                  <a:rPr kumimoji="1" lang="en-US" altLang="ja-JP" dirty="0"/>
                  <a:t>called a Pareto optimal solution. Furthermore, the surface</a:t>
                </a:r>
              </a:p>
              <a:p>
                <a:r>
                  <a:rPr kumimoji="1" lang="en-US" altLang="ja-JP" dirty="0"/>
                  <a:t>formed by the set of Pareto optimal solutions is called the</a:t>
                </a:r>
              </a:p>
              <a:p>
                <a:r>
                  <a:rPr kumimoji="1" lang="en-US" altLang="ja-JP" dirty="0"/>
                  <a:t>Pareto front.</a:t>
                </a:r>
              </a:p>
              <a:p>
                <a:endParaRPr kumimoji="1" lang="en-US" altLang="ja-JP" dirty="0"/>
              </a:p>
              <a:p>
                <a:endParaRPr kumimoji="1" lang="en-US" altLang="ja-JP" dirty="0"/>
              </a:p>
              <a:p>
                <a:r>
                  <a:rPr kumimoji="1" lang="en-US" altLang="ja-JP" dirty="0"/>
                  <a:t>Let x1 and x2 be the~</a:t>
                </a:r>
              </a:p>
              <a:p>
                <a:r>
                  <a:rPr kumimoji="1" lang="ja-JP" altLang="en-US"/>
                  <a:t>式</a:t>
                </a:r>
                <a:r>
                  <a:rPr kumimoji="1" lang="en-US" altLang="ja-JP" dirty="0"/>
                  <a:t> .</a:t>
                </a:r>
              </a:p>
              <a:p>
                <a:endParaRPr kumimoji="1" lang="en-US" altLang="ja-JP" dirty="0"/>
              </a:p>
              <a:p>
                <a:r>
                  <a:rPr kumimoji="1" lang="en-US" altLang="ja-JP" dirty="0"/>
                  <a:t>J=,</a:t>
                </a:r>
                <a:r>
                  <a:rPr kumimoji="1" lang="ja-JP" altLang="en-US"/>
                  <a:t>イタリック</a:t>
                </a:r>
                <a:endParaRPr kumimoji="1" lang="en-US" altLang="ja-JP" dirty="0"/>
              </a:p>
              <a:p>
                <a:r>
                  <a:rPr kumimoji="1" lang="en-US" altLang="ja-JP" dirty="0"/>
                  <a:t>be </a:t>
                </a:r>
                <a:r>
                  <a:rPr kumimoji="1" lang="ja-JP" altLang="en-US"/>
                  <a:t>を消す？</a:t>
                </a:r>
                <a:endParaRPr kumimoji="1" lang="en-US" altLang="ja-JP" dirty="0"/>
              </a:p>
              <a:p>
                <a:r>
                  <a:rPr kumimoji="1" lang="en-US" altLang="ja-JP" dirty="0"/>
                  <a:t>be dominate </a:t>
                </a:r>
                <a:r>
                  <a:rPr kumimoji="1" lang="ja-JP" altLang="en-US"/>
                  <a:t>参考文献を確認する</a:t>
                </a:r>
                <a:endParaRPr kumimoji="1" lang="en-US" altLang="ja-JP" dirty="0"/>
              </a:p>
              <a:p>
                <a:endParaRPr kumimoji="1" lang="en-US" altLang="ja-JP" dirty="0"/>
              </a:p>
              <a:p>
                <a:endParaRPr kumimoji="1" lang="en-US" altLang="ja-JP" dirty="0"/>
              </a:p>
              <a:p>
                <a:r>
                  <a:rPr kumimoji="1" lang="ja-JP" altLang="en-US"/>
                  <a:t>パレートフロント、式で書いてあるやつ探してみる</a:t>
                </a:r>
                <a:endParaRPr kumimoji="1" lang="en-US" altLang="ja-JP" dirty="0"/>
              </a:p>
              <a:p>
                <a:endParaRPr kumimoji="1" lang="ja-JP" altLang="en-US"/>
              </a:p>
            </p:txBody>
          </p:sp>
        </mc:Choice>
        <mc:Fallback xmlns="">
          <p:sp>
            <p:nvSpPr>
              <p:cNvPr id="3" name="ノート プレースホルダー 2"/>
              <p:cNvSpPr>
                <a:spLocks noGrp="1"/>
              </p:cNvSpPr>
              <p:nvPr>
                <p:ph type="body" idx="1"/>
              </p:nvPr>
            </p:nvSpPr>
            <p:spPr/>
            <p:txBody>
              <a:bodyPr/>
              <a:lstStyle/>
              <a:p>
                <a:r>
                  <a:rPr kumimoji="1" lang="en-US" altLang="ja-JP" dirty="0"/>
                  <a:t>Before </a:t>
                </a:r>
                <a:r>
                  <a:rPr kumimoji="1" lang="en-US" altLang="ja-JP" dirty="0" err="1"/>
                  <a:t>explaning</a:t>
                </a:r>
                <a:r>
                  <a:rPr kumimoji="1" lang="en-US" altLang="ja-JP" dirty="0"/>
                  <a:t> about step 2, I will first explain the concept of non-dominated sorting and pareto front.</a:t>
                </a:r>
              </a:p>
              <a:p>
                <a:r>
                  <a:rPr kumimoji="1" lang="en-US" altLang="ja-JP" dirty="0"/>
                  <a:t>This study uses multi-objective optimization through non-dominated sorting to simplify implementation.</a:t>
                </a:r>
              </a:p>
              <a:p>
                <a:r>
                  <a:rPr kumimoji="1" lang="en-US" altLang="ja-JP" dirty="0"/>
                  <a:t>At step 2, fitness is evaluated based on non-dominated sorting.</a:t>
                </a:r>
              </a:p>
              <a:p>
                <a:r>
                  <a:rPr kumimoji="1" lang="en-US" altLang="ja-JP" dirty="0"/>
                  <a:t>Multi-objective optimization problems are generally formulated as this.</a:t>
                </a:r>
              </a:p>
              <a:p>
                <a:r>
                  <a:rPr kumimoji="1" lang="en-US" altLang="ja-JP" dirty="0"/>
                  <a:t>where x, k, and m are a design parameter’s vector, the</a:t>
                </a:r>
              </a:p>
              <a:p>
                <a:r>
                  <a:rPr kumimoji="1" lang="en-US" altLang="ja-JP" dirty="0"/>
                  <a:t>number of objective functions, and that of the constraints,</a:t>
                </a:r>
              </a:p>
              <a:p>
                <a:r>
                  <a:rPr kumimoji="1" lang="en-US" altLang="ja-JP" dirty="0"/>
                  <a:t>respectively, and fi(x) and </a:t>
                </a:r>
                <a:r>
                  <a:rPr kumimoji="1" lang="en-US" altLang="ja-JP" dirty="0" err="1"/>
                  <a:t>gj</a:t>
                </a:r>
                <a:r>
                  <a:rPr kumimoji="1" lang="en-US" altLang="ja-JP" dirty="0"/>
                  <a:t> (x) are the </a:t>
                </a:r>
                <a:r>
                  <a:rPr kumimoji="1" lang="en-US" altLang="ja-JP" dirty="0" err="1"/>
                  <a:t>ith</a:t>
                </a:r>
                <a:r>
                  <a:rPr kumimoji="1" lang="en-US" altLang="ja-JP" dirty="0"/>
                  <a:t> objective</a:t>
                </a:r>
              </a:p>
              <a:p>
                <a:r>
                  <a:rPr kumimoji="1" lang="en-US" altLang="ja-JP" dirty="0"/>
                  <a:t>function to be maximized or minimized and the </a:t>
                </a:r>
                <a:r>
                  <a:rPr kumimoji="1" lang="en-US" altLang="ja-JP" dirty="0" err="1"/>
                  <a:t>jth</a:t>
                </a:r>
                <a:r>
                  <a:rPr kumimoji="1" lang="en-US" altLang="ja-JP" dirty="0"/>
                  <a:t> constraint, respectively.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Arial" panose="020B0604020202020204" pitchFamily="34" charset="0"/>
                    <a:cs typeface="Arial" panose="020B0604020202020204" pitchFamily="34" charset="0"/>
                  </a:rPr>
                  <a:t>Let the solutions to the multi-objective optimization problem </a:t>
                </a:r>
                <a:r>
                  <a:rPr kumimoji="1" lang="en-US" altLang="ja-JP" sz="1200" dirty="0"/>
                  <a:t>be</a:t>
                </a:r>
                <a:r>
                  <a:rPr kumimoji="1" lang="en-US" altLang="ja-JP" sz="1200" b="0" dirty="0"/>
                  <a:t> </a:t>
                </a:r>
                <a:r>
                  <a:rPr lang="en-US" altLang="ja-JP" sz="1200" i="0">
                    <a:latin typeface="Cambria Math" panose="02040503050406030204" pitchFamily="18" charset="0"/>
                    <a:ea typeface="Cambria Math" panose="02040503050406030204" pitchFamily="18" charset="0"/>
                  </a:rPr>
                  <a:t>𝓍</a:t>
                </a:r>
                <a:r>
                  <a:rPr kumimoji="1" lang="en-US" altLang="ja-JP" sz="1200" b="0" i="0">
                    <a:latin typeface="Cambria Math" panose="02040503050406030204" pitchFamily="18" charset="0"/>
                    <a:ea typeface="Cambria Math" panose="02040503050406030204" pitchFamily="18" charset="0"/>
                  </a:rPr>
                  <a:t>_</a:t>
                </a:r>
                <a:r>
                  <a:rPr kumimoji="1" lang="en-US" altLang="ja-JP" sz="1200" b="0" i="0">
                    <a:latin typeface="Cambria Math" panose="02040503050406030204" pitchFamily="18" charset="0"/>
                  </a:rPr>
                  <a:t>1</a:t>
                </a:r>
                <a:r>
                  <a:rPr kumimoji="1" lang="en-US" altLang="ja-JP" sz="1200" dirty="0"/>
                  <a:t>and </a:t>
                </a:r>
                <a:r>
                  <a:rPr lang="en-US" altLang="ja-JP" sz="1200" i="0">
                    <a:latin typeface="Cambria Math" panose="02040503050406030204" pitchFamily="18" charset="0"/>
                    <a:ea typeface="Cambria Math" panose="02040503050406030204" pitchFamily="18" charset="0"/>
                  </a:rPr>
                  <a:t>𝓍_</a:t>
                </a:r>
                <a:r>
                  <a:rPr lang="en-US" altLang="ja-JP" sz="1200" b="0" i="0">
                    <a:latin typeface="Cambria Math" panose="02040503050406030204" pitchFamily="18" charset="0"/>
                    <a:ea typeface="Cambria Math" panose="02040503050406030204" pitchFamily="18" charset="0"/>
                  </a:rPr>
                  <a:t>2</a:t>
                </a:r>
                <a:r>
                  <a:rPr kumimoji="1" lang="en-US" altLang="ja-JP" sz="1200" dirty="0"/>
                  <a:t>.</a:t>
                </a:r>
              </a:p>
              <a:p>
                <a:pPr>
                  <a:lnSpc>
                    <a:spcPct val="110000"/>
                  </a:lnSpc>
                </a:pPr>
                <a:r>
                  <a:rPr kumimoji="1" lang="en-US" altLang="ja-JP" sz="1200" dirty="0">
                    <a:latin typeface="Arial" panose="020B0604020202020204" pitchFamily="34" charset="0"/>
                    <a:cs typeface="Arial" panose="020B0604020202020204" pitchFamily="34" charset="0"/>
                  </a:rPr>
                  <a:t>When the following conditions are satisfied,</a:t>
                </a:r>
                <a:r>
                  <a:rPr kumimoji="1" lang="en-US" altLang="ja-JP" sz="1200" dirty="0"/>
                  <a:t> we say</a:t>
                </a:r>
                <a:r>
                  <a:rPr kumimoji="1" lang="en-US" altLang="ja-JP" sz="1200" baseline="0" dirty="0"/>
                  <a:t> that</a:t>
                </a:r>
                <a:r>
                  <a:rPr kumimoji="1" lang="en-US" altLang="ja-JP" sz="1200" dirty="0"/>
                  <a:t> </a:t>
                </a:r>
                <a:r>
                  <a:rPr lang="en-US" altLang="ja-JP" sz="1200" i="0">
                    <a:latin typeface="Cambria Math" panose="02040503050406030204" pitchFamily="18" charset="0"/>
                    <a:ea typeface="Cambria Math" panose="02040503050406030204" pitchFamily="18" charset="0"/>
                  </a:rPr>
                  <a:t>𝓍_</a:t>
                </a:r>
                <a:r>
                  <a:rPr lang="en-US" altLang="ja-JP" sz="1200" i="0">
                    <a:latin typeface="Cambria Math" panose="02040503050406030204" pitchFamily="18" charset="0"/>
                  </a:rPr>
                  <a:t>1</a:t>
                </a:r>
                <a:r>
                  <a:rPr lang="en-US" altLang="ja-JP" sz="1200" dirty="0">
                    <a:latin typeface="Arial" panose="020B0604020202020204" pitchFamily="34" charset="0"/>
                    <a:cs typeface="Arial" panose="020B0604020202020204" pitchFamily="34" charset="0"/>
                  </a:rPr>
                  <a:t> </a:t>
                </a:r>
                <a:r>
                  <a:rPr lang="en-US" altLang="ja-JP" sz="1200" b="1" dirty="0">
                    <a:solidFill>
                      <a:srgbClr val="FF0000"/>
                    </a:solidFill>
                    <a:latin typeface="Arial" panose="020B0604020202020204" pitchFamily="34" charset="0"/>
                    <a:cs typeface="Arial" panose="020B0604020202020204" pitchFamily="34" charset="0"/>
                  </a:rPr>
                  <a:t>dominates</a:t>
                </a:r>
              </a:p>
              <a:p>
                <a:pPr>
                  <a:lnSpc>
                    <a:spcPct val="110000"/>
                  </a:lnSpc>
                </a:pPr>
                <a:r>
                  <a:rPr lang="en-US" altLang="ja-JP" sz="1200" dirty="0"/>
                  <a:t> </a:t>
                </a:r>
                <a:r>
                  <a:rPr lang="en-US" altLang="ja-JP" sz="1200" i="0">
                    <a:latin typeface="Cambria Math" panose="02040503050406030204" pitchFamily="18" charset="0"/>
                    <a:ea typeface="Cambria Math" panose="02040503050406030204" pitchFamily="18" charset="0"/>
                  </a:rPr>
                  <a:t>𝓍_2</a:t>
                </a:r>
                <a:r>
                  <a:rPr kumimoji="1" lang="en-US" altLang="ja-JP" sz="1200" dirty="0"/>
                  <a:t>.</a:t>
                </a:r>
              </a:p>
              <a:p>
                <a:pPr>
                  <a:lnSpc>
                    <a:spcPct val="110000"/>
                  </a:lnSpc>
                </a:pPr>
                <a:r>
                  <a:rPr kumimoji="1" lang="en-US" altLang="ja-JP" sz="1200" dirty="0"/>
                  <a:t>Note that in the case of a problem where the objective function is to be maximized, the inequality sign is reversed.</a:t>
                </a:r>
              </a:p>
              <a:p>
                <a:endParaRPr kumimoji="1" lang="en-US" altLang="ja-JP" dirty="0"/>
              </a:p>
              <a:p>
                <a:r>
                  <a:rPr kumimoji="1" lang="en-US" altLang="ja-JP" dirty="0"/>
                  <a:t>When a solution x1 is</a:t>
                </a:r>
              </a:p>
              <a:p>
                <a:r>
                  <a:rPr kumimoji="1" lang="en-US" altLang="ja-JP" dirty="0"/>
                  <a:t>not dominated by any other solutions, this solution x1 is</a:t>
                </a:r>
              </a:p>
              <a:p>
                <a:r>
                  <a:rPr kumimoji="1" lang="en-US" altLang="ja-JP" dirty="0"/>
                  <a:t>called a Pareto optimal solution. Furthermore, the surface</a:t>
                </a:r>
              </a:p>
              <a:p>
                <a:r>
                  <a:rPr kumimoji="1" lang="en-US" altLang="ja-JP" dirty="0"/>
                  <a:t>formed by the set of Pareto optimal solutions is called the</a:t>
                </a:r>
              </a:p>
              <a:p>
                <a:r>
                  <a:rPr kumimoji="1" lang="en-US" altLang="ja-JP" dirty="0"/>
                  <a:t>Pareto front.</a:t>
                </a:r>
              </a:p>
              <a:p>
                <a:endParaRPr kumimoji="1" lang="en-US" altLang="ja-JP" dirty="0"/>
              </a:p>
              <a:p>
                <a:endParaRPr kumimoji="1" lang="en-US" altLang="ja-JP" dirty="0"/>
              </a:p>
              <a:p>
                <a:r>
                  <a:rPr kumimoji="1" lang="en-US" altLang="ja-JP" dirty="0"/>
                  <a:t>Let x1 and x2 be the~</a:t>
                </a:r>
              </a:p>
              <a:p>
                <a:r>
                  <a:rPr kumimoji="1" lang="ja-JP" altLang="en-US"/>
                  <a:t>式</a:t>
                </a:r>
                <a:r>
                  <a:rPr kumimoji="1" lang="en-US" altLang="ja-JP" dirty="0"/>
                  <a:t> .</a:t>
                </a:r>
              </a:p>
              <a:p>
                <a:endParaRPr kumimoji="1" lang="en-US" altLang="ja-JP" dirty="0"/>
              </a:p>
              <a:p>
                <a:r>
                  <a:rPr kumimoji="1" lang="en-US" altLang="ja-JP" dirty="0"/>
                  <a:t>J=,</a:t>
                </a:r>
                <a:r>
                  <a:rPr kumimoji="1" lang="ja-JP" altLang="en-US"/>
                  <a:t>イタリック</a:t>
                </a:r>
                <a:endParaRPr kumimoji="1" lang="en-US" altLang="ja-JP" dirty="0"/>
              </a:p>
              <a:p>
                <a:r>
                  <a:rPr kumimoji="1" lang="en-US" altLang="ja-JP" dirty="0"/>
                  <a:t>be </a:t>
                </a:r>
                <a:r>
                  <a:rPr kumimoji="1" lang="ja-JP" altLang="en-US"/>
                  <a:t>を消す？</a:t>
                </a:r>
                <a:endParaRPr kumimoji="1" lang="en-US" altLang="ja-JP" dirty="0"/>
              </a:p>
              <a:p>
                <a:r>
                  <a:rPr kumimoji="1" lang="en-US" altLang="ja-JP" dirty="0"/>
                  <a:t>be dominate </a:t>
                </a:r>
                <a:r>
                  <a:rPr kumimoji="1" lang="ja-JP" altLang="en-US"/>
                  <a:t>参考文献を確認する</a:t>
                </a:r>
                <a:endParaRPr kumimoji="1" lang="en-US" altLang="ja-JP" dirty="0"/>
              </a:p>
              <a:p>
                <a:endParaRPr kumimoji="1" lang="en-US" altLang="ja-JP" dirty="0"/>
              </a:p>
              <a:p>
                <a:endParaRPr kumimoji="1" lang="en-US" altLang="ja-JP" dirty="0"/>
              </a:p>
              <a:p>
                <a:r>
                  <a:rPr kumimoji="1" lang="ja-JP" altLang="en-US"/>
                  <a:t>パレートフロント、式で書いてあるやつ探してみる</a:t>
                </a:r>
                <a:endParaRPr kumimoji="1" lang="en-US" altLang="ja-JP" dirty="0"/>
              </a:p>
              <a:p>
                <a:endParaRPr kumimoji="1" lang="ja-JP" altLang="en-US"/>
              </a:p>
            </p:txBody>
          </p:sp>
        </mc:Fallback>
      </mc:AlternateContent>
      <p:sp>
        <p:nvSpPr>
          <p:cNvPr id="4" name="スライド番号プレースホルダー 3"/>
          <p:cNvSpPr>
            <a:spLocks noGrp="1"/>
          </p:cNvSpPr>
          <p:nvPr>
            <p:ph type="sldNum" sz="quarter" idx="5"/>
          </p:nvPr>
        </p:nvSpPr>
        <p:spPr/>
        <p:txBody>
          <a:bodyPr/>
          <a:lstStyle/>
          <a:p>
            <a:fld id="{4FC518F5-97CD-2347-B69F-D020FD391FF7}" type="slidenum">
              <a:rPr kumimoji="1" lang="ja-JP" altLang="en-US" smtClean="0"/>
              <a:t>25</a:t>
            </a:fld>
            <a:endParaRPr kumimoji="1" lang="ja-JP" altLang="en-US"/>
          </a:p>
        </p:txBody>
      </p:sp>
    </p:spTree>
    <p:extLst>
      <p:ext uri="{BB962C8B-B14F-4D97-AF65-F5344CB8AC3E}">
        <p14:creationId xmlns:p14="http://schemas.microsoft.com/office/powerpoint/2010/main" val="2984083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26</a:t>
            </a:fld>
            <a:endParaRPr kumimoji="1" lang="ja-JP" altLang="en-US"/>
          </a:p>
        </p:txBody>
      </p:sp>
    </p:spTree>
    <p:extLst>
      <p:ext uri="{BB962C8B-B14F-4D97-AF65-F5344CB8AC3E}">
        <p14:creationId xmlns:p14="http://schemas.microsoft.com/office/powerpoint/2010/main" val="867532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提案手法が標準固定率条件を上回ったことは，単に 1 つ</a:t>
            </a:r>
            <a:br>
              <a:rPr lang="ja-JP" altLang="ja-JP"/>
            </a:br>
            <a:r>
              <a:rPr kumimoji="1" lang="ja-JP" altLang="ja-JP" sz="1200" b="0" i="0" kern="1200">
                <a:solidFill>
                  <a:schemeClr val="tx1"/>
                </a:solidFill>
                <a:effectLst/>
                <a:latin typeface="+mn-lt"/>
                <a:ea typeface="+mn-ea"/>
                <a:cs typeface="+mn-cs"/>
              </a:rPr>
              <a:t>の高精度個体を得たというより，複数の複雑度領域でアー</a:t>
            </a:r>
            <a:br>
              <a:rPr lang="ja-JP" altLang="ja-JP"/>
            </a:br>
            <a:r>
              <a:rPr kumimoji="1" lang="ja-JP" altLang="ja-JP" sz="1200" b="0" i="0" kern="1200">
                <a:solidFill>
                  <a:schemeClr val="tx1"/>
                </a:solidFill>
                <a:effectLst/>
                <a:latin typeface="+mn-lt"/>
                <a:ea typeface="+mn-ea"/>
                <a:cs typeface="+mn-cs"/>
              </a:rPr>
              <a:t>カイブを押し広げた可能性として解釈できる</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27</a:t>
            </a:fld>
            <a:endParaRPr kumimoji="1" lang="ja-JP" altLang="en-US"/>
          </a:p>
        </p:txBody>
      </p:sp>
    </p:spTree>
    <p:extLst>
      <p:ext uri="{BB962C8B-B14F-4D97-AF65-F5344CB8AC3E}">
        <p14:creationId xmlns:p14="http://schemas.microsoft.com/office/powerpoint/2010/main" val="1021506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 altLang="ja-JP" dirty="0"/>
              <a:t>Friedman-II </a:t>
            </a:r>
            <a:r>
              <a:rPr kumimoji="1" lang="ja-JP" altLang="en-US"/>
              <a:t>では探索状態が短い周期で変化し，</a:t>
            </a:r>
          </a:p>
          <a:p>
            <a:r>
              <a:rPr kumimoji="1" lang="ja-JP" altLang="en-US"/>
              <a:t>密な再調整が有効だった可能性を示す</a:t>
            </a:r>
            <a:br>
              <a:rPr kumimoji="1" lang="en-US" altLang="ja-JP" dirty="0"/>
            </a:br>
            <a:r>
              <a:rPr kumimoji="1" lang="ja-JP" altLang="ja-JP" sz="1200" b="0" i="0" kern="1200">
                <a:solidFill>
                  <a:schemeClr val="tx1"/>
                </a:solidFill>
                <a:effectLst/>
                <a:latin typeface="+mn-lt"/>
                <a:ea typeface="+mn-ea"/>
                <a:cs typeface="+mn-cs"/>
              </a:rPr>
              <a:t>ウォームアップの設計が短周期を選びやすくしていた可能</a:t>
            </a:r>
            <a:br>
              <a:rPr lang="ja-JP" altLang="ja-JP"/>
            </a:br>
            <a:r>
              <a:rPr kumimoji="1" lang="ja-JP" altLang="ja-JP" sz="1200" b="0" i="0" kern="1200">
                <a:solidFill>
                  <a:schemeClr val="tx1"/>
                </a:solidFill>
                <a:effectLst/>
                <a:latin typeface="+mn-lt"/>
                <a:ea typeface="+mn-ea"/>
                <a:cs typeface="+mn-cs"/>
              </a:rPr>
              <a:t>性もある</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31</a:t>
            </a:fld>
            <a:endParaRPr kumimoji="1" lang="ja-JP" altLang="en-US"/>
          </a:p>
        </p:txBody>
      </p:sp>
    </p:spTree>
    <p:extLst>
      <p:ext uri="{BB962C8B-B14F-4D97-AF65-F5344CB8AC3E}">
        <p14:creationId xmlns:p14="http://schemas.microsoft.com/office/powerpoint/2010/main" val="1544499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0F3EA-39FA-2ECF-F6D4-B3086173E4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34A2FC-5BE6-1F6C-2095-44A09FF74E1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1A4072-70DC-E737-4BFD-FD6D398364DE}"/>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状態依存制御の効果をより明確に検証する</a:t>
            </a:r>
            <a:br>
              <a:rPr kumimoji="1" lang="en-US" altLang="ja-JP" sz="1200" b="0" i="0" kern="1200" dirty="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目的関数値だけでは分からない式構造の獲得傾向を分析する</a:t>
            </a:r>
            <a:br>
              <a:rPr kumimoji="1" lang="en-US" altLang="ja-JP" sz="1200" b="0" i="0" kern="1200" dirty="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提案法がどのような問題で有効に働くかを分析する</a:t>
            </a:r>
            <a:br>
              <a:rPr kumimoji="1" lang="en-US" altLang="ja-JP" sz="1200" b="0" i="0" kern="1200" dirty="0">
                <a:solidFill>
                  <a:schemeClr val="tx1"/>
                </a:solidFill>
                <a:effectLst/>
                <a:latin typeface="+mn-lt"/>
                <a:ea typeface="+mn-ea"/>
                <a:cs typeface="+mn-cs"/>
              </a:rPr>
            </a:br>
            <a:endParaRPr kumimoji="1" lang="ja-JP" altLang="en-US"/>
          </a:p>
        </p:txBody>
      </p:sp>
      <p:sp>
        <p:nvSpPr>
          <p:cNvPr id="4" name="スライド番号プレースホルダー 3">
            <a:extLst>
              <a:ext uri="{FF2B5EF4-FFF2-40B4-BE49-F238E27FC236}">
                <a16:creationId xmlns:a16="http://schemas.microsoft.com/office/drawing/2014/main" id="{BD27B405-6F4B-C46D-5B09-6395B6B81269}"/>
              </a:ext>
            </a:extLst>
          </p:cNvPr>
          <p:cNvSpPr>
            <a:spLocks noGrp="1"/>
          </p:cNvSpPr>
          <p:nvPr>
            <p:ph type="sldNum" sz="quarter" idx="5"/>
          </p:nvPr>
        </p:nvSpPr>
        <p:spPr/>
        <p:txBody>
          <a:bodyPr/>
          <a:lstStyle/>
          <a:p>
            <a:fld id="{9F88A1A8-7F57-B848-952F-1C06E89B36C9}" type="slidenum">
              <a:rPr kumimoji="1" lang="ja-JP" altLang="en-US" smtClean="0"/>
              <a:t>32</a:t>
            </a:fld>
            <a:endParaRPr kumimoji="1" lang="ja-JP" altLang="en-US"/>
          </a:p>
        </p:txBody>
      </p:sp>
    </p:spTree>
    <p:extLst>
      <p:ext uri="{BB962C8B-B14F-4D97-AF65-F5344CB8AC3E}">
        <p14:creationId xmlns:p14="http://schemas.microsoft.com/office/powerpoint/2010/main" val="2651872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ここからは診断用の結果です。Replay (diagnostic)は、Proposed methodが選んだ制御列を事前に再生するため、探索軌跡と最終HVは一致し、online判断だけを外せます。78世代の総時間は7.60秒から3.31秒へ下がり、差は4.29秒でした。内部計測ではGPR fitが4.24秒で、この差の大部分と整合します。Replay (diagnostic)は性能比較手法ではありません。</a:t>
            </a:r>
          </a:p>
          <a:p>
            <a:endParaRPr/>
          </a:p>
          <a:p>
            <a:r>
              <a:t>[Sources]</a:t>
            </a:r>
          </a:p>
          <a:p>
            <a:r>
              <a:t>- Component timing: /Users/kakemyo/Downloads/master_BOGP/outputs/computation_cost_friedman/g78_main/g78_cost_seed100_20260731_v1/component_times.csv</a:t>
            </a:r>
          </a:p>
          <a:p>
            <a:r>
              <a:t>- Control trace: /Users/kakemyo/Downloads/master_BOGP/outputs/computation_cost_friedman/g78_main/g78_cost_seed100_20260731_v1/control_trace.csv</a:t>
            </a:r>
          </a:p>
          <a:p>
            <a:r>
              <a:t>- Analysis summary: /Users/kakemyo/Downloads/master_BOGP/outputs/computation_cost_friedman/g78_main/g78_cost_seed100_20260731_v1/analysis/summary.md</a:t>
            </a:r>
          </a:p>
          <a:p>
            <a:r>
              <a:t>- Timing instrumentation: /Users/kakemyo/Downloads/master_BOGP/src/bogp/computation_cost_experiment.py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78世代条件のGPR fitイベントを確認すると、63%は、そのkに対応する観測履歴が前回のfitから増えていない状態で実行されていました。選ばれなかったkのモデルも、次の候補評価時に再学習されるためです。未更新モデルの再利用は、制御方針を保ちながら計算を減らせる可能性があります。ただし、fit回数の63%が、そのまま時間の63%削減を意味するわけではありません。</a:t>
            </a:r>
          </a:p>
          <a:p>
            <a:endParaRPr/>
          </a:p>
          <a:p>
            <a:r>
              <a:t>[Sources]</a:t>
            </a:r>
          </a:p>
          <a:p>
            <a:r>
              <a:t>- Control trace: /Users/kakemyo/Downloads/master_BOGP/outputs/computation_cost_friedman/g78_main/g78_cost_seed100_20260731_v1/control_trace.csv</a:t>
            </a:r>
          </a:p>
          <a:p>
            <a:r>
              <a:t>- Component timing: /Users/kakemyo/Downloads/master_BOGP/outputs/computation_cost_friedman/g78_main/g78_cost_seed100_20260731_v1/component_times.csv</a:t>
            </a:r>
          </a:p>
          <a:p>
            <a:r>
              <a:t>- Controller implementation: /Users/kakemyo/Downloads/master_BOGP/src/bogp/controller.py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最後に30世代の予備結果です。平均はFixed standardが1.16秒・HV 0.757、High mutationが1.08秒・0.777、Proposed methodが1.40秒・0.773でした。Proposed methodは平均点ではFixed standardより上ですが、平均差の信頼区間はゼロを含むため、明確な平均改善とは述べません。一方、High mutationに対する時間面の優位はありません。</a:t>
            </a:r>
          </a:p>
          <a:p>
            <a:endParaRPr/>
          </a:p>
          <a:p>
            <a:r>
              <a:t>[Sources]</a:t>
            </a:r>
          </a:p>
          <a:p>
            <a:r>
              <a:t>- 30-generation summary: /Users/kakemyo/Downloads/master_BOGP/outputs/computation_cost_friedman/g30_supplement/g30_cost_seed100_20260731_v1/analysis/summary.md</a:t>
            </a:r>
          </a:p>
          <a:p>
            <a:r>
              <a:t>- 30-generation aggregate means: /Users/kakemyo/Downloads/master_BOGP/outputs/computation_cost_friedman/g30_supplement/g30_cost_seed100_20260731_v1/analysis/aggregate_summary.csv</a:t>
            </a:r>
          </a:p>
          <a:p>
            <a:r>
              <a:t>- 30-generation paired comparisons: /Users/kakemyo/Downloads/master_BOGP/outputs/computation_cost_friedman/g30_supplement/g30_cost_seed100_20260731_v1/analysis/paired_comparisons.csv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4EDEE6-F8B7-3820-1EF7-4732B3D30E0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81E1014-D7E5-F338-82ED-04C3E644AB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AB529A1-F40E-CB5A-B4FF-FECAFFCABCFB}"/>
              </a:ext>
            </a:extLst>
          </p:cNvPr>
          <p:cNvSpPr>
            <a:spLocks noGrp="1"/>
          </p:cNvSpPr>
          <p:nvPr>
            <p:ph type="dt" sz="half" idx="10"/>
          </p:nvPr>
        </p:nvSpPr>
        <p:spPr/>
        <p:txBody>
          <a:bodyPr/>
          <a:lstStyle/>
          <a:p>
            <a:fld id="{E0284FD2-E452-FC41-83F0-5C560ABFD67C}" type="datetimeFigureOut">
              <a:rPr kumimoji="1" lang="ja-JP" altLang="en-US" smtClean="0"/>
              <a:t>2026/8/1</a:t>
            </a:fld>
            <a:endParaRPr kumimoji="1" lang="ja-JP" altLang="en-US"/>
          </a:p>
        </p:txBody>
      </p:sp>
      <p:sp>
        <p:nvSpPr>
          <p:cNvPr id="5" name="フッター プレースホルダー 4">
            <a:extLst>
              <a:ext uri="{FF2B5EF4-FFF2-40B4-BE49-F238E27FC236}">
                <a16:creationId xmlns:a16="http://schemas.microsoft.com/office/drawing/2014/main" id="{E2960813-0232-0CA9-5CD0-2F9BA3FA6B3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A855C90-E5B0-A926-49EF-558BBC7FB0A2}"/>
              </a:ext>
            </a:extLst>
          </p:cNvPr>
          <p:cNvSpPr>
            <a:spLocks noGrp="1"/>
          </p:cNvSpPr>
          <p:nvPr>
            <p:ph type="sldNum" sz="quarter" idx="12"/>
          </p:nvPr>
        </p:nvSpPr>
        <p:spPr/>
        <p:txBody>
          <a:bodyPr/>
          <a:lstStyle/>
          <a:p>
            <a:fld id="{1B04CD45-8105-244F-840F-AC872BECF969}" type="slidenum">
              <a:rPr kumimoji="1" lang="ja-JP" altLang="en-US" smtClean="0"/>
              <a:t>‹#›</a:t>
            </a:fld>
            <a:endParaRPr kumimoji="1" lang="ja-JP" altLang="en-US"/>
          </a:p>
        </p:txBody>
      </p:sp>
    </p:spTree>
    <p:extLst>
      <p:ext uri="{BB962C8B-B14F-4D97-AF65-F5344CB8AC3E}">
        <p14:creationId xmlns:p14="http://schemas.microsoft.com/office/powerpoint/2010/main" val="1050504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2CEAC7-EDB9-35C1-B954-B1A11375B727}"/>
              </a:ext>
            </a:extLst>
          </p:cNvPr>
          <p:cNvSpPr>
            <a:spLocks noGrp="1"/>
          </p:cNvSpPr>
          <p:nvPr>
            <p:ph type="title"/>
          </p:nvPr>
        </p:nvSpPr>
        <p:spPr>
          <a:xfrm>
            <a:off x="476992" y="276874"/>
            <a:ext cx="8508380" cy="638485"/>
          </a:xfrm>
        </p:spPr>
        <p:txBody>
          <a:bodyPr/>
          <a:lstStyle/>
          <a:p>
            <a:endParaRPr kumimoji="1" lang="ja-JP" altLang="en-US"/>
          </a:p>
        </p:txBody>
      </p:sp>
      <p:sp>
        <p:nvSpPr>
          <p:cNvPr id="3" name="日付プレースホルダー 2">
            <a:extLst>
              <a:ext uri="{FF2B5EF4-FFF2-40B4-BE49-F238E27FC236}">
                <a16:creationId xmlns:a16="http://schemas.microsoft.com/office/drawing/2014/main" id="{A95FB07A-71F7-F9DC-A941-430300C47B2D}"/>
              </a:ext>
            </a:extLst>
          </p:cNvPr>
          <p:cNvSpPr>
            <a:spLocks noGrp="1"/>
          </p:cNvSpPr>
          <p:nvPr>
            <p:ph type="dt" sz="half" idx="10"/>
          </p:nvPr>
        </p:nvSpPr>
        <p:spPr/>
        <p:txBody>
          <a:bodyPr/>
          <a:lstStyle/>
          <a:p>
            <a:fld id="{112BB8A9-7E99-504E-9536-F35C2A6F3E6E}" type="datetime1">
              <a:rPr kumimoji="1" lang="ja-JP" altLang="en-US" smtClean="0"/>
              <a:t>2026/8/1</a:t>
            </a:fld>
            <a:endParaRPr kumimoji="1" lang="ja-JP" altLang="en-US"/>
          </a:p>
        </p:txBody>
      </p:sp>
      <p:sp>
        <p:nvSpPr>
          <p:cNvPr id="4" name="フッター プレースホルダー 3">
            <a:extLst>
              <a:ext uri="{FF2B5EF4-FFF2-40B4-BE49-F238E27FC236}">
                <a16:creationId xmlns:a16="http://schemas.microsoft.com/office/drawing/2014/main" id="{2AC4E32D-ABA4-AF95-5F51-20D9B9C67F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05B1754-86DA-C66D-D095-F2F5E91DE321}"/>
              </a:ext>
            </a:extLst>
          </p:cNvPr>
          <p:cNvSpPr>
            <a:spLocks noGrp="1"/>
          </p:cNvSpPr>
          <p:nvPr>
            <p:ph type="sldNum" sz="quarter" idx="12"/>
          </p:nvPr>
        </p:nvSpPr>
        <p:spPr>
          <a:xfrm>
            <a:off x="9202121" y="368959"/>
            <a:ext cx="1841809" cy="546400"/>
          </a:xfrm>
        </p:spPr>
        <p:txBody>
          <a:bodyPr/>
          <a:lstStyle>
            <a:lvl1pPr>
              <a:defRPr sz="2400"/>
            </a:lvl1pPr>
          </a:lstStyle>
          <a:p>
            <a:fld id="{A9AD3F58-349D-3A41-BFFC-DA89322664A4}"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A6F4D12A-E8BF-D7A7-95C6-E29B6F741302}"/>
              </a:ext>
            </a:extLst>
          </p:cNvPr>
          <p:cNvCxnSpPr>
            <a:cxnSpLocks/>
          </p:cNvCxnSpPr>
          <p:nvPr userDrawn="1"/>
        </p:nvCxnSpPr>
        <p:spPr>
          <a:xfrm>
            <a:off x="0" y="1083598"/>
            <a:ext cx="12192000"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55C787C7-27FA-5575-3E56-E0358FE9B068}"/>
              </a:ext>
            </a:extLst>
          </p:cNvPr>
          <p:cNvSpPr txBox="1"/>
          <p:nvPr userDrawn="1"/>
        </p:nvSpPr>
        <p:spPr>
          <a:xfrm>
            <a:off x="11043930" y="411326"/>
            <a:ext cx="967961" cy="461665"/>
          </a:xfrm>
          <a:prstGeom prst="rect">
            <a:avLst/>
          </a:prstGeom>
          <a:noFill/>
        </p:spPr>
        <p:txBody>
          <a:bodyPr wrap="square" rtlCol="0">
            <a:spAutoFit/>
          </a:bodyPr>
          <a:lstStyle/>
          <a:p>
            <a:r>
              <a:rPr kumimoji="1" lang="en-US" altLang="ja-JP" sz="2400" dirty="0"/>
              <a:t>/20</a:t>
            </a:r>
          </a:p>
        </p:txBody>
      </p:sp>
    </p:spTree>
    <p:extLst>
      <p:ext uri="{BB962C8B-B14F-4D97-AF65-F5344CB8AC3E}">
        <p14:creationId xmlns:p14="http://schemas.microsoft.com/office/powerpoint/2010/main" val="8505032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78C27F3-D0C6-FF68-6BAC-B58681B360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9A43010-67B3-7EBD-CFBE-32ECA8A6C9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96A576D-6385-CA2C-66B6-D162156AAD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284FD2-E452-FC41-83F0-5C560ABFD67C}" type="datetimeFigureOut">
              <a:rPr kumimoji="1" lang="ja-JP" altLang="en-US" smtClean="0"/>
              <a:t>2026/8/1</a:t>
            </a:fld>
            <a:endParaRPr kumimoji="1" lang="ja-JP" altLang="en-US"/>
          </a:p>
        </p:txBody>
      </p:sp>
      <p:sp>
        <p:nvSpPr>
          <p:cNvPr id="5" name="フッター プレースホルダー 4">
            <a:extLst>
              <a:ext uri="{FF2B5EF4-FFF2-40B4-BE49-F238E27FC236}">
                <a16:creationId xmlns:a16="http://schemas.microsoft.com/office/drawing/2014/main" id="{1218AE10-FC92-8EAE-0C10-E02D29E91D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626BB65-5A89-3BD8-421F-A0E719E885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04CD45-8105-244F-840F-AC872BECF969}" type="slidenum">
              <a:rPr kumimoji="1" lang="ja-JP" altLang="en-US" smtClean="0"/>
              <a:t>‹#›</a:t>
            </a:fld>
            <a:endParaRPr kumimoji="1" lang="ja-JP" altLang="en-US"/>
          </a:p>
        </p:txBody>
      </p:sp>
    </p:spTree>
    <p:extLst>
      <p:ext uri="{BB962C8B-B14F-4D97-AF65-F5344CB8AC3E}">
        <p14:creationId xmlns:p14="http://schemas.microsoft.com/office/powerpoint/2010/main" val="2057855677"/>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9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0.png"/><Relationship Id="rId4" Type="http://schemas.openxmlformats.org/officeDocument/2006/relationships/image" Target="../media/image16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40.png"/><Relationship Id="rId7" Type="http://schemas.openxmlformats.org/officeDocument/2006/relationships/image" Target="../media/image33.png"/><Relationship Id="rId2"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0.png"/><Relationship Id="rId5" Type="http://schemas.openxmlformats.org/officeDocument/2006/relationships/image" Target="../media/image260.png"/><Relationship Id="rId10" Type="http://schemas.openxmlformats.org/officeDocument/2006/relationships/image" Target="../media/image310.png"/><Relationship Id="rId4" Type="http://schemas.openxmlformats.org/officeDocument/2006/relationships/image" Target="../media/image250.png"/><Relationship Id="rId9" Type="http://schemas.openxmlformats.org/officeDocument/2006/relationships/image" Target="../media/image300.png"/></Relationships>
</file>

<file path=ppt/slides/_rels/slide2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A1EB2B-BBE9-F30C-1AAA-7871E73019DB}"/>
              </a:ext>
            </a:extLst>
          </p:cNvPr>
          <p:cNvSpPr>
            <a:spLocks noGrp="1"/>
          </p:cNvSpPr>
          <p:nvPr>
            <p:ph type="ctrTitle"/>
          </p:nvPr>
        </p:nvSpPr>
        <p:spPr/>
        <p:txBody>
          <a:bodyPr/>
          <a:lstStyle/>
          <a:p>
            <a:r>
              <a:rPr kumimoji="1" lang="ja-JP" altLang="en-US" b="1"/>
              <a:t>進捗報告</a:t>
            </a:r>
          </a:p>
        </p:txBody>
      </p:sp>
      <p:cxnSp>
        <p:nvCxnSpPr>
          <p:cNvPr id="5" name="直線コネクタ 4">
            <a:extLst>
              <a:ext uri="{FF2B5EF4-FFF2-40B4-BE49-F238E27FC236}">
                <a16:creationId xmlns:a16="http://schemas.microsoft.com/office/drawing/2014/main" id="{B72E0DEC-9551-68BF-3429-83DD1808536A}"/>
              </a:ext>
            </a:extLst>
          </p:cNvPr>
          <p:cNvCxnSpPr>
            <a:cxnSpLocks/>
          </p:cNvCxnSpPr>
          <p:nvPr/>
        </p:nvCxnSpPr>
        <p:spPr>
          <a:xfrm>
            <a:off x="-20320" y="4607243"/>
            <a:ext cx="12192000" cy="0"/>
          </a:xfrm>
          <a:prstGeom prst="line">
            <a:avLst/>
          </a:prstGeom>
          <a:ln w="127000"/>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44AD4CAD-32EE-199D-F864-B711F0D960B1}"/>
              </a:ext>
            </a:extLst>
          </p:cNvPr>
          <p:cNvSpPr txBox="1"/>
          <p:nvPr/>
        </p:nvSpPr>
        <p:spPr>
          <a:xfrm>
            <a:off x="4265210" y="5119749"/>
            <a:ext cx="3661580" cy="584775"/>
          </a:xfrm>
          <a:prstGeom prst="rect">
            <a:avLst/>
          </a:prstGeom>
          <a:noFill/>
        </p:spPr>
        <p:txBody>
          <a:bodyPr wrap="none" rtlCol="0">
            <a:spAutoFit/>
          </a:bodyPr>
          <a:lstStyle/>
          <a:p>
            <a:r>
              <a:rPr kumimoji="1" lang="en-US" altLang="ja-JP" sz="3200" dirty="0"/>
              <a:t>M2</a:t>
            </a:r>
            <a:r>
              <a:rPr lang="ja-JP" altLang="en-US" sz="3200"/>
              <a:t>　　</a:t>
            </a:r>
            <a:r>
              <a:rPr kumimoji="1" lang="ja-JP" altLang="en-US" sz="3200"/>
              <a:t>明神　翔大</a:t>
            </a:r>
          </a:p>
        </p:txBody>
      </p:sp>
      <p:sp>
        <p:nvSpPr>
          <p:cNvPr id="9" name="スライド番号プレースホルダー 8">
            <a:extLst>
              <a:ext uri="{FF2B5EF4-FFF2-40B4-BE49-F238E27FC236}">
                <a16:creationId xmlns:a16="http://schemas.microsoft.com/office/drawing/2014/main" id="{E6246FCD-0705-ACFE-54FB-AE6F1D096C32}"/>
              </a:ext>
            </a:extLst>
          </p:cNvPr>
          <p:cNvSpPr>
            <a:spLocks noGrp="1"/>
          </p:cNvSpPr>
          <p:nvPr>
            <p:ph type="sldNum" sz="quarter" idx="12"/>
          </p:nvPr>
        </p:nvSpPr>
        <p:spPr/>
        <p:txBody>
          <a:bodyPr/>
          <a:lstStyle/>
          <a:p>
            <a:fld id="{1D12D973-056E-EB4D-8434-F78A25D16886}" type="slidenum">
              <a:rPr kumimoji="1" lang="ja-JP" altLang="en-US" smtClean="0"/>
              <a:t>1</a:t>
            </a:fld>
            <a:endParaRPr kumimoji="1" lang="ja-JP" altLang="en-US"/>
          </a:p>
        </p:txBody>
      </p:sp>
      <p:sp>
        <p:nvSpPr>
          <p:cNvPr id="3" name="テキスト ボックス 2">
            <a:extLst>
              <a:ext uri="{FF2B5EF4-FFF2-40B4-BE49-F238E27FC236}">
                <a16:creationId xmlns:a16="http://schemas.microsoft.com/office/drawing/2014/main" id="{11A05EFA-0A58-C938-AA27-DC5FD452AC5C}"/>
              </a:ext>
            </a:extLst>
          </p:cNvPr>
          <p:cNvSpPr txBox="1"/>
          <p:nvPr/>
        </p:nvSpPr>
        <p:spPr>
          <a:xfrm>
            <a:off x="5449028" y="4022468"/>
            <a:ext cx="838691" cy="584775"/>
          </a:xfrm>
          <a:prstGeom prst="rect">
            <a:avLst/>
          </a:prstGeom>
          <a:noFill/>
        </p:spPr>
        <p:txBody>
          <a:bodyPr wrap="none" rtlCol="0">
            <a:spAutoFit/>
          </a:bodyPr>
          <a:lstStyle/>
          <a:p>
            <a:r>
              <a:rPr kumimoji="1" lang="en-US" altLang="ja-JP" sz="3200" dirty="0"/>
              <a:t>8/3</a:t>
            </a:r>
            <a:endParaRPr kumimoji="1" lang="ja-JP" altLang="en-US" sz="3200"/>
          </a:p>
        </p:txBody>
      </p:sp>
    </p:spTree>
    <p:extLst>
      <p:ext uri="{BB962C8B-B14F-4D97-AF65-F5344CB8AC3E}">
        <p14:creationId xmlns:p14="http://schemas.microsoft.com/office/powerpoint/2010/main" val="2329401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161FAF-5C82-6D85-262F-F85587AFC3CD}"/>
              </a:ext>
            </a:extLst>
          </p:cNvPr>
          <p:cNvSpPr>
            <a:spLocks noGrp="1"/>
          </p:cNvSpPr>
          <p:nvPr>
            <p:ph type="title"/>
          </p:nvPr>
        </p:nvSpPr>
        <p:spPr/>
        <p:txBody>
          <a:bodyPr>
            <a:normAutofit fontScale="90000"/>
          </a:bodyPr>
          <a:lstStyle/>
          <a:p>
            <a:r>
              <a:rPr kumimoji="1" lang="en-US" altLang="ja-JP" dirty="0"/>
              <a:t>PC</a:t>
            </a:r>
            <a:r>
              <a:rPr kumimoji="1" lang="ja-JP" altLang="en-US"/>
              <a:t>組みました</a:t>
            </a:r>
          </a:p>
        </p:txBody>
      </p:sp>
      <p:pic>
        <p:nvPicPr>
          <p:cNvPr id="4" name="図 3">
            <a:extLst>
              <a:ext uri="{FF2B5EF4-FFF2-40B4-BE49-F238E27FC236}">
                <a16:creationId xmlns:a16="http://schemas.microsoft.com/office/drawing/2014/main" id="{0F1A1BC2-AFF3-05EA-AEFB-786D20DF63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48673" y="1992648"/>
            <a:ext cx="5248124" cy="3936093"/>
          </a:xfrm>
          <a:prstGeom prst="rect">
            <a:avLst/>
          </a:prstGeom>
        </p:spPr>
      </p:pic>
      <p:pic>
        <p:nvPicPr>
          <p:cNvPr id="6" name="図 5">
            <a:extLst>
              <a:ext uri="{FF2B5EF4-FFF2-40B4-BE49-F238E27FC236}">
                <a16:creationId xmlns:a16="http://schemas.microsoft.com/office/drawing/2014/main" id="{807C6AEC-3D1A-206B-DC26-1CBAA9A20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5640464" y="1992647"/>
            <a:ext cx="5248125" cy="3936094"/>
          </a:xfrm>
          <a:prstGeom prst="rect">
            <a:avLst/>
          </a:prstGeom>
        </p:spPr>
      </p:pic>
      <p:sp>
        <p:nvSpPr>
          <p:cNvPr id="7" name="スライド番号プレースホルダー 2">
            <a:extLst>
              <a:ext uri="{FF2B5EF4-FFF2-40B4-BE49-F238E27FC236}">
                <a16:creationId xmlns:a16="http://schemas.microsoft.com/office/drawing/2014/main" id="{3886756D-58E5-FBCC-BFE5-79BA85ABEDAC}"/>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a:t>
            </a:fld>
            <a:endParaRPr lang="ja-JP" altLang="en-US"/>
          </a:p>
        </p:txBody>
      </p:sp>
    </p:spTree>
    <p:extLst>
      <p:ext uri="{BB962C8B-B14F-4D97-AF65-F5344CB8AC3E}">
        <p14:creationId xmlns:p14="http://schemas.microsoft.com/office/powerpoint/2010/main" val="2208033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3090-2E7F-85C2-140A-D8B6417388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23CD6E-4FC4-5007-0008-FBF6F2440C2E}"/>
              </a:ext>
            </a:extLst>
          </p:cNvPr>
          <p:cNvSpPr>
            <a:spLocks noGrp="1"/>
          </p:cNvSpPr>
          <p:nvPr>
            <p:ph type="ctrTitle"/>
          </p:nvPr>
        </p:nvSpPr>
        <p:spPr>
          <a:xfrm>
            <a:off x="579619" y="1227061"/>
            <a:ext cx="11032760" cy="2387600"/>
          </a:xfrm>
        </p:spPr>
        <p:txBody>
          <a:bodyPr>
            <a:normAutofit fontScale="90000"/>
          </a:bodyPr>
          <a:lstStyle/>
          <a:p>
            <a:r>
              <a:rPr lang="ja-JP" altLang="ja-JP" sz="4800" b="1">
                <a:latin typeface="Arial" panose="020B0604020202020204" pitchFamily="34" charset="0"/>
                <a:cs typeface="Arial" panose="020B0604020202020204" pitchFamily="34" charset="0"/>
              </a:rPr>
              <a:t>Bayesian Optimization-Based Design of Diversity and Convergence Characteristics in Genetic Programming</a:t>
            </a:r>
          </a:p>
        </p:txBody>
      </p:sp>
      <p:cxnSp>
        <p:nvCxnSpPr>
          <p:cNvPr id="5" name="直線コネクタ 4">
            <a:extLst>
              <a:ext uri="{FF2B5EF4-FFF2-40B4-BE49-F238E27FC236}">
                <a16:creationId xmlns:a16="http://schemas.microsoft.com/office/drawing/2014/main" id="{E350D25F-25E9-2EE6-6D32-1E038E2535B4}"/>
              </a:ext>
            </a:extLst>
          </p:cNvPr>
          <p:cNvCxnSpPr>
            <a:cxnSpLocks/>
          </p:cNvCxnSpPr>
          <p:nvPr/>
        </p:nvCxnSpPr>
        <p:spPr>
          <a:xfrm>
            <a:off x="-20320" y="4607243"/>
            <a:ext cx="12192000" cy="0"/>
          </a:xfrm>
          <a:prstGeom prst="line">
            <a:avLst/>
          </a:prstGeom>
          <a:ln w="127000"/>
        </p:spPr>
        <p:style>
          <a:lnRef idx="2">
            <a:schemeClr val="accent1"/>
          </a:lnRef>
          <a:fillRef idx="0">
            <a:schemeClr val="accent1"/>
          </a:fillRef>
          <a:effectRef idx="1">
            <a:schemeClr val="accent1"/>
          </a:effectRef>
          <a:fontRef idx="minor">
            <a:schemeClr val="tx1"/>
          </a:fontRef>
        </p:style>
      </p:cxnSp>
      <p:sp>
        <p:nvSpPr>
          <p:cNvPr id="9" name="スライド番号プレースホルダー 8">
            <a:extLst>
              <a:ext uri="{FF2B5EF4-FFF2-40B4-BE49-F238E27FC236}">
                <a16:creationId xmlns:a16="http://schemas.microsoft.com/office/drawing/2014/main" id="{41F173BF-C3CC-1C20-71EF-223039107B77}"/>
              </a:ext>
            </a:extLst>
          </p:cNvPr>
          <p:cNvSpPr>
            <a:spLocks noGrp="1"/>
          </p:cNvSpPr>
          <p:nvPr>
            <p:ph type="sldNum" sz="quarter" idx="12"/>
          </p:nvPr>
        </p:nvSpPr>
        <p:spPr/>
        <p:txBody>
          <a:bodyPr/>
          <a:lstStyle/>
          <a:p>
            <a:fld id="{1D12D973-056E-EB4D-8434-F78A25D16886}" type="slidenum">
              <a:rPr kumimoji="1" lang="ja-JP" altLang="en-US" smtClean="0"/>
              <a:t>3</a:t>
            </a:fld>
            <a:endParaRPr kumimoji="1" lang="ja-JP" altLang="en-US"/>
          </a:p>
        </p:txBody>
      </p:sp>
      <p:sp>
        <p:nvSpPr>
          <p:cNvPr id="3" name="テキスト ボックス 2">
            <a:extLst>
              <a:ext uri="{FF2B5EF4-FFF2-40B4-BE49-F238E27FC236}">
                <a16:creationId xmlns:a16="http://schemas.microsoft.com/office/drawing/2014/main" id="{8A0AB96B-40F0-DFE5-D2AD-F37E0E87FD57}"/>
              </a:ext>
            </a:extLst>
          </p:cNvPr>
          <p:cNvSpPr txBox="1"/>
          <p:nvPr/>
        </p:nvSpPr>
        <p:spPr>
          <a:xfrm>
            <a:off x="258503" y="3796240"/>
            <a:ext cx="11674991" cy="523220"/>
          </a:xfrm>
          <a:prstGeom prst="rect">
            <a:avLst/>
          </a:prstGeom>
          <a:noFill/>
        </p:spPr>
        <p:txBody>
          <a:bodyPr wrap="none" rtlCol="0">
            <a:spAutoFit/>
          </a:bodyPr>
          <a:lstStyle/>
          <a:p>
            <a:r>
              <a:rPr kumimoji="1" lang="ja-JP" altLang="en-US" sz="2800" b="1"/>
              <a:t>ベイズ最適化に基づく遺伝的プログラミングの多様性・収束特性の設計</a:t>
            </a:r>
          </a:p>
        </p:txBody>
      </p:sp>
      <p:sp>
        <p:nvSpPr>
          <p:cNvPr id="4" name="テキスト ボックス 3">
            <a:extLst>
              <a:ext uri="{FF2B5EF4-FFF2-40B4-BE49-F238E27FC236}">
                <a16:creationId xmlns:a16="http://schemas.microsoft.com/office/drawing/2014/main" id="{1B867704-830E-7695-2652-296156D7CA13}"/>
              </a:ext>
            </a:extLst>
          </p:cNvPr>
          <p:cNvSpPr txBox="1"/>
          <p:nvPr/>
        </p:nvSpPr>
        <p:spPr>
          <a:xfrm>
            <a:off x="2290028" y="4788823"/>
            <a:ext cx="7571303" cy="1841017"/>
          </a:xfrm>
          <a:prstGeom prst="rect">
            <a:avLst/>
          </a:prstGeom>
          <a:noFill/>
        </p:spPr>
        <p:txBody>
          <a:bodyPr wrap="none" rtlCol="0">
            <a:spAutoFit/>
          </a:bodyPr>
          <a:lstStyle/>
          <a:p>
            <a:pPr algn="ctr">
              <a:lnSpc>
                <a:spcPct val="120000"/>
              </a:lnSpc>
            </a:pPr>
            <a:r>
              <a:rPr kumimoji="1" lang="ja-JP" altLang="en-US" sz="2400"/>
              <a:t>知能機能システム学位プログラム　博士前期課程２年</a:t>
            </a:r>
            <a:endParaRPr kumimoji="1" lang="en-US" altLang="ja-JP" sz="2400" dirty="0"/>
          </a:p>
          <a:p>
            <a:pPr algn="ctr">
              <a:lnSpc>
                <a:spcPct val="120000"/>
              </a:lnSpc>
            </a:pPr>
            <a:r>
              <a:rPr lang="ja-JP" altLang="en-US" sz="2400"/>
              <a:t>ディジタル制御研究室</a:t>
            </a:r>
            <a:br>
              <a:rPr lang="en-US" altLang="ja-JP" sz="2400" dirty="0"/>
            </a:br>
            <a:r>
              <a:rPr lang="ja-JP" altLang="en-US" sz="2400"/>
              <a:t>指導教員　河合</a:t>
            </a:r>
            <a:r>
              <a:rPr lang="en-US" altLang="ja-JP" sz="2400" dirty="0"/>
              <a:t> </a:t>
            </a:r>
            <a:r>
              <a:rPr lang="ja-JP" altLang="en-US" sz="2400"/>
              <a:t>新</a:t>
            </a:r>
            <a:r>
              <a:rPr lang="en-US" altLang="ja-JP" sz="2400" dirty="0"/>
              <a:t>, </a:t>
            </a:r>
            <a:r>
              <a:rPr lang="ja-JP" altLang="en-US" sz="2400"/>
              <a:t>望山</a:t>
            </a:r>
            <a:r>
              <a:rPr lang="en-US" altLang="ja-JP" sz="2400" dirty="0"/>
              <a:t> </a:t>
            </a:r>
            <a:r>
              <a:rPr lang="ja-JP" altLang="en-US" sz="2400"/>
              <a:t>洋</a:t>
            </a:r>
            <a:r>
              <a:rPr lang="en-US" altLang="ja-JP" sz="2400" dirty="0"/>
              <a:t>, </a:t>
            </a:r>
            <a:r>
              <a:rPr lang="ja-JP" altLang="en-US" sz="2400"/>
              <a:t>延原 肇　</a:t>
            </a:r>
            <a:endParaRPr lang="en-US" altLang="ja-JP" sz="2400" dirty="0"/>
          </a:p>
          <a:p>
            <a:pPr algn="ctr">
              <a:lnSpc>
                <a:spcPct val="120000"/>
              </a:lnSpc>
            </a:pPr>
            <a:r>
              <a:rPr kumimoji="1" lang="en-US" altLang="ja-JP" sz="2400" dirty="0"/>
              <a:t>202520820</a:t>
            </a:r>
            <a:r>
              <a:rPr kumimoji="1" lang="ja-JP" altLang="en-US" sz="2400"/>
              <a:t>　明神</a:t>
            </a:r>
            <a:r>
              <a:rPr kumimoji="1" lang="en-US" altLang="ja-JP" sz="2400" dirty="0"/>
              <a:t> </a:t>
            </a:r>
            <a:r>
              <a:rPr kumimoji="1" lang="ja-JP" altLang="en-US" sz="2400"/>
              <a:t>翔大</a:t>
            </a:r>
          </a:p>
        </p:txBody>
      </p:sp>
    </p:spTree>
    <p:extLst>
      <p:ext uri="{BB962C8B-B14F-4D97-AF65-F5344CB8AC3E}">
        <p14:creationId xmlns:p14="http://schemas.microsoft.com/office/powerpoint/2010/main" val="4037887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3BF9B2-79D6-CFDD-F998-EFE310526A44}"/>
              </a:ext>
            </a:extLst>
          </p:cNvPr>
          <p:cNvSpPr>
            <a:spLocks noGrp="1"/>
          </p:cNvSpPr>
          <p:nvPr>
            <p:ph type="title"/>
          </p:nvPr>
        </p:nvSpPr>
        <p:spPr/>
        <p:txBody>
          <a:bodyPr>
            <a:normAutofit fontScale="90000"/>
          </a:bodyPr>
          <a:lstStyle/>
          <a:p>
            <a:r>
              <a:rPr lang="en-US" altLang="ja-JP" b="1" dirty="0">
                <a:latin typeface="Arial" panose="020B0604020202020204" pitchFamily="34" charset="0"/>
                <a:cs typeface="Arial" panose="020B0604020202020204" pitchFamily="34" charset="0"/>
              </a:rPr>
              <a:t>Introduction</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DBAEE157-A3B7-61FD-4123-BE229CFF729C}"/>
                  </a:ext>
                </a:extLst>
              </p:cNvPr>
              <p:cNvSpPr txBox="1"/>
              <p:nvPr/>
            </p:nvSpPr>
            <p:spPr>
              <a:xfrm>
                <a:off x="3238288" y="2708763"/>
                <a:ext cx="1480598" cy="461665"/>
              </a:xfrm>
              <a:prstGeom prst="rect">
                <a:avLst/>
              </a:prstGeom>
              <a:noFill/>
            </p:spPr>
            <p:txBody>
              <a:bodyPr wrap="none" rtlCol="0">
                <a:spAutoFit/>
              </a:bodyPr>
              <a:lstStyle/>
              <a:p>
                <a:r>
                  <a:rPr kumimoji="1" lang="en-US" altLang="ja-JP" sz="2400" dirty="0">
                    <a:latin typeface="Arial" panose="020B0604020202020204" pitchFamily="34" charset="0"/>
                    <a:cs typeface="Arial" panose="020B0604020202020204" pitchFamily="34" charset="0"/>
                  </a:rPr>
                  <a:t>Find</a:t>
                </a:r>
                <a:r>
                  <a:rPr kumimoji="1" lang="en-US" altLang="ja-JP" sz="2400" dirty="0"/>
                  <a:t> </a:t>
                </a:r>
                <a14:m>
                  <m:oMath xmlns:m="http://schemas.openxmlformats.org/officeDocument/2006/math">
                    <m:r>
                      <a:rPr kumimoji="1" lang="en-US" altLang="ja-JP" sz="2400" b="0" i="1" smtClean="0">
                        <a:latin typeface="Cambria Math" panose="02040503050406030204" pitchFamily="18" charset="0"/>
                      </a:rPr>
                      <m:t>𝑓</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𝑥</m:t>
                    </m:r>
                    <m:r>
                      <a:rPr kumimoji="1" lang="en-US" altLang="ja-JP" sz="2400" b="0" i="1" smtClean="0">
                        <a:latin typeface="Cambria Math" panose="02040503050406030204" pitchFamily="18" charset="0"/>
                      </a:rPr>
                      <m:t>)</m:t>
                    </m:r>
                  </m:oMath>
                </a14:m>
                <a:endParaRPr kumimoji="1" lang="ja-JP" altLang="en-US" sz="2400"/>
              </a:p>
            </p:txBody>
          </p:sp>
        </mc:Choice>
        <mc:Fallback xmlns="">
          <p:sp>
            <p:nvSpPr>
              <p:cNvPr id="55" name="テキスト ボックス 54">
                <a:extLst>
                  <a:ext uri="{FF2B5EF4-FFF2-40B4-BE49-F238E27FC236}">
                    <a16:creationId xmlns:a16="http://schemas.microsoft.com/office/drawing/2014/main" id="{DBAEE157-A3B7-61FD-4123-BE229CFF729C}"/>
                  </a:ext>
                </a:extLst>
              </p:cNvPr>
              <p:cNvSpPr txBox="1">
                <a:spLocks noRot="1" noChangeAspect="1" noMove="1" noResize="1" noEditPoints="1" noAdjustHandles="1" noChangeArrowheads="1" noChangeShapeType="1" noTextEdit="1"/>
              </p:cNvSpPr>
              <p:nvPr/>
            </p:nvSpPr>
            <p:spPr>
              <a:xfrm>
                <a:off x="3238288" y="2708763"/>
                <a:ext cx="1480598" cy="461665"/>
              </a:xfrm>
              <a:prstGeom prst="rect">
                <a:avLst/>
              </a:prstGeom>
              <a:blipFill>
                <a:blip r:embed="rId3"/>
                <a:stretch>
                  <a:fillRect l="-5932" t="-13514" r="-2542" b="-24324"/>
                </a:stretch>
              </a:blipFill>
            </p:spPr>
            <p:txBody>
              <a:bodyPr/>
              <a:lstStyle/>
              <a:p>
                <a:r>
                  <a:rPr lang="ja-JP" altLang="en-US">
                    <a:noFill/>
                  </a:rPr>
                  <a:t> </a:t>
                </a:r>
              </a:p>
            </p:txBody>
          </p:sp>
        </mc:Fallback>
      </mc:AlternateContent>
      <p:grpSp>
        <p:nvGrpSpPr>
          <p:cNvPr id="104" name="グループ化 103">
            <a:extLst>
              <a:ext uri="{FF2B5EF4-FFF2-40B4-BE49-F238E27FC236}">
                <a16:creationId xmlns:a16="http://schemas.microsoft.com/office/drawing/2014/main" id="{D3E0484F-7664-18AF-9D90-3B1AFD2A0644}"/>
              </a:ext>
            </a:extLst>
          </p:cNvPr>
          <p:cNvGrpSpPr/>
          <p:nvPr/>
        </p:nvGrpSpPr>
        <p:grpSpPr>
          <a:xfrm>
            <a:off x="5684932" y="2053180"/>
            <a:ext cx="3008671" cy="1668561"/>
            <a:chOff x="6221824" y="2028090"/>
            <a:chExt cx="1875746" cy="1039648"/>
          </a:xfrm>
        </p:grpSpPr>
        <p:cxnSp>
          <p:nvCxnSpPr>
            <p:cNvPr id="67" name="直線コネクタ 66">
              <a:extLst>
                <a:ext uri="{FF2B5EF4-FFF2-40B4-BE49-F238E27FC236}">
                  <a16:creationId xmlns:a16="http://schemas.microsoft.com/office/drawing/2014/main" id="{D9C64DED-881B-945C-8E8C-135962C8C7E7}"/>
                </a:ext>
              </a:extLst>
            </p:cNvPr>
            <p:cNvCxnSpPr>
              <a:cxnSpLocks/>
            </p:cNvCxnSpPr>
            <p:nvPr/>
          </p:nvCxnSpPr>
          <p:spPr>
            <a:xfrm>
              <a:off x="7151077" y="2045592"/>
              <a:ext cx="474438" cy="354765"/>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1" name="直線コネクタ 70">
              <a:extLst>
                <a:ext uri="{FF2B5EF4-FFF2-40B4-BE49-F238E27FC236}">
                  <a16:creationId xmlns:a16="http://schemas.microsoft.com/office/drawing/2014/main" id="{60A603C7-9BEE-D243-6401-AE7E5426C8B6}"/>
                </a:ext>
              </a:extLst>
            </p:cNvPr>
            <p:cNvCxnSpPr>
              <a:cxnSpLocks/>
            </p:cNvCxnSpPr>
            <p:nvPr/>
          </p:nvCxnSpPr>
          <p:spPr>
            <a:xfrm flipH="1">
              <a:off x="6688362" y="2045592"/>
              <a:ext cx="474438" cy="354765"/>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2" name="直線コネクタ 71">
              <a:extLst>
                <a:ext uri="{FF2B5EF4-FFF2-40B4-BE49-F238E27FC236}">
                  <a16:creationId xmlns:a16="http://schemas.microsoft.com/office/drawing/2014/main" id="{09473911-DFF8-58F9-D321-A602B815366F}"/>
                </a:ext>
              </a:extLst>
            </p:cNvPr>
            <p:cNvCxnSpPr>
              <a:cxnSpLocks/>
            </p:cNvCxnSpPr>
            <p:nvPr/>
          </p:nvCxnSpPr>
          <p:spPr>
            <a:xfrm flipH="1">
              <a:off x="6330462" y="2397482"/>
              <a:ext cx="357900"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5" name="直線コネクタ 74">
              <a:extLst>
                <a:ext uri="{FF2B5EF4-FFF2-40B4-BE49-F238E27FC236}">
                  <a16:creationId xmlns:a16="http://schemas.microsoft.com/office/drawing/2014/main" id="{9961D96D-FE86-15DC-50FD-F232FC48E82A}"/>
                </a:ext>
              </a:extLst>
            </p:cNvPr>
            <p:cNvCxnSpPr>
              <a:cxnSpLocks/>
            </p:cNvCxnSpPr>
            <p:nvPr/>
          </p:nvCxnSpPr>
          <p:spPr>
            <a:xfrm>
              <a:off x="7625515" y="2397482"/>
              <a:ext cx="357900"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6" name="直線コネクタ 75">
              <a:extLst>
                <a:ext uri="{FF2B5EF4-FFF2-40B4-BE49-F238E27FC236}">
                  <a16:creationId xmlns:a16="http://schemas.microsoft.com/office/drawing/2014/main" id="{F8F456B4-4783-9D9B-11AE-A4A61F57743F}"/>
                </a:ext>
              </a:extLst>
            </p:cNvPr>
            <p:cNvCxnSpPr>
              <a:cxnSpLocks/>
            </p:cNvCxnSpPr>
            <p:nvPr/>
          </p:nvCxnSpPr>
          <p:spPr>
            <a:xfrm>
              <a:off x="6687669"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2" name="直線コネクタ 81">
              <a:extLst>
                <a:ext uri="{FF2B5EF4-FFF2-40B4-BE49-F238E27FC236}">
                  <a16:creationId xmlns:a16="http://schemas.microsoft.com/office/drawing/2014/main" id="{C05B09BB-C9EA-186B-C5AE-157E6778BC0E}"/>
                </a:ext>
              </a:extLst>
            </p:cNvPr>
            <p:cNvCxnSpPr>
              <a:cxnSpLocks/>
            </p:cNvCxnSpPr>
            <p:nvPr/>
          </p:nvCxnSpPr>
          <p:spPr>
            <a:xfrm>
              <a:off x="6323394" y="2844991"/>
              <a:ext cx="16600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5" name="直線コネクタ 84">
              <a:extLst>
                <a:ext uri="{FF2B5EF4-FFF2-40B4-BE49-F238E27FC236}">
                  <a16:creationId xmlns:a16="http://schemas.microsoft.com/office/drawing/2014/main" id="{08CFD44F-20AE-D8D4-D00E-8A526A5B7C0B}"/>
                </a:ext>
              </a:extLst>
            </p:cNvPr>
            <p:cNvCxnSpPr>
              <a:cxnSpLocks/>
            </p:cNvCxnSpPr>
            <p:nvPr/>
          </p:nvCxnSpPr>
          <p:spPr>
            <a:xfrm flipH="1">
              <a:off x="6922130"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8" name="直線コネクタ 87">
              <a:extLst>
                <a:ext uri="{FF2B5EF4-FFF2-40B4-BE49-F238E27FC236}">
                  <a16:creationId xmlns:a16="http://schemas.microsoft.com/office/drawing/2014/main" id="{EA68495C-8695-05AA-B414-4FE6E65EAC09}"/>
                </a:ext>
              </a:extLst>
            </p:cNvPr>
            <p:cNvCxnSpPr>
              <a:cxnSpLocks/>
            </p:cNvCxnSpPr>
            <p:nvPr/>
          </p:nvCxnSpPr>
          <p:spPr>
            <a:xfrm>
              <a:off x="7144869"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9" name="直線コネクタ 88">
              <a:extLst>
                <a:ext uri="{FF2B5EF4-FFF2-40B4-BE49-F238E27FC236}">
                  <a16:creationId xmlns:a16="http://schemas.microsoft.com/office/drawing/2014/main" id="{D2E9BE19-0B16-AF11-CC5B-D55976BB2668}"/>
                </a:ext>
              </a:extLst>
            </p:cNvPr>
            <p:cNvCxnSpPr>
              <a:cxnSpLocks/>
            </p:cNvCxnSpPr>
            <p:nvPr/>
          </p:nvCxnSpPr>
          <p:spPr>
            <a:xfrm flipH="1">
              <a:off x="7379330"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1" name="直線コネクタ 90">
              <a:extLst>
                <a:ext uri="{FF2B5EF4-FFF2-40B4-BE49-F238E27FC236}">
                  <a16:creationId xmlns:a16="http://schemas.microsoft.com/office/drawing/2014/main" id="{47EC0EB3-0F86-4F30-3E73-9587DDBB0F6E}"/>
                </a:ext>
              </a:extLst>
            </p:cNvPr>
            <p:cNvCxnSpPr>
              <a:cxnSpLocks/>
            </p:cNvCxnSpPr>
            <p:nvPr/>
          </p:nvCxnSpPr>
          <p:spPr>
            <a:xfrm>
              <a:off x="7144869" y="2045592"/>
              <a:ext cx="0" cy="363417"/>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4" name="円/楕円 93">
              <a:extLst>
                <a:ext uri="{FF2B5EF4-FFF2-40B4-BE49-F238E27FC236}">
                  <a16:creationId xmlns:a16="http://schemas.microsoft.com/office/drawing/2014/main" id="{BB1E73BF-5F5B-F2A8-DB6A-DEAB923092F0}"/>
                </a:ext>
              </a:extLst>
            </p:cNvPr>
            <p:cNvSpPr/>
            <p:nvPr/>
          </p:nvSpPr>
          <p:spPr>
            <a:xfrm>
              <a:off x="7097974" y="2028090"/>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円/楕円 94">
              <a:extLst>
                <a:ext uri="{FF2B5EF4-FFF2-40B4-BE49-F238E27FC236}">
                  <a16:creationId xmlns:a16="http://schemas.microsoft.com/office/drawing/2014/main" id="{299EC13D-EC97-4E06-ECAF-F55F060F78C2}"/>
                </a:ext>
              </a:extLst>
            </p:cNvPr>
            <p:cNvSpPr/>
            <p:nvPr/>
          </p:nvSpPr>
          <p:spPr>
            <a:xfrm>
              <a:off x="7097975" y="2368058"/>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a:extLst>
                <a:ext uri="{FF2B5EF4-FFF2-40B4-BE49-F238E27FC236}">
                  <a16:creationId xmlns:a16="http://schemas.microsoft.com/office/drawing/2014/main" id="{B79E9FC3-36AC-012D-F1D5-B4D6718B45B3}"/>
                </a:ext>
              </a:extLst>
            </p:cNvPr>
            <p:cNvSpPr/>
            <p:nvPr/>
          </p:nvSpPr>
          <p:spPr>
            <a:xfrm>
              <a:off x="7566895" y="2368058"/>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円/楕円 96">
              <a:extLst>
                <a:ext uri="{FF2B5EF4-FFF2-40B4-BE49-F238E27FC236}">
                  <a16:creationId xmlns:a16="http://schemas.microsoft.com/office/drawing/2014/main" id="{2CF50931-F598-73AD-AC5A-900BFA534D88}"/>
                </a:ext>
              </a:extLst>
            </p:cNvPr>
            <p:cNvSpPr/>
            <p:nvPr/>
          </p:nvSpPr>
          <p:spPr>
            <a:xfrm>
              <a:off x="6629052" y="2368058"/>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円/楕円 97">
              <a:extLst>
                <a:ext uri="{FF2B5EF4-FFF2-40B4-BE49-F238E27FC236}">
                  <a16:creationId xmlns:a16="http://schemas.microsoft.com/office/drawing/2014/main" id="{BD12A04B-1F12-2A0D-8006-4B9E44D068BC}"/>
                </a:ext>
              </a:extLst>
            </p:cNvPr>
            <p:cNvSpPr/>
            <p:nvPr/>
          </p:nvSpPr>
          <p:spPr>
            <a:xfrm>
              <a:off x="6300809"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円/楕円 98">
              <a:extLst>
                <a:ext uri="{FF2B5EF4-FFF2-40B4-BE49-F238E27FC236}">
                  <a16:creationId xmlns:a16="http://schemas.microsoft.com/office/drawing/2014/main" id="{7BE95BCA-5EE7-2DD3-FA1A-920BC7BF1092}"/>
                </a:ext>
              </a:extLst>
            </p:cNvPr>
            <p:cNvSpPr/>
            <p:nvPr/>
          </p:nvSpPr>
          <p:spPr>
            <a:xfrm>
              <a:off x="6863517"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円/楕円 99">
              <a:extLst>
                <a:ext uri="{FF2B5EF4-FFF2-40B4-BE49-F238E27FC236}">
                  <a16:creationId xmlns:a16="http://schemas.microsoft.com/office/drawing/2014/main" id="{DACAFA0B-F604-BDB0-547A-0D97EFD62092}"/>
                </a:ext>
              </a:extLst>
            </p:cNvPr>
            <p:cNvSpPr/>
            <p:nvPr/>
          </p:nvSpPr>
          <p:spPr>
            <a:xfrm>
              <a:off x="7332440"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円/楕円 100">
              <a:extLst>
                <a:ext uri="{FF2B5EF4-FFF2-40B4-BE49-F238E27FC236}">
                  <a16:creationId xmlns:a16="http://schemas.microsoft.com/office/drawing/2014/main" id="{A57128B7-EBD3-865B-A99E-838CB0EB96BC}"/>
                </a:ext>
              </a:extLst>
            </p:cNvPr>
            <p:cNvSpPr/>
            <p:nvPr/>
          </p:nvSpPr>
          <p:spPr>
            <a:xfrm>
              <a:off x="7906870"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三角形 101">
              <a:extLst>
                <a:ext uri="{FF2B5EF4-FFF2-40B4-BE49-F238E27FC236}">
                  <a16:creationId xmlns:a16="http://schemas.microsoft.com/office/drawing/2014/main" id="{0765D47C-2616-00FE-600C-C6552F302AB3}"/>
                </a:ext>
              </a:extLst>
            </p:cNvPr>
            <p:cNvSpPr/>
            <p:nvPr/>
          </p:nvSpPr>
          <p:spPr>
            <a:xfrm>
              <a:off x="6221824" y="2893525"/>
              <a:ext cx="269685" cy="174213"/>
            </a:xfrm>
            <a:prstGeom prst="triangl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三角形 102">
              <a:extLst>
                <a:ext uri="{FF2B5EF4-FFF2-40B4-BE49-F238E27FC236}">
                  <a16:creationId xmlns:a16="http://schemas.microsoft.com/office/drawing/2014/main" id="{A4C6F87D-0311-2AEB-C9F1-C6E5D99FD01D}"/>
                </a:ext>
              </a:extLst>
            </p:cNvPr>
            <p:cNvSpPr/>
            <p:nvPr/>
          </p:nvSpPr>
          <p:spPr>
            <a:xfrm>
              <a:off x="7827885" y="2893525"/>
              <a:ext cx="269685" cy="174213"/>
            </a:xfrm>
            <a:prstGeom prst="triangl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5" name="テキスト ボックス 104">
            <a:extLst>
              <a:ext uri="{FF2B5EF4-FFF2-40B4-BE49-F238E27FC236}">
                <a16:creationId xmlns:a16="http://schemas.microsoft.com/office/drawing/2014/main" id="{599F74FA-6CB3-D918-26E5-21DBAC31CC94}"/>
              </a:ext>
            </a:extLst>
          </p:cNvPr>
          <p:cNvSpPr txBox="1"/>
          <p:nvPr/>
        </p:nvSpPr>
        <p:spPr>
          <a:xfrm>
            <a:off x="9078630" y="2456784"/>
            <a:ext cx="1358898" cy="937949"/>
          </a:xfrm>
          <a:prstGeom prst="rect">
            <a:avLst/>
          </a:prstGeom>
          <a:noFill/>
        </p:spPr>
        <p:txBody>
          <a:bodyPr wrap="none" rtlCol="0">
            <a:spAutoFit/>
          </a:bodyPr>
          <a:lstStyle/>
          <a:p>
            <a:pPr>
              <a:lnSpc>
                <a:spcPct val="120000"/>
              </a:lnSpc>
            </a:pPr>
            <a:r>
              <a:rPr lang="en-US" altLang="ja-JP" sz="2400" dirty="0">
                <a:latin typeface="Arial" panose="020B0604020202020204" pitchFamily="34" charset="0"/>
                <a:cs typeface="Arial" panose="020B0604020202020204" pitchFamily="34" charset="0"/>
              </a:rPr>
              <a:t>W</a:t>
            </a:r>
            <a:r>
              <a:rPr kumimoji="1" lang="en-US" altLang="ja-JP" sz="2400" dirty="0">
                <a:latin typeface="Arial" panose="020B0604020202020204" pitchFamily="34" charset="0"/>
                <a:cs typeface="Arial" panose="020B0604020202020204" pitchFamily="34" charset="0"/>
              </a:rPr>
              <a:t>eight</a:t>
            </a:r>
            <a:br>
              <a:rPr kumimoji="1" lang="en-US" altLang="ja-JP" sz="2400" dirty="0">
                <a:latin typeface="Arial" panose="020B0604020202020204" pitchFamily="34" charset="0"/>
                <a:cs typeface="Arial" panose="020B0604020202020204" pitchFamily="34" charset="0"/>
              </a:rPr>
            </a:br>
            <a:r>
              <a:rPr kumimoji="1" lang="en-US" altLang="ja-JP" sz="2400" dirty="0">
                <a:latin typeface="Arial" panose="020B0604020202020204" pitchFamily="34" charset="0"/>
                <a:cs typeface="Arial" panose="020B0604020202020204" pitchFamily="34" charset="0"/>
              </a:rPr>
              <a:t>Stiffness</a:t>
            </a:r>
            <a:endParaRPr kumimoji="1" lang="ja-JP" altLang="en-US" sz="2400">
              <a:latin typeface="Arial" panose="020B0604020202020204" pitchFamily="34" charset="0"/>
              <a:cs typeface="Arial" panose="020B0604020202020204" pitchFamily="34" charset="0"/>
            </a:endParaRPr>
          </a:p>
        </p:txBody>
      </p:sp>
      <p:sp>
        <p:nvSpPr>
          <p:cNvPr id="106" name="下矢印 105">
            <a:extLst>
              <a:ext uri="{FF2B5EF4-FFF2-40B4-BE49-F238E27FC236}">
                <a16:creationId xmlns:a16="http://schemas.microsoft.com/office/drawing/2014/main" id="{8E0EE4A5-03CA-AB81-62CB-502895E0D08B}"/>
              </a:ext>
            </a:extLst>
          </p:cNvPr>
          <p:cNvSpPr/>
          <p:nvPr/>
        </p:nvSpPr>
        <p:spPr>
          <a:xfrm>
            <a:off x="10625992" y="2563239"/>
            <a:ext cx="193797" cy="282993"/>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下矢印 106">
            <a:extLst>
              <a:ext uri="{FF2B5EF4-FFF2-40B4-BE49-F238E27FC236}">
                <a16:creationId xmlns:a16="http://schemas.microsoft.com/office/drawing/2014/main" id="{324F9BC0-0512-89A3-55F0-CF951DAB3BF3}"/>
              </a:ext>
            </a:extLst>
          </p:cNvPr>
          <p:cNvSpPr/>
          <p:nvPr/>
        </p:nvSpPr>
        <p:spPr>
          <a:xfrm flipV="1">
            <a:off x="10625992" y="3032563"/>
            <a:ext cx="193797" cy="282993"/>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3" name="グループ化 112">
            <a:extLst>
              <a:ext uri="{FF2B5EF4-FFF2-40B4-BE49-F238E27FC236}">
                <a16:creationId xmlns:a16="http://schemas.microsoft.com/office/drawing/2014/main" id="{F37CDE57-7416-F30C-F703-D238060DEDDE}"/>
              </a:ext>
            </a:extLst>
          </p:cNvPr>
          <p:cNvGrpSpPr/>
          <p:nvPr/>
        </p:nvGrpSpPr>
        <p:grpSpPr>
          <a:xfrm>
            <a:off x="496129" y="1762110"/>
            <a:ext cx="2688647" cy="2176844"/>
            <a:chOff x="496129" y="1762110"/>
            <a:chExt cx="2688647" cy="2223280"/>
          </a:xfrm>
        </p:grpSpPr>
        <p:grpSp>
          <p:nvGrpSpPr>
            <p:cNvPr id="54" name="グループ化 53">
              <a:extLst>
                <a:ext uri="{FF2B5EF4-FFF2-40B4-BE49-F238E27FC236}">
                  <a16:creationId xmlns:a16="http://schemas.microsoft.com/office/drawing/2014/main" id="{2F5DD514-A4D5-D3A3-154C-99419B31E2E7}"/>
                </a:ext>
              </a:extLst>
            </p:cNvPr>
            <p:cNvGrpSpPr/>
            <p:nvPr/>
          </p:nvGrpSpPr>
          <p:grpSpPr>
            <a:xfrm>
              <a:off x="641112" y="2088348"/>
              <a:ext cx="2203224" cy="1757221"/>
              <a:chOff x="856501" y="3108256"/>
              <a:chExt cx="2203224" cy="1757221"/>
            </a:xfrm>
          </p:grpSpPr>
          <p:grpSp>
            <p:nvGrpSpPr>
              <p:cNvPr id="28" name="グループ化 27">
                <a:extLst>
                  <a:ext uri="{FF2B5EF4-FFF2-40B4-BE49-F238E27FC236}">
                    <a16:creationId xmlns:a16="http://schemas.microsoft.com/office/drawing/2014/main" id="{69E7D33B-5722-37BC-9B79-6C4862E4C1CB}"/>
                  </a:ext>
                </a:extLst>
              </p:cNvPr>
              <p:cNvGrpSpPr/>
              <p:nvPr/>
            </p:nvGrpSpPr>
            <p:grpSpPr>
              <a:xfrm>
                <a:off x="856501" y="3108256"/>
                <a:ext cx="2203224" cy="1757221"/>
                <a:chOff x="857959" y="2228426"/>
                <a:chExt cx="3369367" cy="2702246"/>
              </a:xfrm>
            </p:grpSpPr>
            <p:sp>
              <p:nvSpPr>
                <p:cNvPr id="6" name="Line 18">
                  <a:extLst>
                    <a:ext uri="{FF2B5EF4-FFF2-40B4-BE49-F238E27FC236}">
                      <a16:creationId xmlns:a16="http://schemas.microsoft.com/office/drawing/2014/main" id="{0B1DD83D-0397-1598-2A6A-EEAC956BE474}"/>
                    </a:ext>
                  </a:extLst>
                </p:cNvPr>
                <p:cNvSpPr/>
                <p:nvPr/>
              </p:nvSpPr>
              <p:spPr>
                <a:xfrm flipV="1">
                  <a:off x="857962" y="4922277"/>
                  <a:ext cx="3369364" cy="8395"/>
                </a:xfrm>
                <a:prstGeom prst="line">
                  <a:avLst/>
                </a:prstGeom>
                <a:ln w="12000">
                  <a:solidFill>
                    <a:srgbClr val="252A2D"/>
                  </a:solidFill>
                  <a:tailEnd type="triangle"/>
                </a:ln>
              </p:spPr>
              <p:txBody>
                <a:bodyPr/>
                <a:lstStyle/>
                <a:p>
                  <a:endParaRPr/>
                </a:p>
              </p:txBody>
            </p:sp>
            <p:sp>
              <p:nvSpPr>
                <p:cNvPr id="9" name="Line 18">
                  <a:extLst>
                    <a:ext uri="{FF2B5EF4-FFF2-40B4-BE49-F238E27FC236}">
                      <a16:creationId xmlns:a16="http://schemas.microsoft.com/office/drawing/2014/main" id="{1EEBDC1A-7076-1807-9205-E6B622F8DB80}"/>
                    </a:ext>
                  </a:extLst>
                </p:cNvPr>
                <p:cNvSpPr/>
                <p:nvPr/>
              </p:nvSpPr>
              <p:spPr>
                <a:xfrm rot="16200000">
                  <a:off x="-489483" y="3575868"/>
                  <a:ext cx="2702243" cy="7359"/>
                </a:xfrm>
                <a:prstGeom prst="line">
                  <a:avLst/>
                </a:prstGeom>
                <a:ln w="12000">
                  <a:solidFill>
                    <a:srgbClr val="252A2D"/>
                  </a:solidFill>
                  <a:tailEnd type="triangle"/>
                </a:ln>
              </p:spPr>
              <p:txBody>
                <a:bodyPr/>
                <a:lstStyle/>
                <a:p>
                  <a:endParaRPr/>
                </a:p>
              </p:txBody>
            </p:sp>
          </p:grpSp>
          <p:grpSp>
            <p:nvGrpSpPr>
              <p:cNvPr id="53" name="グループ化 52">
                <a:extLst>
                  <a:ext uri="{FF2B5EF4-FFF2-40B4-BE49-F238E27FC236}">
                    <a16:creationId xmlns:a16="http://schemas.microsoft.com/office/drawing/2014/main" id="{F297EE8F-8A7E-A824-88CE-21CA30E65A0D}"/>
                  </a:ext>
                </a:extLst>
              </p:cNvPr>
              <p:cNvGrpSpPr/>
              <p:nvPr/>
            </p:nvGrpSpPr>
            <p:grpSpPr>
              <a:xfrm>
                <a:off x="921248" y="3255321"/>
                <a:ext cx="2138476" cy="1380645"/>
                <a:chOff x="921247" y="3255321"/>
                <a:chExt cx="2225981" cy="1380645"/>
              </a:xfrm>
            </p:grpSpPr>
            <p:sp>
              <p:nvSpPr>
                <p:cNvPr id="19" name="Shape 23">
                  <a:extLst>
                    <a:ext uri="{FF2B5EF4-FFF2-40B4-BE49-F238E27FC236}">
                      <a16:creationId xmlns:a16="http://schemas.microsoft.com/office/drawing/2014/main" id="{51FAF9C6-C81D-03FE-58FE-5633492FA3F7}"/>
                    </a:ext>
                  </a:extLst>
                </p:cNvPr>
                <p:cNvSpPr/>
                <p:nvPr/>
              </p:nvSpPr>
              <p:spPr>
                <a:xfrm flipV="1">
                  <a:off x="921247" y="4288925"/>
                  <a:ext cx="118872" cy="118872"/>
                </a:xfrm>
                <a:prstGeom prst="roundRect">
                  <a:avLst/>
                </a:prstGeom>
                <a:solidFill>
                  <a:schemeClr val="accent1">
                    <a:lumMod val="40000"/>
                    <a:lumOff val="60000"/>
                  </a:schemeClr>
                </a:solidFill>
                <a:ln>
                  <a:noFill/>
                </a:ln>
              </p:spPr>
              <p:txBody>
                <a:bodyPr/>
                <a:lstStyle/>
                <a:p>
                  <a:endParaRPr dirty="0"/>
                </a:p>
              </p:txBody>
            </p:sp>
            <p:sp>
              <p:nvSpPr>
                <p:cNvPr id="20" name="Shape 23">
                  <a:extLst>
                    <a:ext uri="{FF2B5EF4-FFF2-40B4-BE49-F238E27FC236}">
                      <a16:creationId xmlns:a16="http://schemas.microsoft.com/office/drawing/2014/main" id="{7451DB7D-2CAE-901B-4BBE-487304F53107}"/>
                    </a:ext>
                  </a:extLst>
                </p:cNvPr>
                <p:cNvSpPr/>
                <p:nvPr/>
              </p:nvSpPr>
              <p:spPr>
                <a:xfrm flipV="1">
                  <a:off x="1138040" y="4007937"/>
                  <a:ext cx="118872" cy="118872"/>
                </a:xfrm>
                <a:prstGeom prst="roundRect">
                  <a:avLst/>
                </a:prstGeom>
                <a:solidFill>
                  <a:schemeClr val="accent1">
                    <a:lumMod val="40000"/>
                    <a:lumOff val="60000"/>
                  </a:schemeClr>
                </a:solidFill>
                <a:ln>
                  <a:noFill/>
                </a:ln>
              </p:spPr>
              <p:txBody>
                <a:bodyPr/>
                <a:lstStyle/>
                <a:p>
                  <a:endParaRPr dirty="0"/>
                </a:p>
              </p:txBody>
            </p:sp>
            <p:sp>
              <p:nvSpPr>
                <p:cNvPr id="21" name="Shape 23">
                  <a:extLst>
                    <a:ext uri="{FF2B5EF4-FFF2-40B4-BE49-F238E27FC236}">
                      <a16:creationId xmlns:a16="http://schemas.microsoft.com/office/drawing/2014/main" id="{719D896F-07EE-310B-0467-C02F6D6F5F22}"/>
                    </a:ext>
                  </a:extLst>
                </p:cNvPr>
                <p:cNvSpPr/>
                <p:nvPr/>
              </p:nvSpPr>
              <p:spPr>
                <a:xfrm flipV="1">
                  <a:off x="1315138" y="4093365"/>
                  <a:ext cx="118872" cy="118872"/>
                </a:xfrm>
                <a:prstGeom prst="roundRect">
                  <a:avLst/>
                </a:prstGeom>
                <a:solidFill>
                  <a:schemeClr val="accent1">
                    <a:lumMod val="40000"/>
                    <a:lumOff val="60000"/>
                  </a:schemeClr>
                </a:solidFill>
                <a:ln>
                  <a:noFill/>
                </a:ln>
              </p:spPr>
              <p:txBody>
                <a:bodyPr/>
                <a:lstStyle/>
                <a:p>
                  <a:endParaRPr dirty="0"/>
                </a:p>
              </p:txBody>
            </p:sp>
            <p:sp>
              <p:nvSpPr>
                <p:cNvPr id="22" name="Shape 23">
                  <a:extLst>
                    <a:ext uri="{FF2B5EF4-FFF2-40B4-BE49-F238E27FC236}">
                      <a16:creationId xmlns:a16="http://schemas.microsoft.com/office/drawing/2014/main" id="{D553AAD5-C4F6-096B-0F8F-D75F317020D7}"/>
                    </a:ext>
                  </a:extLst>
                </p:cNvPr>
                <p:cNvSpPr/>
                <p:nvPr/>
              </p:nvSpPr>
              <p:spPr>
                <a:xfrm flipV="1">
                  <a:off x="1315138" y="3831371"/>
                  <a:ext cx="118872" cy="118872"/>
                </a:xfrm>
                <a:prstGeom prst="roundRect">
                  <a:avLst/>
                </a:prstGeom>
                <a:solidFill>
                  <a:schemeClr val="accent1">
                    <a:lumMod val="40000"/>
                    <a:lumOff val="60000"/>
                  </a:schemeClr>
                </a:solidFill>
                <a:ln>
                  <a:noFill/>
                </a:ln>
              </p:spPr>
              <p:txBody>
                <a:bodyPr/>
                <a:lstStyle/>
                <a:p>
                  <a:endParaRPr dirty="0"/>
                </a:p>
              </p:txBody>
            </p:sp>
            <p:sp>
              <p:nvSpPr>
                <p:cNvPr id="23" name="Shape 23">
                  <a:extLst>
                    <a:ext uri="{FF2B5EF4-FFF2-40B4-BE49-F238E27FC236}">
                      <a16:creationId xmlns:a16="http://schemas.microsoft.com/office/drawing/2014/main" id="{FAC64A40-5699-18DF-08F2-3478E0FE8D68}"/>
                    </a:ext>
                  </a:extLst>
                </p:cNvPr>
                <p:cNvSpPr/>
                <p:nvPr/>
              </p:nvSpPr>
              <p:spPr>
                <a:xfrm flipV="1">
                  <a:off x="1480902" y="3677330"/>
                  <a:ext cx="118872" cy="118872"/>
                </a:xfrm>
                <a:prstGeom prst="roundRect">
                  <a:avLst/>
                </a:prstGeom>
                <a:solidFill>
                  <a:schemeClr val="accent1">
                    <a:lumMod val="40000"/>
                    <a:lumOff val="60000"/>
                  </a:schemeClr>
                </a:solidFill>
                <a:ln>
                  <a:noFill/>
                </a:ln>
              </p:spPr>
              <p:txBody>
                <a:bodyPr/>
                <a:lstStyle/>
                <a:p>
                  <a:endParaRPr dirty="0"/>
                </a:p>
              </p:txBody>
            </p:sp>
            <p:sp>
              <p:nvSpPr>
                <p:cNvPr id="24" name="Shape 23">
                  <a:extLst>
                    <a:ext uri="{FF2B5EF4-FFF2-40B4-BE49-F238E27FC236}">
                      <a16:creationId xmlns:a16="http://schemas.microsoft.com/office/drawing/2014/main" id="{6C5C5413-29A3-5B4B-EA7B-61058CBF5ED7}"/>
                    </a:ext>
                  </a:extLst>
                </p:cNvPr>
                <p:cNvSpPr/>
                <p:nvPr/>
              </p:nvSpPr>
              <p:spPr>
                <a:xfrm flipV="1">
                  <a:off x="1005822" y="4517094"/>
                  <a:ext cx="118872" cy="118872"/>
                </a:xfrm>
                <a:prstGeom prst="roundRect">
                  <a:avLst/>
                </a:prstGeom>
                <a:solidFill>
                  <a:schemeClr val="accent1">
                    <a:lumMod val="40000"/>
                    <a:lumOff val="60000"/>
                  </a:schemeClr>
                </a:solidFill>
                <a:ln>
                  <a:noFill/>
                </a:ln>
              </p:spPr>
              <p:txBody>
                <a:bodyPr/>
                <a:lstStyle/>
                <a:p>
                  <a:endParaRPr dirty="0"/>
                </a:p>
              </p:txBody>
            </p:sp>
            <p:sp>
              <p:nvSpPr>
                <p:cNvPr id="25" name="Shape 23">
                  <a:extLst>
                    <a:ext uri="{FF2B5EF4-FFF2-40B4-BE49-F238E27FC236}">
                      <a16:creationId xmlns:a16="http://schemas.microsoft.com/office/drawing/2014/main" id="{C22842F0-1FDE-A7C2-ADE4-17DD5EB5A3A8}"/>
                    </a:ext>
                  </a:extLst>
                </p:cNvPr>
                <p:cNvSpPr/>
                <p:nvPr/>
              </p:nvSpPr>
              <p:spPr>
                <a:xfrm flipV="1">
                  <a:off x="1103404" y="4229489"/>
                  <a:ext cx="118872" cy="118872"/>
                </a:xfrm>
                <a:prstGeom prst="roundRect">
                  <a:avLst/>
                </a:prstGeom>
                <a:solidFill>
                  <a:schemeClr val="accent1">
                    <a:lumMod val="40000"/>
                    <a:lumOff val="60000"/>
                  </a:schemeClr>
                </a:solidFill>
                <a:ln>
                  <a:noFill/>
                </a:ln>
              </p:spPr>
              <p:txBody>
                <a:bodyPr/>
                <a:lstStyle/>
                <a:p>
                  <a:endParaRPr dirty="0"/>
                </a:p>
              </p:txBody>
            </p:sp>
            <p:sp>
              <p:nvSpPr>
                <p:cNvPr id="30" name="Shape 23">
                  <a:extLst>
                    <a:ext uri="{FF2B5EF4-FFF2-40B4-BE49-F238E27FC236}">
                      <a16:creationId xmlns:a16="http://schemas.microsoft.com/office/drawing/2014/main" id="{82FF9F6A-16B0-8618-9470-2367C7E6883D}"/>
                    </a:ext>
                  </a:extLst>
                </p:cNvPr>
                <p:cNvSpPr/>
                <p:nvPr/>
              </p:nvSpPr>
              <p:spPr>
                <a:xfrm flipV="1">
                  <a:off x="1480903" y="3829730"/>
                  <a:ext cx="118872" cy="118872"/>
                </a:xfrm>
                <a:prstGeom prst="roundRect">
                  <a:avLst/>
                </a:prstGeom>
                <a:solidFill>
                  <a:schemeClr val="accent1">
                    <a:lumMod val="40000"/>
                    <a:lumOff val="60000"/>
                  </a:schemeClr>
                </a:solidFill>
                <a:ln>
                  <a:noFill/>
                </a:ln>
              </p:spPr>
              <p:txBody>
                <a:bodyPr/>
                <a:lstStyle/>
                <a:p>
                  <a:endParaRPr dirty="0"/>
                </a:p>
              </p:txBody>
            </p:sp>
            <p:sp>
              <p:nvSpPr>
                <p:cNvPr id="31" name="Shape 23">
                  <a:extLst>
                    <a:ext uri="{FF2B5EF4-FFF2-40B4-BE49-F238E27FC236}">
                      <a16:creationId xmlns:a16="http://schemas.microsoft.com/office/drawing/2014/main" id="{6EBB8F9D-B95D-9664-F932-04DECE27A4E1}"/>
                    </a:ext>
                  </a:extLst>
                </p:cNvPr>
                <p:cNvSpPr/>
                <p:nvPr/>
              </p:nvSpPr>
              <p:spPr>
                <a:xfrm flipV="1">
                  <a:off x="1574687" y="3900068"/>
                  <a:ext cx="118872" cy="118872"/>
                </a:xfrm>
                <a:prstGeom prst="roundRect">
                  <a:avLst/>
                </a:prstGeom>
                <a:solidFill>
                  <a:schemeClr val="accent1">
                    <a:lumMod val="40000"/>
                    <a:lumOff val="60000"/>
                  </a:schemeClr>
                </a:solidFill>
                <a:ln>
                  <a:noFill/>
                </a:ln>
              </p:spPr>
              <p:txBody>
                <a:bodyPr/>
                <a:lstStyle/>
                <a:p>
                  <a:endParaRPr dirty="0"/>
                </a:p>
              </p:txBody>
            </p:sp>
            <p:sp>
              <p:nvSpPr>
                <p:cNvPr id="32" name="Shape 23">
                  <a:extLst>
                    <a:ext uri="{FF2B5EF4-FFF2-40B4-BE49-F238E27FC236}">
                      <a16:creationId xmlns:a16="http://schemas.microsoft.com/office/drawing/2014/main" id="{99D8B809-9C0F-DFF6-E02D-DCD05A632FE9}"/>
                    </a:ext>
                  </a:extLst>
                </p:cNvPr>
                <p:cNvSpPr/>
                <p:nvPr/>
              </p:nvSpPr>
              <p:spPr>
                <a:xfrm flipV="1">
                  <a:off x="1668472" y="3665609"/>
                  <a:ext cx="118872" cy="118872"/>
                </a:xfrm>
                <a:prstGeom prst="roundRect">
                  <a:avLst/>
                </a:prstGeom>
                <a:solidFill>
                  <a:schemeClr val="accent1">
                    <a:lumMod val="40000"/>
                    <a:lumOff val="60000"/>
                  </a:schemeClr>
                </a:solidFill>
                <a:ln>
                  <a:noFill/>
                </a:ln>
              </p:spPr>
              <p:txBody>
                <a:bodyPr/>
                <a:lstStyle/>
                <a:p>
                  <a:endParaRPr dirty="0"/>
                </a:p>
              </p:txBody>
            </p:sp>
            <p:sp>
              <p:nvSpPr>
                <p:cNvPr id="33" name="Shape 23">
                  <a:extLst>
                    <a:ext uri="{FF2B5EF4-FFF2-40B4-BE49-F238E27FC236}">
                      <a16:creationId xmlns:a16="http://schemas.microsoft.com/office/drawing/2014/main" id="{9E5F0AF2-0D3A-5BE4-C38D-5132ADBAC374}"/>
                    </a:ext>
                  </a:extLst>
                </p:cNvPr>
                <p:cNvSpPr/>
                <p:nvPr/>
              </p:nvSpPr>
              <p:spPr>
                <a:xfrm flipV="1">
                  <a:off x="1785703" y="3818009"/>
                  <a:ext cx="118872" cy="118872"/>
                </a:xfrm>
                <a:prstGeom prst="roundRect">
                  <a:avLst/>
                </a:prstGeom>
                <a:solidFill>
                  <a:schemeClr val="accent1">
                    <a:lumMod val="40000"/>
                    <a:lumOff val="60000"/>
                  </a:schemeClr>
                </a:solidFill>
                <a:ln>
                  <a:noFill/>
                </a:ln>
              </p:spPr>
              <p:txBody>
                <a:bodyPr/>
                <a:lstStyle/>
                <a:p>
                  <a:endParaRPr dirty="0"/>
                </a:p>
              </p:txBody>
            </p:sp>
            <p:sp>
              <p:nvSpPr>
                <p:cNvPr id="34" name="Shape 23">
                  <a:extLst>
                    <a:ext uri="{FF2B5EF4-FFF2-40B4-BE49-F238E27FC236}">
                      <a16:creationId xmlns:a16="http://schemas.microsoft.com/office/drawing/2014/main" id="{B1010FB7-1C4E-6CE2-B44C-E736E9DD1BE7}"/>
                    </a:ext>
                  </a:extLst>
                </p:cNvPr>
                <p:cNvSpPr/>
                <p:nvPr/>
              </p:nvSpPr>
              <p:spPr>
                <a:xfrm flipV="1">
                  <a:off x="1715366" y="4017301"/>
                  <a:ext cx="118872" cy="118872"/>
                </a:xfrm>
                <a:prstGeom prst="roundRect">
                  <a:avLst/>
                </a:prstGeom>
                <a:solidFill>
                  <a:schemeClr val="accent1">
                    <a:lumMod val="40000"/>
                    <a:lumOff val="60000"/>
                  </a:schemeClr>
                </a:solidFill>
                <a:ln>
                  <a:noFill/>
                </a:ln>
              </p:spPr>
              <p:txBody>
                <a:bodyPr/>
                <a:lstStyle/>
                <a:p>
                  <a:endParaRPr dirty="0"/>
                </a:p>
              </p:txBody>
            </p:sp>
            <p:sp>
              <p:nvSpPr>
                <p:cNvPr id="35" name="Shape 23">
                  <a:extLst>
                    <a:ext uri="{FF2B5EF4-FFF2-40B4-BE49-F238E27FC236}">
                      <a16:creationId xmlns:a16="http://schemas.microsoft.com/office/drawing/2014/main" id="{B87B7797-8141-2BAD-EAB3-D5E2DB3AE7F3}"/>
                    </a:ext>
                  </a:extLst>
                </p:cNvPr>
                <p:cNvSpPr/>
                <p:nvPr/>
              </p:nvSpPr>
              <p:spPr>
                <a:xfrm flipV="1">
                  <a:off x="1879489" y="3993856"/>
                  <a:ext cx="118872" cy="118872"/>
                </a:xfrm>
                <a:prstGeom prst="roundRect">
                  <a:avLst/>
                </a:prstGeom>
                <a:solidFill>
                  <a:schemeClr val="accent1">
                    <a:lumMod val="40000"/>
                    <a:lumOff val="60000"/>
                  </a:schemeClr>
                </a:solidFill>
                <a:ln>
                  <a:noFill/>
                </a:ln>
              </p:spPr>
              <p:txBody>
                <a:bodyPr/>
                <a:lstStyle/>
                <a:p>
                  <a:endParaRPr dirty="0"/>
                </a:p>
              </p:txBody>
            </p:sp>
            <p:sp>
              <p:nvSpPr>
                <p:cNvPr id="36" name="Shape 23">
                  <a:extLst>
                    <a:ext uri="{FF2B5EF4-FFF2-40B4-BE49-F238E27FC236}">
                      <a16:creationId xmlns:a16="http://schemas.microsoft.com/office/drawing/2014/main" id="{E9484802-4167-03D7-F330-CA1CE6068E4A}"/>
                    </a:ext>
                  </a:extLst>
                </p:cNvPr>
                <p:cNvSpPr/>
                <p:nvPr/>
              </p:nvSpPr>
              <p:spPr>
                <a:xfrm flipV="1">
                  <a:off x="1973274" y="4157979"/>
                  <a:ext cx="118872" cy="118872"/>
                </a:xfrm>
                <a:prstGeom prst="roundRect">
                  <a:avLst/>
                </a:prstGeom>
                <a:solidFill>
                  <a:schemeClr val="accent1">
                    <a:lumMod val="40000"/>
                    <a:lumOff val="60000"/>
                  </a:schemeClr>
                </a:solidFill>
                <a:ln>
                  <a:noFill/>
                </a:ln>
              </p:spPr>
              <p:txBody>
                <a:bodyPr/>
                <a:lstStyle/>
                <a:p>
                  <a:endParaRPr dirty="0"/>
                </a:p>
              </p:txBody>
            </p:sp>
            <p:sp>
              <p:nvSpPr>
                <p:cNvPr id="37" name="Shape 23">
                  <a:extLst>
                    <a:ext uri="{FF2B5EF4-FFF2-40B4-BE49-F238E27FC236}">
                      <a16:creationId xmlns:a16="http://schemas.microsoft.com/office/drawing/2014/main" id="{F77A9CC7-DD6E-1AF4-F3B9-086BE8D77F19}"/>
                    </a:ext>
                  </a:extLst>
                </p:cNvPr>
                <p:cNvSpPr/>
                <p:nvPr/>
              </p:nvSpPr>
              <p:spPr>
                <a:xfrm flipV="1">
                  <a:off x="2078782" y="4040750"/>
                  <a:ext cx="118872" cy="118872"/>
                </a:xfrm>
                <a:prstGeom prst="roundRect">
                  <a:avLst/>
                </a:prstGeom>
                <a:solidFill>
                  <a:schemeClr val="accent1">
                    <a:lumMod val="40000"/>
                    <a:lumOff val="60000"/>
                  </a:schemeClr>
                </a:solidFill>
                <a:ln>
                  <a:noFill/>
                </a:ln>
              </p:spPr>
              <p:txBody>
                <a:bodyPr/>
                <a:lstStyle/>
                <a:p>
                  <a:endParaRPr dirty="0"/>
                </a:p>
              </p:txBody>
            </p:sp>
            <p:sp>
              <p:nvSpPr>
                <p:cNvPr id="38" name="Shape 23">
                  <a:extLst>
                    <a:ext uri="{FF2B5EF4-FFF2-40B4-BE49-F238E27FC236}">
                      <a16:creationId xmlns:a16="http://schemas.microsoft.com/office/drawing/2014/main" id="{0F226EBC-FE7B-C234-1853-C36B7EAAA470}"/>
                    </a:ext>
                  </a:extLst>
                </p:cNvPr>
                <p:cNvSpPr/>
                <p:nvPr/>
              </p:nvSpPr>
              <p:spPr>
                <a:xfrm flipV="1">
                  <a:off x="2160844" y="4181427"/>
                  <a:ext cx="118872" cy="118872"/>
                </a:xfrm>
                <a:prstGeom prst="roundRect">
                  <a:avLst/>
                </a:prstGeom>
                <a:solidFill>
                  <a:schemeClr val="accent1">
                    <a:lumMod val="40000"/>
                    <a:lumOff val="60000"/>
                  </a:schemeClr>
                </a:solidFill>
                <a:ln>
                  <a:noFill/>
                </a:ln>
              </p:spPr>
              <p:txBody>
                <a:bodyPr/>
                <a:lstStyle/>
                <a:p>
                  <a:endParaRPr dirty="0"/>
                </a:p>
              </p:txBody>
            </p:sp>
            <p:sp>
              <p:nvSpPr>
                <p:cNvPr id="39" name="Shape 23">
                  <a:extLst>
                    <a:ext uri="{FF2B5EF4-FFF2-40B4-BE49-F238E27FC236}">
                      <a16:creationId xmlns:a16="http://schemas.microsoft.com/office/drawing/2014/main" id="{E6D72681-34E3-244F-64BA-5EE5E1AD90DF}"/>
                    </a:ext>
                  </a:extLst>
                </p:cNvPr>
                <p:cNvSpPr/>
                <p:nvPr/>
              </p:nvSpPr>
              <p:spPr>
                <a:xfrm flipV="1">
                  <a:off x="2313244" y="4333827"/>
                  <a:ext cx="118872" cy="118872"/>
                </a:xfrm>
                <a:prstGeom prst="roundRect">
                  <a:avLst/>
                </a:prstGeom>
                <a:solidFill>
                  <a:schemeClr val="accent1">
                    <a:lumMod val="40000"/>
                    <a:lumOff val="60000"/>
                  </a:schemeClr>
                </a:solidFill>
                <a:ln>
                  <a:noFill/>
                </a:ln>
              </p:spPr>
              <p:txBody>
                <a:bodyPr/>
                <a:lstStyle/>
                <a:p>
                  <a:endParaRPr dirty="0"/>
                </a:p>
              </p:txBody>
            </p:sp>
            <p:sp>
              <p:nvSpPr>
                <p:cNvPr id="40" name="Shape 23">
                  <a:extLst>
                    <a:ext uri="{FF2B5EF4-FFF2-40B4-BE49-F238E27FC236}">
                      <a16:creationId xmlns:a16="http://schemas.microsoft.com/office/drawing/2014/main" id="{0E47B1AD-2F69-E7DA-E4F0-438CF20C629B}"/>
                    </a:ext>
                  </a:extLst>
                </p:cNvPr>
                <p:cNvSpPr/>
                <p:nvPr/>
              </p:nvSpPr>
              <p:spPr>
                <a:xfrm flipV="1">
                  <a:off x="2500813" y="4240044"/>
                  <a:ext cx="118872" cy="118872"/>
                </a:xfrm>
                <a:prstGeom prst="roundRect">
                  <a:avLst/>
                </a:prstGeom>
                <a:solidFill>
                  <a:schemeClr val="accent1">
                    <a:lumMod val="40000"/>
                    <a:lumOff val="60000"/>
                  </a:schemeClr>
                </a:solidFill>
                <a:ln>
                  <a:noFill/>
                </a:ln>
              </p:spPr>
              <p:txBody>
                <a:bodyPr/>
                <a:lstStyle/>
                <a:p>
                  <a:endParaRPr dirty="0"/>
                </a:p>
              </p:txBody>
            </p:sp>
            <p:sp>
              <p:nvSpPr>
                <p:cNvPr id="41" name="Shape 23">
                  <a:extLst>
                    <a:ext uri="{FF2B5EF4-FFF2-40B4-BE49-F238E27FC236}">
                      <a16:creationId xmlns:a16="http://schemas.microsoft.com/office/drawing/2014/main" id="{2FE0942F-E0D2-539A-78D6-1AE9D732B502}"/>
                    </a:ext>
                  </a:extLst>
                </p:cNvPr>
                <p:cNvSpPr/>
                <p:nvPr/>
              </p:nvSpPr>
              <p:spPr>
                <a:xfrm flipV="1">
                  <a:off x="2360138" y="4122815"/>
                  <a:ext cx="118872" cy="118872"/>
                </a:xfrm>
                <a:prstGeom prst="roundRect">
                  <a:avLst/>
                </a:prstGeom>
                <a:solidFill>
                  <a:schemeClr val="accent1">
                    <a:lumMod val="40000"/>
                    <a:lumOff val="60000"/>
                  </a:schemeClr>
                </a:solidFill>
                <a:ln>
                  <a:noFill/>
                </a:ln>
              </p:spPr>
              <p:txBody>
                <a:bodyPr/>
                <a:lstStyle/>
                <a:p>
                  <a:endParaRPr dirty="0"/>
                </a:p>
              </p:txBody>
            </p:sp>
            <p:sp>
              <p:nvSpPr>
                <p:cNvPr id="42" name="Shape 23">
                  <a:extLst>
                    <a:ext uri="{FF2B5EF4-FFF2-40B4-BE49-F238E27FC236}">
                      <a16:creationId xmlns:a16="http://schemas.microsoft.com/office/drawing/2014/main" id="{CAE07396-4946-8D85-29F6-0DEF1ECE3996}"/>
                    </a:ext>
                  </a:extLst>
                </p:cNvPr>
                <p:cNvSpPr/>
                <p:nvPr/>
              </p:nvSpPr>
              <p:spPr>
                <a:xfrm flipV="1">
                  <a:off x="2477369" y="3911802"/>
                  <a:ext cx="118872" cy="118872"/>
                </a:xfrm>
                <a:prstGeom prst="roundRect">
                  <a:avLst/>
                </a:prstGeom>
                <a:solidFill>
                  <a:schemeClr val="accent1">
                    <a:lumMod val="40000"/>
                    <a:lumOff val="60000"/>
                  </a:schemeClr>
                </a:solidFill>
                <a:ln>
                  <a:noFill/>
                </a:ln>
              </p:spPr>
              <p:txBody>
                <a:bodyPr/>
                <a:lstStyle/>
                <a:p>
                  <a:endParaRPr dirty="0"/>
                </a:p>
              </p:txBody>
            </p:sp>
            <p:sp>
              <p:nvSpPr>
                <p:cNvPr id="43" name="Shape 23">
                  <a:extLst>
                    <a:ext uri="{FF2B5EF4-FFF2-40B4-BE49-F238E27FC236}">
                      <a16:creationId xmlns:a16="http://schemas.microsoft.com/office/drawing/2014/main" id="{31A27ABD-7D55-3673-8B8F-C151C392FC87}"/>
                    </a:ext>
                  </a:extLst>
                </p:cNvPr>
                <p:cNvSpPr/>
                <p:nvPr/>
              </p:nvSpPr>
              <p:spPr>
                <a:xfrm flipV="1">
                  <a:off x="2582877" y="4052479"/>
                  <a:ext cx="118872" cy="118872"/>
                </a:xfrm>
                <a:prstGeom prst="roundRect">
                  <a:avLst/>
                </a:prstGeom>
                <a:solidFill>
                  <a:schemeClr val="accent1">
                    <a:lumMod val="40000"/>
                    <a:lumOff val="60000"/>
                  </a:schemeClr>
                </a:solidFill>
                <a:ln>
                  <a:noFill/>
                </a:ln>
              </p:spPr>
              <p:txBody>
                <a:bodyPr/>
                <a:lstStyle/>
                <a:p>
                  <a:endParaRPr dirty="0"/>
                </a:p>
              </p:txBody>
            </p:sp>
            <p:sp>
              <p:nvSpPr>
                <p:cNvPr id="44" name="Shape 23">
                  <a:extLst>
                    <a:ext uri="{FF2B5EF4-FFF2-40B4-BE49-F238E27FC236}">
                      <a16:creationId xmlns:a16="http://schemas.microsoft.com/office/drawing/2014/main" id="{8DF611CB-508C-DCA4-F350-9A2CBCDCD595}"/>
                    </a:ext>
                  </a:extLst>
                </p:cNvPr>
                <p:cNvSpPr/>
                <p:nvPr/>
              </p:nvSpPr>
              <p:spPr>
                <a:xfrm flipV="1">
                  <a:off x="2782169" y="3982142"/>
                  <a:ext cx="118872" cy="118872"/>
                </a:xfrm>
                <a:prstGeom prst="roundRect">
                  <a:avLst/>
                </a:prstGeom>
                <a:solidFill>
                  <a:schemeClr val="accent1">
                    <a:lumMod val="40000"/>
                    <a:lumOff val="60000"/>
                  </a:schemeClr>
                </a:solidFill>
                <a:ln>
                  <a:noFill/>
                </a:ln>
              </p:spPr>
              <p:txBody>
                <a:bodyPr/>
                <a:lstStyle/>
                <a:p>
                  <a:endParaRPr dirty="0"/>
                </a:p>
              </p:txBody>
            </p:sp>
            <p:sp>
              <p:nvSpPr>
                <p:cNvPr id="45" name="Shape 23">
                  <a:extLst>
                    <a:ext uri="{FF2B5EF4-FFF2-40B4-BE49-F238E27FC236}">
                      <a16:creationId xmlns:a16="http://schemas.microsoft.com/office/drawing/2014/main" id="{01F0FA19-1E6B-B2DA-B108-C2FF654F62DC}"/>
                    </a:ext>
                  </a:extLst>
                </p:cNvPr>
                <p:cNvSpPr/>
                <p:nvPr/>
              </p:nvSpPr>
              <p:spPr>
                <a:xfrm flipV="1">
                  <a:off x="2629771" y="3782852"/>
                  <a:ext cx="118872" cy="118872"/>
                </a:xfrm>
                <a:prstGeom prst="roundRect">
                  <a:avLst/>
                </a:prstGeom>
                <a:solidFill>
                  <a:schemeClr val="accent1">
                    <a:lumMod val="40000"/>
                    <a:lumOff val="60000"/>
                  </a:schemeClr>
                </a:solidFill>
                <a:ln>
                  <a:noFill/>
                </a:ln>
              </p:spPr>
              <p:txBody>
                <a:bodyPr/>
                <a:lstStyle/>
                <a:p>
                  <a:endParaRPr dirty="0"/>
                </a:p>
              </p:txBody>
            </p:sp>
            <p:sp>
              <p:nvSpPr>
                <p:cNvPr id="46" name="Shape 23">
                  <a:extLst>
                    <a:ext uri="{FF2B5EF4-FFF2-40B4-BE49-F238E27FC236}">
                      <a16:creationId xmlns:a16="http://schemas.microsoft.com/office/drawing/2014/main" id="{29FB3DDA-521D-77B8-3436-0B9EF58823E4}"/>
                    </a:ext>
                  </a:extLst>
                </p:cNvPr>
                <p:cNvSpPr/>
                <p:nvPr/>
              </p:nvSpPr>
              <p:spPr>
                <a:xfrm flipV="1">
                  <a:off x="2782171" y="3607008"/>
                  <a:ext cx="118872" cy="118872"/>
                </a:xfrm>
                <a:prstGeom prst="roundRect">
                  <a:avLst/>
                </a:prstGeom>
                <a:solidFill>
                  <a:schemeClr val="accent1">
                    <a:lumMod val="40000"/>
                    <a:lumOff val="60000"/>
                  </a:schemeClr>
                </a:solidFill>
                <a:ln>
                  <a:noFill/>
                </a:ln>
              </p:spPr>
              <p:txBody>
                <a:bodyPr/>
                <a:lstStyle/>
                <a:p>
                  <a:endParaRPr dirty="0"/>
                </a:p>
              </p:txBody>
            </p:sp>
            <p:sp>
              <p:nvSpPr>
                <p:cNvPr id="47" name="Shape 23">
                  <a:extLst>
                    <a:ext uri="{FF2B5EF4-FFF2-40B4-BE49-F238E27FC236}">
                      <a16:creationId xmlns:a16="http://schemas.microsoft.com/office/drawing/2014/main" id="{4521081D-CAF9-6211-26D1-E49EE73637AA}"/>
                    </a:ext>
                  </a:extLst>
                </p:cNvPr>
                <p:cNvSpPr/>
                <p:nvPr/>
              </p:nvSpPr>
              <p:spPr>
                <a:xfrm flipV="1">
                  <a:off x="2875956" y="3771131"/>
                  <a:ext cx="118872" cy="118872"/>
                </a:xfrm>
                <a:prstGeom prst="roundRect">
                  <a:avLst/>
                </a:prstGeom>
                <a:solidFill>
                  <a:schemeClr val="accent1">
                    <a:lumMod val="40000"/>
                    <a:lumOff val="60000"/>
                  </a:schemeClr>
                </a:solidFill>
                <a:ln>
                  <a:noFill/>
                </a:ln>
              </p:spPr>
              <p:txBody>
                <a:bodyPr/>
                <a:lstStyle/>
                <a:p>
                  <a:endParaRPr dirty="0"/>
                </a:p>
              </p:txBody>
            </p:sp>
            <p:sp>
              <p:nvSpPr>
                <p:cNvPr id="48" name="Shape 23">
                  <a:extLst>
                    <a:ext uri="{FF2B5EF4-FFF2-40B4-BE49-F238E27FC236}">
                      <a16:creationId xmlns:a16="http://schemas.microsoft.com/office/drawing/2014/main" id="{4E05F308-2525-D89D-35A1-7475BFA9CF07}"/>
                    </a:ext>
                  </a:extLst>
                </p:cNvPr>
                <p:cNvSpPr/>
                <p:nvPr/>
              </p:nvSpPr>
              <p:spPr>
                <a:xfrm flipV="1">
                  <a:off x="3028356" y="3501503"/>
                  <a:ext cx="118872" cy="118872"/>
                </a:xfrm>
                <a:prstGeom prst="roundRect">
                  <a:avLst/>
                </a:prstGeom>
                <a:solidFill>
                  <a:schemeClr val="accent1">
                    <a:lumMod val="40000"/>
                    <a:lumOff val="60000"/>
                  </a:schemeClr>
                </a:solidFill>
                <a:ln>
                  <a:noFill/>
                </a:ln>
              </p:spPr>
              <p:txBody>
                <a:bodyPr/>
                <a:lstStyle/>
                <a:p>
                  <a:endParaRPr dirty="0"/>
                </a:p>
              </p:txBody>
            </p:sp>
            <p:sp>
              <p:nvSpPr>
                <p:cNvPr id="49" name="Shape 23">
                  <a:extLst>
                    <a:ext uri="{FF2B5EF4-FFF2-40B4-BE49-F238E27FC236}">
                      <a16:creationId xmlns:a16="http://schemas.microsoft.com/office/drawing/2014/main" id="{EB37205B-92F6-873A-764B-A3194C3A97ED}"/>
                    </a:ext>
                  </a:extLst>
                </p:cNvPr>
                <p:cNvSpPr/>
                <p:nvPr/>
              </p:nvSpPr>
              <p:spPr>
                <a:xfrm flipV="1">
                  <a:off x="2864235" y="3255321"/>
                  <a:ext cx="118872" cy="118872"/>
                </a:xfrm>
                <a:prstGeom prst="roundRect">
                  <a:avLst/>
                </a:prstGeom>
                <a:solidFill>
                  <a:schemeClr val="accent1">
                    <a:lumMod val="40000"/>
                    <a:lumOff val="60000"/>
                  </a:schemeClr>
                </a:solidFill>
                <a:ln>
                  <a:noFill/>
                </a:ln>
              </p:spPr>
              <p:txBody>
                <a:bodyPr/>
                <a:lstStyle/>
                <a:p>
                  <a:endParaRPr dirty="0"/>
                </a:p>
              </p:txBody>
            </p:sp>
            <p:sp>
              <p:nvSpPr>
                <p:cNvPr id="50" name="Shape 23">
                  <a:extLst>
                    <a:ext uri="{FF2B5EF4-FFF2-40B4-BE49-F238E27FC236}">
                      <a16:creationId xmlns:a16="http://schemas.microsoft.com/office/drawing/2014/main" id="{11731D73-571A-E3EF-1355-E65C8CF28D3A}"/>
                    </a:ext>
                  </a:extLst>
                </p:cNvPr>
                <p:cNvSpPr/>
                <p:nvPr/>
              </p:nvSpPr>
              <p:spPr>
                <a:xfrm flipV="1">
                  <a:off x="2793898" y="3395998"/>
                  <a:ext cx="118872" cy="118872"/>
                </a:xfrm>
                <a:prstGeom prst="roundRect">
                  <a:avLst/>
                </a:prstGeom>
                <a:solidFill>
                  <a:schemeClr val="accent1">
                    <a:lumMod val="40000"/>
                    <a:lumOff val="60000"/>
                  </a:schemeClr>
                </a:solidFill>
                <a:ln>
                  <a:noFill/>
                </a:ln>
              </p:spPr>
              <p:txBody>
                <a:bodyPr/>
                <a:lstStyle/>
                <a:p>
                  <a:endParaRPr dirty="0"/>
                </a:p>
              </p:txBody>
            </p:sp>
            <p:sp>
              <p:nvSpPr>
                <p:cNvPr id="51" name="Shape 23">
                  <a:extLst>
                    <a:ext uri="{FF2B5EF4-FFF2-40B4-BE49-F238E27FC236}">
                      <a16:creationId xmlns:a16="http://schemas.microsoft.com/office/drawing/2014/main" id="{6EAE3C48-D830-EA0D-B537-0B2DA685775F}"/>
                    </a:ext>
                  </a:extLst>
                </p:cNvPr>
                <p:cNvSpPr/>
                <p:nvPr/>
              </p:nvSpPr>
              <p:spPr>
                <a:xfrm flipV="1">
                  <a:off x="3016636" y="3313938"/>
                  <a:ext cx="118872" cy="118872"/>
                </a:xfrm>
                <a:prstGeom prst="roundRect">
                  <a:avLst/>
                </a:prstGeom>
                <a:solidFill>
                  <a:schemeClr val="accent1">
                    <a:lumMod val="40000"/>
                    <a:lumOff val="60000"/>
                  </a:schemeClr>
                </a:solidFill>
                <a:ln>
                  <a:noFill/>
                </a:ln>
              </p:spPr>
              <p:txBody>
                <a:bodyPr/>
                <a:lstStyle/>
                <a:p>
                  <a:endParaRPr dirty="0"/>
                </a:p>
              </p:txBody>
            </p:sp>
            <p:sp>
              <p:nvSpPr>
                <p:cNvPr id="52" name="Shape 23">
                  <a:extLst>
                    <a:ext uri="{FF2B5EF4-FFF2-40B4-BE49-F238E27FC236}">
                      <a16:creationId xmlns:a16="http://schemas.microsoft.com/office/drawing/2014/main" id="{7276C1F6-E183-9B29-6824-765993668E2A}"/>
                    </a:ext>
                  </a:extLst>
                </p:cNvPr>
                <p:cNvSpPr/>
                <p:nvPr/>
              </p:nvSpPr>
              <p:spPr>
                <a:xfrm flipV="1">
                  <a:off x="1134776" y="4376419"/>
                  <a:ext cx="118872" cy="118872"/>
                </a:xfrm>
                <a:prstGeom prst="roundRect">
                  <a:avLst/>
                </a:prstGeom>
                <a:solidFill>
                  <a:schemeClr val="accent1">
                    <a:lumMod val="40000"/>
                    <a:lumOff val="60000"/>
                  </a:schemeClr>
                </a:solidFill>
                <a:ln>
                  <a:noFill/>
                </a:ln>
              </p:spPr>
              <p:txBody>
                <a:bodyPr/>
                <a:lstStyle/>
                <a:p>
                  <a:endParaRPr dirty="0"/>
                </a:p>
              </p:txBody>
            </p:sp>
            <p:sp>
              <p:nvSpPr>
                <p:cNvPr id="29" name="フリーフォーム 28">
                  <a:extLst>
                    <a:ext uri="{FF2B5EF4-FFF2-40B4-BE49-F238E27FC236}">
                      <a16:creationId xmlns:a16="http://schemas.microsoft.com/office/drawing/2014/main" id="{AD71A6E8-F637-9D76-3D88-8C9F42B3C552}"/>
                    </a:ext>
                  </a:extLst>
                </p:cNvPr>
                <p:cNvSpPr/>
                <p:nvPr/>
              </p:nvSpPr>
              <p:spPr>
                <a:xfrm>
                  <a:off x="921247" y="3260647"/>
                  <a:ext cx="2157046" cy="1336431"/>
                </a:xfrm>
                <a:custGeom>
                  <a:avLst/>
                  <a:gdLst>
                    <a:gd name="csX0" fmla="*/ 0 w 2157046"/>
                    <a:gd name="csY0" fmla="*/ 1336431 h 1336431"/>
                    <a:gd name="csX1" fmla="*/ 656492 w 2157046"/>
                    <a:gd name="csY1" fmla="*/ 597877 h 1336431"/>
                    <a:gd name="csX2" fmla="*/ 1441939 w 2157046"/>
                    <a:gd name="csY2" fmla="*/ 984739 h 1336431"/>
                    <a:gd name="csX3" fmla="*/ 2157046 w 2157046"/>
                    <a:gd name="csY3" fmla="*/ 0 h 1336431"/>
                  </a:gdLst>
                  <a:ahLst/>
                  <a:cxnLst>
                    <a:cxn ang="0">
                      <a:pos x="csX0" y="csY0"/>
                    </a:cxn>
                    <a:cxn ang="0">
                      <a:pos x="csX1" y="csY1"/>
                    </a:cxn>
                    <a:cxn ang="0">
                      <a:pos x="csX2" y="csY2"/>
                    </a:cxn>
                    <a:cxn ang="0">
                      <a:pos x="csX3" y="csY3"/>
                    </a:cxn>
                  </a:cxnLst>
                  <a:rect l="l" t="t" r="r" b="b"/>
                  <a:pathLst>
                    <a:path w="2157046" h="1336431">
                      <a:moveTo>
                        <a:pt x="0" y="1336431"/>
                      </a:moveTo>
                      <a:cubicBezTo>
                        <a:pt x="208084" y="996461"/>
                        <a:pt x="416169" y="656492"/>
                        <a:pt x="656492" y="597877"/>
                      </a:cubicBezTo>
                      <a:cubicBezTo>
                        <a:pt x="896815" y="539262"/>
                        <a:pt x="1191847" y="1084385"/>
                        <a:pt x="1441939" y="984739"/>
                      </a:cubicBezTo>
                      <a:cubicBezTo>
                        <a:pt x="1692031" y="885093"/>
                        <a:pt x="1924538" y="442546"/>
                        <a:pt x="2157046" y="0"/>
                      </a:cubicBezTo>
                    </a:path>
                  </a:pathLst>
                </a:custGeom>
                <a:noFill/>
                <a:ln w="508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5A55587D-D607-D3B8-CBEB-C9424CD97784}"/>
                    </a:ext>
                  </a:extLst>
                </p:cNvPr>
                <p:cNvSpPr txBox="1"/>
                <p:nvPr/>
              </p:nvSpPr>
              <p:spPr>
                <a:xfrm>
                  <a:off x="1038855" y="1926873"/>
                  <a:ext cx="1061380" cy="307777"/>
                </a:xfrm>
                <a:prstGeom prst="rect">
                  <a:avLst/>
                </a:prstGeom>
                <a:noFill/>
              </p:spPr>
              <p:txBody>
                <a:bodyPr wrap="none" lIns="0" tIns="0" rIns="0" bIns="0" rtlCol="0">
                  <a:spAutoFit/>
                </a:bodyPr>
                <a:lstStyle/>
                <a:p>
                  <a:pPr/>
                  <a14:m>
                    <m:oMathPara xmlns:m="http://schemas.openxmlformats.org/officeDocument/2006/math">
                      <m:oMath>
                        <m:r>
                          <a:rPr kumimoji="1" lang="en-US" altLang="ja-JP" sz="2000" b="0" i="1" smtClean="0">
                            <a:latin typeface="Cambria Math" panose="02040503050406030204" pitchFamily="18" charset="0"/>
                          </a:rPr>
                          <m:t>𝑦</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𝑓</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𝑥</m:t>
                        </m:r>
                        <m:r>
                          <a:rPr kumimoji="1" lang="en-US" altLang="ja-JP" sz="2000" b="0" i="1" smtClean="0">
                            <a:latin typeface="Cambria Math" panose="02040503050406030204" pitchFamily="18" charset="0"/>
                          </a:rPr>
                          <m:t>)</m:t>
                        </m:r>
                      </m:oMath>
                    </m:oMathPara>
                  </a14:m>
                  <a:endParaRPr kumimoji="1" lang="ja-JP" altLang="en-US" sz="2000"/>
                </a:p>
              </p:txBody>
            </p:sp>
          </mc:Choice>
          <mc:Fallback xmlns="">
            <p:sp>
              <p:nvSpPr>
                <p:cNvPr id="56" name="テキスト ボックス 55">
                  <a:extLst>
                    <a:ext uri="{FF2B5EF4-FFF2-40B4-BE49-F238E27FC236}">
                      <a16:creationId xmlns:a16="http://schemas.microsoft.com/office/drawing/2014/main" id="{5A55587D-D607-D3B8-CBEB-C9424CD97784}"/>
                    </a:ext>
                  </a:extLst>
                </p:cNvPr>
                <p:cNvSpPr txBox="1">
                  <a:spLocks noRot="1" noChangeAspect="1" noMove="1" noResize="1" noEditPoints="1" noAdjustHandles="1" noChangeArrowheads="1" noChangeShapeType="1" noTextEdit="1"/>
                </p:cNvSpPr>
                <p:nvPr/>
              </p:nvSpPr>
              <p:spPr>
                <a:xfrm>
                  <a:off x="1038855" y="1926873"/>
                  <a:ext cx="1061380" cy="307777"/>
                </a:xfrm>
                <a:prstGeom prst="rect">
                  <a:avLst/>
                </a:prstGeom>
                <a:blipFill>
                  <a:blip r:embed="rId4"/>
                  <a:stretch>
                    <a:fillRect l="-3529" r="-7059" b="-32000"/>
                  </a:stretch>
                </a:blipFill>
              </p:spPr>
              <p:txBody>
                <a:bodyPr/>
                <a:lstStyle/>
                <a:p>
                  <a:r>
                    <a:rPr lang="ja-JP" altLang="en-US">
                      <a:noFill/>
                    </a:rPr>
                    <a:t> </a:t>
                  </a:r>
                </a:p>
              </p:txBody>
            </p:sp>
          </mc:Fallback>
        </mc:AlternateContent>
        <p:cxnSp>
          <p:nvCxnSpPr>
            <p:cNvPr id="58" name="直線コネクタ 57">
              <a:extLst>
                <a:ext uri="{FF2B5EF4-FFF2-40B4-BE49-F238E27FC236}">
                  <a16:creationId xmlns:a16="http://schemas.microsoft.com/office/drawing/2014/main" id="{59ED4F55-1D7C-B4E7-44C4-006A2E9FADE6}"/>
                </a:ext>
              </a:extLst>
            </p:cNvPr>
            <p:cNvCxnSpPr>
              <a:cxnSpLocks/>
            </p:cNvCxnSpPr>
            <p:nvPr/>
          </p:nvCxnSpPr>
          <p:spPr>
            <a:xfrm>
              <a:off x="1536333" y="2333692"/>
              <a:ext cx="888378" cy="3411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テキスト ボックス 108">
                  <a:extLst>
                    <a:ext uri="{FF2B5EF4-FFF2-40B4-BE49-F238E27FC236}">
                      <a16:creationId xmlns:a16="http://schemas.microsoft.com/office/drawing/2014/main" id="{C64F82FF-AC50-B81E-DDD8-A11C389967A2}"/>
                    </a:ext>
                  </a:extLst>
                </p:cNvPr>
                <p:cNvSpPr txBox="1"/>
                <p:nvPr/>
              </p:nvSpPr>
              <p:spPr>
                <a:xfrm>
                  <a:off x="2803966" y="3616058"/>
                  <a:ext cx="380810" cy="369332"/>
                </a:xfrm>
                <a:prstGeom prst="rect">
                  <a:avLst/>
                </a:prstGeom>
                <a:noFill/>
              </p:spPr>
              <p:txBody>
                <a:bodyPr wrap="none" rtlCol="0">
                  <a:spAutoFit/>
                </a:bodyPr>
                <a:lstStyle/>
                <a:p>
                  <a:pPr/>
                  <a14:m>
                    <m:oMathPara xmlns:m="http://schemas.openxmlformats.org/officeDocument/2006/math">
                      <m:oMath>
                        <m:r>
                          <a:rPr kumimoji="1" lang="en-US" altLang="ja-JP" b="0" i="1" smtClean="0">
                            <a:latin typeface="Cambria Math" panose="02040503050406030204" pitchFamily="18" charset="0"/>
                          </a:rPr>
                          <m:t>𝑥</m:t>
                        </m:r>
                      </m:oMath>
                    </m:oMathPara>
                  </a14:m>
                  <a:endParaRPr kumimoji="1" lang="ja-JP" altLang="en-US"/>
                </a:p>
              </p:txBody>
            </p:sp>
          </mc:Choice>
          <mc:Fallback xmlns="">
            <p:sp>
              <p:nvSpPr>
                <p:cNvPr id="109" name="テキスト ボックス 108">
                  <a:extLst>
                    <a:ext uri="{FF2B5EF4-FFF2-40B4-BE49-F238E27FC236}">
                      <a16:creationId xmlns:a16="http://schemas.microsoft.com/office/drawing/2014/main" id="{C64F82FF-AC50-B81E-DDD8-A11C389967A2}"/>
                    </a:ext>
                  </a:extLst>
                </p:cNvPr>
                <p:cNvSpPr txBox="1">
                  <a:spLocks noRot="1" noChangeAspect="1" noMove="1" noResize="1" noEditPoints="1" noAdjustHandles="1" noChangeArrowheads="1" noChangeShapeType="1" noTextEdit="1"/>
                </p:cNvSpPr>
                <p:nvPr/>
              </p:nvSpPr>
              <p:spPr>
                <a:xfrm>
                  <a:off x="2803966" y="3616058"/>
                  <a:ext cx="380810"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0F44A571-232C-8520-9FB2-990AFE406F5C}"/>
                    </a:ext>
                  </a:extLst>
                </p:cNvPr>
                <p:cNvSpPr txBox="1"/>
                <p:nvPr/>
              </p:nvSpPr>
              <p:spPr>
                <a:xfrm>
                  <a:off x="496129" y="1762110"/>
                  <a:ext cx="384208" cy="369332"/>
                </a:xfrm>
                <a:prstGeom prst="rect">
                  <a:avLst/>
                </a:prstGeom>
                <a:noFill/>
              </p:spPr>
              <p:txBody>
                <a:bodyPr wrap="square" rtlCol="0">
                  <a:spAutoFit/>
                </a:bodyPr>
                <a:lstStyle/>
                <a:p>
                  <a:pPr/>
                  <a14:m>
                    <m:oMathPara xmlns:m="http://schemas.openxmlformats.org/officeDocument/2006/math">
                      <m:oMath>
                        <m:r>
                          <a:rPr kumimoji="1" lang="en-US" altLang="ja-JP" b="0" i="1" smtClean="0">
                            <a:latin typeface="Cambria Math" panose="02040503050406030204" pitchFamily="18" charset="0"/>
                          </a:rPr>
                          <m:t>𝑦</m:t>
                        </m:r>
                      </m:oMath>
                    </m:oMathPara>
                  </a14:m>
                  <a:endParaRPr kumimoji="1" lang="ja-JP" altLang="en-US"/>
                </a:p>
              </p:txBody>
            </p:sp>
          </mc:Choice>
          <mc:Fallback xmlns="">
            <p:sp>
              <p:nvSpPr>
                <p:cNvPr id="110" name="テキスト ボックス 109">
                  <a:extLst>
                    <a:ext uri="{FF2B5EF4-FFF2-40B4-BE49-F238E27FC236}">
                      <a16:creationId xmlns:a16="http://schemas.microsoft.com/office/drawing/2014/main" id="{0F44A571-232C-8520-9FB2-990AFE406F5C}"/>
                    </a:ext>
                  </a:extLst>
                </p:cNvPr>
                <p:cNvSpPr txBox="1">
                  <a:spLocks noRot="1" noChangeAspect="1" noMove="1" noResize="1" noEditPoints="1" noAdjustHandles="1" noChangeArrowheads="1" noChangeShapeType="1" noTextEdit="1"/>
                </p:cNvSpPr>
                <p:nvPr/>
              </p:nvSpPr>
              <p:spPr>
                <a:xfrm>
                  <a:off x="496129" y="1762110"/>
                  <a:ext cx="384208" cy="369332"/>
                </a:xfrm>
                <a:prstGeom prst="rect">
                  <a:avLst/>
                </a:prstGeom>
                <a:blipFill>
                  <a:blip r:embed="rId6"/>
                  <a:stretch>
                    <a:fillRect b="-6667"/>
                  </a:stretch>
                </a:blipFill>
              </p:spPr>
              <p:txBody>
                <a:bodyPr/>
                <a:lstStyle/>
                <a:p>
                  <a:r>
                    <a:rPr lang="ja-JP" altLang="en-US">
                      <a:noFill/>
                    </a:rPr>
                    <a:t> </a:t>
                  </a:r>
                </a:p>
              </p:txBody>
            </p:sp>
          </mc:Fallback>
        </mc:AlternateContent>
      </p:grpSp>
      <p:sp>
        <p:nvSpPr>
          <p:cNvPr id="112" name="テキスト ボックス 111">
            <a:extLst>
              <a:ext uri="{FF2B5EF4-FFF2-40B4-BE49-F238E27FC236}">
                <a16:creationId xmlns:a16="http://schemas.microsoft.com/office/drawing/2014/main" id="{C9751F94-6544-5498-027D-D75858457A8B}"/>
              </a:ext>
            </a:extLst>
          </p:cNvPr>
          <p:cNvSpPr txBox="1"/>
          <p:nvPr/>
        </p:nvSpPr>
        <p:spPr>
          <a:xfrm>
            <a:off x="496129" y="1253765"/>
            <a:ext cx="5415265" cy="523220"/>
          </a:xfrm>
          <a:prstGeom prst="rect">
            <a:avLst/>
          </a:prstGeom>
          <a:noFill/>
        </p:spPr>
        <p:txBody>
          <a:bodyPr wrap="none" rtlCol="0">
            <a:spAutoFit/>
          </a:bodyPr>
          <a:lstStyle/>
          <a:p>
            <a:r>
              <a:rPr kumimoji="1" lang="en-US" altLang="ja-JP" sz="2800" b="1" dirty="0">
                <a:latin typeface="Arial" panose="020B0604020202020204" pitchFamily="34" charset="0"/>
                <a:cs typeface="Arial" panose="020B0604020202020204" pitchFamily="34" charset="0"/>
              </a:rPr>
              <a:t>Find model, optimize structure</a:t>
            </a:r>
            <a:endParaRPr kumimoji="1" lang="ja-JP" altLang="en-US" sz="2800" b="1">
              <a:latin typeface="Arial" panose="020B0604020202020204" pitchFamily="34" charset="0"/>
              <a:cs typeface="Arial" panose="020B0604020202020204" pitchFamily="34" charset="0"/>
            </a:endParaRPr>
          </a:p>
        </p:txBody>
      </p:sp>
      <p:sp>
        <p:nvSpPr>
          <p:cNvPr id="114" name="テキスト ボックス 113">
            <a:extLst>
              <a:ext uri="{FF2B5EF4-FFF2-40B4-BE49-F238E27FC236}">
                <a16:creationId xmlns:a16="http://schemas.microsoft.com/office/drawing/2014/main" id="{A5848BB2-191C-33AD-DD8C-2DC2D61C655C}"/>
              </a:ext>
            </a:extLst>
          </p:cNvPr>
          <p:cNvSpPr txBox="1"/>
          <p:nvPr/>
        </p:nvSpPr>
        <p:spPr>
          <a:xfrm>
            <a:off x="476992" y="4102206"/>
            <a:ext cx="4794902"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Genetic Programming (GP)</a:t>
            </a:r>
            <a:endParaRPr kumimoji="1" lang="ja-JP" altLang="en-US" sz="2800"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3" name="フローチャート: 結合子 142">
                <a:extLst>
                  <a:ext uri="{FF2B5EF4-FFF2-40B4-BE49-F238E27FC236}">
                    <a16:creationId xmlns:a16="http://schemas.microsoft.com/office/drawing/2014/main" id="{262C3CF2-32CE-9FAD-4130-A3AC7C7B4AF0}"/>
                  </a:ext>
                </a:extLst>
              </p:cNvPr>
              <p:cNvSpPr/>
              <p:nvPr/>
            </p:nvSpPr>
            <p:spPr>
              <a:xfrm>
                <a:off x="7947055" y="4705367"/>
                <a:ext cx="621639" cy="482822"/>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i="1" smtClean="0">
                          <a:solidFill>
                            <a:schemeClr val="tx1"/>
                          </a:solidFill>
                          <a:latin typeface="Cambria Math" panose="02040503050406030204" pitchFamily="18" charset="0"/>
                          <a:ea typeface="Cambria Math" panose="02040503050406030204" pitchFamily="18" charset="0"/>
                        </a:rPr>
                        <m:t>×</m:t>
                      </m:r>
                    </m:oMath>
                  </m:oMathPara>
                </a14:m>
                <a:endParaRPr kumimoji="1" lang="ja-JP" altLang="en-US">
                  <a:solidFill>
                    <a:schemeClr val="tx1"/>
                  </a:solidFill>
                </a:endParaRPr>
              </a:p>
            </p:txBody>
          </p:sp>
        </mc:Choice>
        <mc:Fallback xmlns="">
          <p:sp>
            <p:nvSpPr>
              <p:cNvPr id="143" name="フローチャート: 結合子 142">
                <a:extLst>
                  <a:ext uri="{FF2B5EF4-FFF2-40B4-BE49-F238E27FC236}">
                    <a16:creationId xmlns:a16="http://schemas.microsoft.com/office/drawing/2014/main" id="{262C3CF2-32CE-9FAD-4130-A3AC7C7B4AF0}"/>
                  </a:ext>
                </a:extLst>
              </p:cNvPr>
              <p:cNvSpPr>
                <a:spLocks noRot="1" noChangeAspect="1" noMove="1" noResize="1" noEditPoints="1" noAdjustHandles="1" noChangeArrowheads="1" noChangeShapeType="1" noTextEdit="1"/>
              </p:cNvSpPr>
              <p:nvPr/>
            </p:nvSpPr>
            <p:spPr>
              <a:xfrm>
                <a:off x="7947055" y="4705367"/>
                <a:ext cx="621639" cy="482822"/>
              </a:xfrm>
              <a:prstGeom prst="flowChartConnector">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4" name="フローチャート: 結合子 143">
                <a:extLst>
                  <a:ext uri="{FF2B5EF4-FFF2-40B4-BE49-F238E27FC236}">
                    <a16:creationId xmlns:a16="http://schemas.microsoft.com/office/drawing/2014/main" id="{1BEC9F66-4E46-4968-F503-C13FB6A502E1}"/>
                  </a:ext>
                </a:extLst>
              </p:cNvPr>
              <p:cNvSpPr/>
              <p:nvPr/>
            </p:nvSpPr>
            <p:spPr>
              <a:xfrm>
                <a:off x="7523866" y="5476241"/>
                <a:ext cx="457200" cy="45720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1</m:t>
                          </m:r>
                        </m:sub>
                      </m:sSub>
                    </m:oMath>
                  </m:oMathPara>
                </a14:m>
                <a:endParaRPr kumimoji="1" lang="ja-JP" altLang="en-US">
                  <a:solidFill>
                    <a:schemeClr val="tx1"/>
                  </a:solidFill>
                </a:endParaRPr>
              </a:p>
            </p:txBody>
          </p:sp>
        </mc:Choice>
        <mc:Fallback xmlns="">
          <p:sp>
            <p:nvSpPr>
              <p:cNvPr id="144" name="フローチャート: 結合子 143">
                <a:extLst>
                  <a:ext uri="{FF2B5EF4-FFF2-40B4-BE49-F238E27FC236}">
                    <a16:creationId xmlns:a16="http://schemas.microsoft.com/office/drawing/2014/main" id="{1BEC9F66-4E46-4968-F503-C13FB6A502E1}"/>
                  </a:ext>
                </a:extLst>
              </p:cNvPr>
              <p:cNvSpPr>
                <a:spLocks noRot="1" noChangeAspect="1" noMove="1" noResize="1" noEditPoints="1" noAdjustHandles="1" noChangeArrowheads="1" noChangeShapeType="1" noTextEdit="1"/>
              </p:cNvSpPr>
              <p:nvPr/>
            </p:nvSpPr>
            <p:spPr>
              <a:xfrm>
                <a:off x="7523866" y="5476241"/>
                <a:ext cx="457200" cy="457200"/>
              </a:xfrm>
              <a:prstGeom prst="flowChartConnector">
                <a:avLst/>
              </a:prstGeom>
              <a:blipFill>
                <a:blip r:embed="rId8"/>
                <a:stretch>
                  <a:fillRect/>
                </a:stretch>
              </a:blipFill>
            </p:spPr>
            <p:txBody>
              <a:bodyPr/>
              <a:lstStyle/>
              <a:p>
                <a:r>
                  <a:rPr lang="ja-JP" altLang="en-US">
                    <a:noFill/>
                  </a:rPr>
                  <a:t> </a:t>
                </a:r>
              </a:p>
            </p:txBody>
          </p:sp>
        </mc:Fallback>
      </mc:AlternateContent>
      <p:cxnSp>
        <p:nvCxnSpPr>
          <p:cNvPr id="147" name="直線コネクタ 146">
            <a:extLst>
              <a:ext uri="{FF2B5EF4-FFF2-40B4-BE49-F238E27FC236}">
                <a16:creationId xmlns:a16="http://schemas.microsoft.com/office/drawing/2014/main" id="{B74EE91E-4526-8FBB-B362-819D761AAF87}"/>
              </a:ext>
            </a:extLst>
          </p:cNvPr>
          <p:cNvCxnSpPr>
            <a:cxnSpLocks/>
            <a:stCxn id="143" idx="3"/>
            <a:endCxn id="144" idx="0"/>
          </p:cNvCxnSpPr>
          <p:nvPr/>
        </p:nvCxnSpPr>
        <p:spPr>
          <a:xfrm flipH="1">
            <a:off x="7752466" y="5117481"/>
            <a:ext cx="285626" cy="3587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直線コネクタ 147">
            <a:extLst>
              <a:ext uri="{FF2B5EF4-FFF2-40B4-BE49-F238E27FC236}">
                <a16:creationId xmlns:a16="http://schemas.microsoft.com/office/drawing/2014/main" id="{7F86FF62-CCDF-0E1D-820D-5617B10222BF}"/>
              </a:ext>
            </a:extLst>
          </p:cNvPr>
          <p:cNvCxnSpPr>
            <a:cxnSpLocks/>
            <a:stCxn id="143" idx="5"/>
            <a:endCxn id="158" idx="0"/>
          </p:cNvCxnSpPr>
          <p:nvPr/>
        </p:nvCxnSpPr>
        <p:spPr>
          <a:xfrm>
            <a:off x="8477657" y="5117481"/>
            <a:ext cx="220093" cy="35424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8" name="フローチャート: 結合子 157">
                <a:extLst>
                  <a:ext uri="{FF2B5EF4-FFF2-40B4-BE49-F238E27FC236}">
                    <a16:creationId xmlns:a16="http://schemas.microsoft.com/office/drawing/2014/main" id="{6A88245A-7C75-BBB2-E24A-4E925FAB8551}"/>
                  </a:ext>
                </a:extLst>
              </p:cNvPr>
              <p:cNvSpPr/>
              <p:nvPr/>
            </p:nvSpPr>
            <p:spPr>
              <a:xfrm>
                <a:off x="8453299" y="5471725"/>
                <a:ext cx="488902" cy="457200"/>
              </a:xfrm>
              <a:prstGeom prst="flowChartConnector">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m:t>
                      </m:r>
                    </m:oMath>
                  </m:oMathPara>
                </a14:m>
                <a:endParaRPr kumimoji="1" lang="ja-JP" altLang="en-US">
                  <a:solidFill>
                    <a:schemeClr val="tx1"/>
                  </a:solidFill>
                </a:endParaRPr>
              </a:p>
            </p:txBody>
          </p:sp>
        </mc:Choice>
        <mc:Fallback xmlns="">
          <p:sp>
            <p:nvSpPr>
              <p:cNvPr id="158" name="フローチャート: 結合子 157">
                <a:extLst>
                  <a:ext uri="{FF2B5EF4-FFF2-40B4-BE49-F238E27FC236}">
                    <a16:creationId xmlns:a16="http://schemas.microsoft.com/office/drawing/2014/main" id="{6A88245A-7C75-BBB2-E24A-4E925FAB8551}"/>
                  </a:ext>
                </a:extLst>
              </p:cNvPr>
              <p:cNvSpPr>
                <a:spLocks noRot="1" noChangeAspect="1" noMove="1" noResize="1" noEditPoints="1" noAdjustHandles="1" noChangeArrowheads="1" noChangeShapeType="1" noTextEdit="1"/>
              </p:cNvSpPr>
              <p:nvPr/>
            </p:nvSpPr>
            <p:spPr>
              <a:xfrm>
                <a:off x="8453299" y="5471725"/>
                <a:ext cx="488902" cy="457200"/>
              </a:xfrm>
              <a:prstGeom prst="flowChartConnector">
                <a:avLst/>
              </a:prstGeom>
              <a:blipFill>
                <a:blip r:embed="rId9"/>
                <a:stretch>
                  <a:fillRect/>
                </a:stretch>
              </a:blipFill>
              <a:ln>
                <a:solidFill>
                  <a:srgbClr val="C00000"/>
                </a:solidFill>
              </a:ln>
            </p:spPr>
            <p:txBody>
              <a:bodyPr/>
              <a:lstStyle/>
              <a:p>
                <a:r>
                  <a:rPr lang="ja-JP" altLang="en-US">
                    <a:noFill/>
                  </a:rPr>
                  <a:t> </a:t>
                </a:r>
              </a:p>
            </p:txBody>
          </p:sp>
        </mc:Fallback>
      </mc:AlternateContent>
      <p:cxnSp>
        <p:nvCxnSpPr>
          <p:cNvPr id="159" name="直線コネクタ 158">
            <a:extLst>
              <a:ext uri="{FF2B5EF4-FFF2-40B4-BE49-F238E27FC236}">
                <a16:creationId xmlns:a16="http://schemas.microsoft.com/office/drawing/2014/main" id="{4110C86E-4F39-B158-7FCD-6B0F7C7C0148}"/>
              </a:ext>
            </a:extLst>
          </p:cNvPr>
          <p:cNvCxnSpPr>
            <a:cxnSpLocks/>
            <a:stCxn id="158" idx="3"/>
            <a:endCxn id="160" idx="0"/>
          </p:cNvCxnSpPr>
          <p:nvPr/>
        </p:nvCxnSpPr>
        <p:spPr>
          <a:xfrm flipH="1">
            <a:off x="8289104" y="5861970"/>
            <a:ext cx="235793" cy="214545"/>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0" name="フローチャート: 結合子 159">
                <a:extLst>
                  <a:ext uri="{FF2B5EF4-FFF2-40B4-BE49-F238E27FC236}">
                    <a16:creationId xmlns:a16="http://schemas.microsoft.com/office/drawing/2014/main" id="{9FD4B1B5-EB93-1C5B-1EFA-6778C3FCF35F}"/>
                  </a:ext>
                </a:extLst>
              </p:cNvPr>
              <p:cNvSpPr/>
              <p:nvPr/>
            </p:nvSpPr>
            <p:spPr>
              <a:xfrm>
                <a:off x="8060504" y="6076515"/>
                <a:ext cx="457200" cy="482822"/>
              </a:xfrm>
              <a:prstGeom prst="flowChartConnector">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2</m:t>
                          </m:r>
                        </m:sub>
                      </m:sSub>
                    </m:oMath>
                  </m:oMathPara>
                </a14:m>
                <a:endParaRPr kumimoji="1" lang="ja-JP" altLang="en-US">
                  <a:solidFill>
                    <a:schemeClr val="tx1"/>
                  </a:solidFill>
                </a:endParaRPr>
              </a:p>
            </p:txBody>
          </p:sp>
        </mc:Choice>
        <mc:Fallback xmlns="">
          <p:sp>
            <p:nvSpPr>
              <p:cNvPr id="160" name="フローチャート: 結合子 159">
                <a:extLst>
                  <a:ext uri="{FF2B5EF4-FFF2-40B4-BE49-F238E27FC236}">
                    <a16:creationId xmlns:a16="http://schemas.microsoft.com/office/drawing/2014/main" id="{9FD4B1B5-EB93-1C5B-1EFA-6778C3FCF35F}"/>
                  </a:ext>
                </a:extLst>
              </p:cNvPr>
              <p:cNvSpPr>
                <a:spLocks noRot="1" noChangeAspect="1" noMove="1" noResize="1" noEditPoints="1" noAdjustHandles="1" noChangeArrowheads="1" noChangeShapeType="1" noTextEdit="1"/>
              </p:cNvSpPr>
              <p:nvPr/>
            </p:nvSpPr>
            <p:spPr>
              <a:xfrm>
                <a:off x="8060504" y="6076515"/>
                <a:ext cx="457200" cy="482822"/>
              </a:xfrm>
              <a:prstGeom prst="flowChartConnector">
                <a:avLst/>
              </a:prstGeom>
              <a:blipFill>
                <a:blip r:embed="rId10"/>
                <a:stretch>
                  <a:fillRect/>
                </a:stretch>
              </a:blipFill>
              <a:ln>
                <a:solidFill>
                  <a:srgbClr val="C0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1" name="フローチャート: 結合子 160">
                <a:extLst>
                  <a:ext uri="{FF2B5EF4-FFF2-40B4-BE49-F238E27FC236}">
                    <a16:creationId xmlns:a16="http://schemas.microsoft.com/office/drawing/2014/main" id="{DEC1C531-8C29-9640-AF73-F623A64F765A}"/>
                  </a:ext>
                </a:extLst>
              </p:cNvPr>
              <p:cNvSpPr/>
              <p:nvPr/>
            </p:nvSpPr>
            <p:spPr>
              <a:xfrm>
                <a:off x="8891515" y="6102375"/>
                <a:ext cx="457200" cy="482822"/>
              </a:xfrm>
              <a:prstGeom prst="flowChartConnector">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5</m:t>
                      </m:r>
                    </m:oMath>
                  </m:oMathPara>
                </a14:m>
                <a:endParaRPr kumimoji="1" lang="ja-JP" altLang="en-US">
                  <a:solidFill>
                    <a:schemeClr val="tx1"/>
                  </a:solidFill>
                </a:endParaRPr>
              </a:p>
            </p:txBody>
          </p:sp>
        </mc:Choice>
        <mc:Fallback xmlns="">
          <p:sp>
            <p:nvSpPr>
              <p:cNvPr id="161" name="フローチャート: 結合子 160">
                <a:extLst>
                  <a:ext uri="{FF2B5EF4-FFF2-40B4-BE49-F238E27FC236}">
                    <a16:creationId xmlns:a16="http://schemas.microsoft.com/office/drawing/2014/main" id="{DEC1C531-8C29-9640-AF73-F623A64F765A}"/>
                  </a:ext>
                </a:extLst>
              </p:cNvPr>
              <p:cNvSpPr>
                <a:spLocks noRot="1" noChangeAspect="1" noMove="1" noResize="1" noEditPoints="1" noAdjustHandles="1" noChangeArrowheads="1" noChangeShapeType="1" noTextEdit="1"/>
              </p:cNvSpPr>
              <p:nvPr/>
            </p:nvSpPr>
            <p:spPr>
              <a:xfrm>
                <a:off x="8891515" y="6102375"/>
                <a:ext cx="457200" cy="482822"/>
              </a:xfrm>
              <a:prstGeom prst="flowChartConnector">
                <a:avLst/>
              </a:prstGeom>
              <a:blipFill>
                <a:blip r:embed="rId11"/>
                <a:stretch>
                  <a:fillRect/>
                </a:stretch>
              </a:blipFill>
              <a:ln>
                <a:solidFill>
                  <a:srgbClr val="C00000"/>
                </a:solidFill>
              </a:ln>
            </p:spPr>
            <p:txBody>
              <a:bodyPr/>
              <a:lstStyle/>
              <a:p>
                <a:r>
                  <a:rPr lang="ja-JP" altLang="en-US">
                    <a:noFill/>
                  </a:rPr>
                  <a:t> </a:t>
                </a:r>
              </a:p>
            </p:txBody>
          </p:sp>
        </mc:Fallback>
      </mc:AlternateContent>
      <p:cxnSp>
        <p:nvCxnSpPr>
          <p:cNvPr id="162" name="直線コネクタ 161">
            <a:extLst>
              <a:ext uri="{FF2B5EF4-FFF2-40B4-BE49-F238E27FC236}">
                <a16:creationId xmlns:a16="http://schemas.microsoft.com/office/drawing/2014/main" id="{95BA7F69-3E4A-F0BB-0F5C-336C0CFD7CEA}"/>
              </a:ext>
            </a:extLst>
          </p:cNvPr>
          <p:cNvCxnSpPr>
            <a:cxnSpLocks/>
            <a:stCxn id="158" idx="5"/>
            <a:endCxn id="161" idx="0"/>
          </p:cNvCxnSpPr>
          <p:nvPr/>
        </p:nvCxnSpPr>
        <p:spPr>
          <a:xfrm>
            <a:off x="8870603" y="5861970"/>
            <a:ext cx="249512" cy="240405"/>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01" name="テキスト ボックス 200">
            <a:extLst>
              <a:ext uri="{FF2B5EF4-FFF2-40B4-BE49-F238E27FC236}">
                <a16:creationId xmlns:a16="http://schemas.microsoft.com/office/drawing/2014/main" id="{89A0E8DD-7EA6-A17A-EC2C-24AF27642A8B}"/>
              </a:ext>
            </a:extLst>
          </p:cNvPr>
          <p:cNvSpPr txBox="1"/>
          <p:nvPr/>
        </p:nvSpPr>
        <p:spPr>
          <a:xfrm>
            <a:off x="829836" y="4788678"/>
            <a:ext cx="4246675" cy="461665"/>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Biologically inspired algorithm</a:t>
            </a:r>
          </a:p>
        </p:txBody>
      </p:sp>
      <mc:AlternateContent xmlns:mc="http://schemas.openxmlformats.org/markup-compatibility/2006" xmlns:a14="http://schemas.microsoft.com/office/drawing/2010/main">
        <mc:Choice Requires="a14">
          <p:sp>
            <p:nvSpPr>
              <p:cNvPr id="205" name="フローチャート: 結合子 204">
                <a:extLst>
                  <a:ext uri="{FF2B5EF4-FFF2-40B4-BE49-F238E27FC236}">
                    <a16:creationId xmlns:a16="http://schemas.microsoft.com/office/drawing/2014/main" id="{9BFB7018-74B9-EE13-2B63-55557B7C8188}"/>
                  </a:ext>
                </a:extLst>
              </p:cNvPr>
              <p:cNvSpPr/>
              <p:nvPr/>
            </p:nvSpPr>
            <p:spPr>
              <a:xfrm>
                <a:off x="10380766" y="4705367"/>
                <a:ext cx="621639" cy="482822"/>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m:t>
                      </m:r>
                    </m:oMath>
                  </m:oMathPara>
                </a14:m>
                <a:endParaRPr kumimoji="1" lang="ja-JP" altLang="en-US">
                  <a:solidFill>
                    <a:schemeClr val="tx1"/>
                  </a:solidFill>
                </a:endParaRPr>
              </a:p>
            </p:txBody>
          </p:sp>
        </mc:Choice>
        <mc:Fallback xmlns="">
          <p:sp>
            <p:nvSpPr>
              <p:cNvPr id="205" name="フローチャート: 結合子 204">
                <a:extLst>
                  <a:ext uri="{FF2B5EF4-FFF2-40B4-BE49-F238E27FC236}">
                    <a16:creationId xmlns:a16="http://schemas.microsoft.com/office/drawing/2014/main" id="{9BFB7018-74B9-EE13-2B63-55557B7C8188}"/>
                  </a:ext>
                </a:extLst>
              </p:cNvPr>
              <p:cNvSpPr>
                <a:spLocks noRot="1" noChangeAspect="1" noMove="1" noResize="1" noEditPoints="1" noAdjustHandles="1" noChangeArrowheads="1" noChangeShapeType="1" noTextEdit="1"/>
              </p:cNvSpPr>
              <p:nvPr/>
            </p:nvSpPr>
            <p:spPr>
              <a:xfrm>
                <a:off x="10380766" y="4705367"/>
                <a:ext cx="621639" cy="482822"/>
              </a:xfrm>
              <a:prstGeom prst="flowChartConnector">
                <a:avLst/>
              </a:prstGeom>
              <a:blipFill>
                <a:blip r:embed="rId1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6" name="フローチャート: 結合子 205">
                <a:extLst>
                  <a:ext uri="{FF2B5EF4-FFF2-40B4-BE49-F238E27FC236}">
                    <a16:creationId xmlns:a16="http://schemas.microsoft.com/office/drawing/2014/main" id="{FF5F10C6-8AFA-D8A1-B0DC-B604AC624C0E}"/>
                  </a:ext>
                </a:extLst>
              </p:cNvPr>
              <p:cNvSpPr/>
              <p:nvPr/>
            </p:nvSpPr>
            <p:spPr>
              <a:xfrm>
                <a:off x="9957577" y="5476241"/>
                <a:ext cx="457200" cy="45720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3</m:t>
                          </m:r>
                        </m:sub>
                      </m:sSub>
                    </m:oMath>
                  </m:oMathPara>
                </a14:m>
                <a:endParaRPr kumimoji="1" lang="ja-JP" altLang="en-US">
                  <a:solidFill>
                    <a:schemeClr val="tx1"/>
                  </a:solidFill>
                </a:endParaRPr>
              </a:p>
            </p:txBody>
          </p:sp>
        </mc:Choice>
        <mc:Fallback xmlns="">
          <p:sp>
            <p:nvSpPr>
              <p:cNvPr id="206" name="フローチャート: 結合子 205">
                <a:extLst>
                  <a:ext uri="{FF2B5EF4-FFF2-40B4-BE49-F238E27FC236}">
                    <a16:creationId xmlns:a16="http://schemas.microsoft.com/office/drawing/2014/main" id="{FF5F10C6-8AFA-D8A1-B0DC-B604AC624C0E}"/>
                  </a:ext>
                </a:extLst>
              </p:cNvPr>
              <p:cNvSpPr>
                <a:spLocks noRot="1" noChangeAspect="1" noMove="1" noResize="1" noEditPoints="1" noAdjustHandles="1" noChangeArrowheads="1" noChangeShapeType="1" noTextEdit="1"/>
              </p:cNvSpPr>
              <p:nvPr/>
            </p:nvSpPr>
            <p:spPr>
              <a:xfrm>
                <a:off x="9957577" y="5476241"/>
                <a:ext cx="457200" cy="457200"/>
              </a:xfrm>
              <a:prstGeom prst="flowChartConnector">
                <a:avLst/>
              </a:prstGeom>
              <a:blipFill>
                <a:blip r:embed="rId13"/>
                <a:stretch>
                  <a:fillRect/>
                </a:stretch>
              </a:blipFill>
            </p:spPr>
            <p:txBody>
              <a:bodyPr/>
              <a:lstStyle/>
              <a:p>
                <a:r>
                  <a:rPr lang="ja-JP" altLang="en-US">
                    <a:noFill/>
                  </a:rPr>
                  <a:t> </a:t>
                </a:r>
              </a:p>
            </p:txBody>
          </p:sp>
        </mc:Fallback>
      </mc:AlternateContent>
      <p:cxnSp>
        <p:nvCxnSpPr>
          <p:cNvPr id="207" name="直線コネクタ 206">
            <a:extLst>
              <a:ext uri="{FF2B5EF4-FFF2-40B4-BE49-F238E27FC236}">
                <a16:creationId xmlns:a16="http://schemas.microsoft.com/office/drawing/2014/main" id="{5F112429-0467-2F72-E371-11F96B352249}"/>
              </a:ext>
            </a:extLst>
          </p:cNvPr>
          <p:cNvCxnSpPr>
            <a:cxnSpLocks/>
            <a:stCxn id="205" idx="3"/>
            <a:endCxn id="206" idx="0"/>
          </p:cNvCxnSpPr>
          <p:nvPr/>
        </p:nvCxnSpPr>
        <p:spPr>
          <a:xfrm flipH="1">
            <a:off x="10186177" y="5117481"/>
            <a:ext cx="285626" cy="3587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8" name="直線コネクタ 207">
            <a:extLst>
              <a:ext uri="{FF2B5EF4-FFF2-40B4-BE49-F238E27FC236}">
                <a16:creationId xmlns:a16="http://schemas.microsoft.com/office/drawing/2014/main" id="{266E9E4B-D49B-5655-E3A4-F89D89D7B07B}"/>
              </a:ext>
            </a:extLst>
          </p:cNvPr>
          <p:cNvCxnSpPr>
            <a:cxnSpLocks/>
            <a:stCxn id="205" idx="5"/>
            <a:endCxn id="209" idx="0"/>
          </p:cNvCxnSpPr>
          <p:nvPr/>
        </p:nvCxnSpPr>
        <p:spPr>
          <a:xfrm>
            <a:off x="10911368" y="5117481"/>
            <a:ext cx="220093" cy="35424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9" name="フローチャート: 結合子 208">
                <a:extLst>
                  <a:ext uri="{FF2B5EF4-FFF2-40B4-BE49-F238E27FC236}">
                    <a16:creationId xmlns:a16="http://schemas.microsoft.com/office/drawing/2014/main" id="{9477B27A-33F7-2F4A-6455-3527BAA1121C}"/>
                  </a:ext>
                </a:extLst>
              </p:cNvPr>
              <p:cNvSpPr/>
              <p:nvPr/>
            </p:nvSpPr>
            <p:spPr>
              <a:xfrm>
                <a:off x="10887010" y="5471725"/>
                <a:ext cx="488902" cy="457200"/>
              </a:xfrm>
              <a:prstGeom prst="flowChartConnector">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i="1" smtClean="0">
                          <a:solidFill>
                            <a:schemeClr val="tx1"/>
                          </a:solidFill>
                          <a:latin typeface="Cambria Math" panose="02040503050406030204" pitchFamily="18" charset="0"/>
                          <a:ea typeface="Cambria Math" panose="02040503050406030204" pitchFamily="18" charset="0"/>
                        </a:rPr>
                        <m:t>÷</m:t>
                      </m:r>
                    </m:oMath>
                  </m:oMathPara>
                </a14:m>
                <a:endParaRPr kumimoji="1" lang="ja-JP" altLang="en-US">
                  <a:solidFill>
                    <a:schemeClr val="tx1"/>
                  </a:solidFill>
                </a:endParaRPr>
              </a:p>
            </p:txBody>
          </p:sp>
        </mc:Choice>
        <mc:Fallback xmlns="">
          <p:sp>
            <p:nvSpPr>
              <p:cNvPr id="209" name="フローチャート: 結合子 208">
                <a:extLst>
                  <a:ext uri="{FF2B5EF4-FFF2-40B4-BE49-F238E27FC236}">
                    <a16:creationId xmlns:a16="http://schemas.microsoft.com/office/drawing/2014/main" id="{9477B27A-33F7-2F4A-6455-3527BAA1121C}"/>
                  </a:ext>
                </a:extLst>
              </p:cNvPr>
              <p:cNvSpPr>
                <a:spLocks noRot="1" noChangeAspect="1" noMove="1" noResize="1" noEditPoints="1" noAdjustHandles="1" noChangeArrowheads="1" noChangeShapeType="1" noTextEdit="1"/>
              </p:cNvSpPr>
              <p:nvPr/>
            </p:nvSpPr>
            <p:spPr>
              <a:xfrm>
                <a:off x="10887010" y="5471725"/>
                <a:ext cx="488902" cy="457200"/>
              </a:xfrm>
              <a:prstGeom prst="flowChartConnector">
                <a:avLst/>
              </a:prstGeom>
              <a:blipFill>
                <a:blip r:embed="rId14"/>
                <a:stretch>
                  <a:fillRect/>
                </a:stretch>
              </a:blipFill>
              <a:ln>
                <a:solidFill>
                  <a:schemeClr val="tx2">
                    <a:lumMod val="75000"/>
                    <a:lumOff val="2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1" name="フローチャート: 結合子 210">
                <a:extLst>
                  <a:ext uri="{FF2B5EF4-FFF2-40B4-BE49-F238E27FC236}">
                    <a16:creationId xmlns:a16="http://schemas.microsoft.com/office/drawing/2014/main" id="{EEF53037-8BC6-9D82-B959-404C73FEDCEC}"/>
                  </a:ext>
                </a:extLst>
              </p:cNvPr>
              <p:cNvSpPr/>
              <p:nvPr/>
            </p:nvSpPr>
            <p:spPr>
              <a:xfrm>
                <a:off x="10494215" y="6076515"/>
                <a:ext cx="457200" cy="482822"/>
              </a:xfrm>
              <a:prstGeom prst="flowChartConnector">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4</m:t>
                          </m:r>
                        </m:sub>
                      </m:sSub>
                    </m:oMath>
                  </m:oMathPara>
                </a14:m>
                <a:endParaRPr kumimoji="1" lang="ja-JP" altLang="en-US">
                  <a:solidFill>
                    <a:schemeClr val="tx1"/>
                  </a:solidFill>
                </a:endParaRPr>
              </a:p>
            </p:txBody>
          </p:sp>
        </mc:Choice>
        <mc:Fallback xmlns="">
          <p:sp>
            <p:nvSpPr>
              <p:cNvPr id="211" name="フローチャート: 結合子 210">
                <a:extLst>
                  <a:ext uri="{FF2B5EF4-FFF2-40B4-BE49-F238E27FC236}">
                    <a16:creationId xmlns:a16="http://schemas.microsoft.com/office/drawing/2014/main" id="{EEF53037-8BC6-9D82-B959-404C73FEDCEC}"/>
                  </a:ext>
                </a:extLst>
              </p:cNvPr>
              <p:cNvSpPr>
                <a:spLocks noRot="1" noChangeAspect="1" noMove="1" noResize="1" noEditPoints="1" noAdjustHandles="1" noChangeArrowheads="1" noChangeShapeType="1" noTextEdit="1"/>
              </p:cNvSpPr>
              <p:nvPr/>
            </p:nvSpPr>
            <p:spPr>
              <a:xfrm>
                <a:off x="10494215" y="6076515"/>
                <a:ext cx="457200" cy="482822"/>
              </a:xfrm>
              <a:prstGeom prst="flowChartConnector">
                <a:avLst/>
              </a:prstGeom>
              <a:blipFill>
                <a:blip r:embed="rId15"/>
                <a:stretch>
                  <a:fillRect/>
                </a:stretch>
              </a:blipFill>
              <a:ln>
                <a:solidFill>
                  <a:schemeClr val="tx2">
                    <a:lumMod val="75000"/>
                    <a:lumOff val="2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2" name="フローチャート: 結合子 211">
                <a:extLst>
                  <a:ext uri="{FF2B5EF4-FFF2-40B4-BE49-F238E27FC236}">
                    <a16:creationId xmlns:a16="http://schemas.microsoft.com/office/drawing/2014/main" id="{623E7424-D485-8888-55CD-DE6405515BC5}"/>
                  </a:ext>
                </a:extLst>
              </p:cNvPr>
              <p:cNvSpPr/>
              <p:nvPr/>
            </p:nvSpPr>
            <p:spPr>
              <a:xfrm>
                <a:off x="11325226" y="6102375"/>
                <a:ext cx="457200" cy="482822"/>
              </a:xfrm>
              <a:prstGeom prst="flowChartConnector">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3</m:t>
                      </m:r>
                    </m:oMath>
                  </m:oMathPara>
                </a14:m>
                <a:endParaRPr kumimoji="1" lang="ja-JP" altLang="en-US">
                  <a:solidFill>
                    <a:schemeClr val="tx1"/>
                  </a:solidFill>
                </a:endParaRPr>
              </a:p>
            </p:txBody>
          </p:sp>
        </mc:Choice>
        <mc:Fallback xmlns="">
          <p:sp>
            <p:nvSpPr>
              <p:cNvPr id="212" name="フローチャート: 結合子 211">
                <a:extLst>
                  <a:ext uri="{FF2B5EF4-FFF2-40B4-BE49-F238E27FC236}">
                    <a16:creationId xmlns:a16="http://schemas.microsoft.com/office/drawing/2014/main" id="{623E7424-D485-8888-55CD-DE6405515BC5}"/>
                  </a:ext>
                </a:extLst>
              </p:cNvPr>
              <p:cNvSpPr>
                <a:spLocks noRot="1" noChangeAspect="1" noMove="1" noResize="1" noEditPoints="1" noAdjustHandles="1" noChangeArrowheads="1" noChangeShapeType="1" noTextEdit="1"/>
              </p:cNvSpPr>
              <p:nvPr/>
            </p:nvSpPr>
            <p:spPr>
              <a:xfrm>
                <a:off x="11325226" y="6102375"/>
                <a:ext cx="457200" cy="482822"/>
              </a:xfrm>
              <a:prstGeom prst="flowChartConnector">
                <a:avLst/>
              </a:prstGeom>
              <a:blipFill>
                <a:blip r:embed="rId16"/>
                <a:stretch>
                  <a:fillRect/>
                </a:stretch>
              </a:blipFill>
              <a:ln>
                <a:solidFill>
                  <a:schemeClr val="tx2">
                    <a:lumMod val="75000"/>
                    <a:lumOff val="25000"/>
                  </a:schemeClr>
                </a:solidFill>
              </a:ln>
            </p:spPr>
            <p:txBody>
              <a:bodyPr/>
              <a:lstStyle/>
              <a:p>
                <a:r>
                  <a:rPr lang="ja-JP" altLang="en-US">
                    <a:noFill/>
                  </a:rPr>
                  <a:t> </a:t>
                </a:r>
              </a:p>
            </p:txBody>
          </p:sp>
        </mc:Fallback>
      </mc:AlternateContent>
      <p:cxnSp>
        <p:nvCxnSpPr>
          <p:cNvPr id="4" name="直線コネクタ 3">
            <a:extLst>
              <a:ext uri="{FF2B5EF4-FFF2-40B4-BE49-F238E27FC236}">
                <a16:creationId xmlns:a16="http://schemas.microsoft.com/office/drawing/2014/main" id="{4FE7D7C8-6F1B-D1AE-D5CF-5EE792F7E7A8}"/>
              </a:ext>
            </a:extLst>
          </p:cNvPr>
          <p:cNvCxnSpPr>
            <a:cxnSpLocks/>
            <a:endCxn id="212" idx="0"/>
          </p:cNvCxnSpPr>
          <p:nvPr/>
        </p:nvCxnSpPr>
        <p:spPr>
          <a:xfrm>
            <a:off x="11325226" y="5861970"/>
            <a:ext cx="228600" cy="240405"/>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F69D87E6-8256-7269-21E5-2804968A5C06}"/>
              </a:ext>
            </a:extLst>
          </p:cNvPr>
          <p:cNvCxnSpPr>
            <a:cxnSpLocks/>
            <a:endCxn id="211" idx="0"/>
          </p:cNvCxnSpPr>
          <p:nvPr/>
        </p:nvCxnSpPr>
        <p:spPr>
          <a:xfrm flipH="1">
            <a:off x="10722815" y="5861970"/>
            <a:ext cx="220577" cy="214545"/>
          </a:xfrm>
          <a:prstGeom prst="line">
            <a:avLst/>
          </a:prstGeom>
        </p:spPr>
        <p:style>
          <a:lnRef idx="2">
            <a:schemeClr val="accent1"/>
          </a:lnRef>
          <a:fillRef idx="0">
            <a:schemeClr val="accent1"/>
          </a:fillRef>
          <a:effectRef idx="1">
            <a:schemeClr val="accent1"/>
          </a:effectRef>
          <a:fontRef idx="minor">
            <a:schemeClr val="tx1"/>
          </a:fontRef>
        </p:style>
      </p:cxnSp>
      <p:sp>
        <p:nvSpPr>
          <p:cNvPr id="57" name="テキスト ボックス 56">
            <a:extLst>
              <a:ext uri="{FF2B5EF4-FFF2-40B4-BE49-F238E27FC236}">
                <a16:creationId xmlns:a16="http://schemas.microsoft.com/office/drawing/2014/main" id="{A8EC21EB-B206-4AE0-91B1-D05E7AB058CF}"/>
              </a:ext>
            </a:extLst>
          </p:cNvPr>
          <p:cNvSpPr txBox="1"/>
          <p:nvPr/>
        </p:nvSpPr>
        <p:spPr>
          <a:xfrm>
            <a:off x="7797337" y="4325579"/>
            <a:ext cx="934722" cy="369332"/>
          </a:xfrm>
          <a:prstGeom prst="rect">
            <a:avLst/>
          </a:prstGeom>
          <a:noFill/>
        </p:spPr>
        <p:txBody>
          <a:bodyPr wrap="square" rtlCol="0">
            <a:spAutoFit/>
          </a:bodyPr>
          <a:lstStyle/>
          <a:p>
            <a:r>
              <a:rPr lang="en-US" altLang="ja-JP" dirty="0"/>
              <a:t>T</a:t>
            </a:r>
            <a:r>
              <a:rPr kumimoji="1" lang="en-US" altLang="ja-JP" dirty="0"/>
              <a:t>ree 1</a:t>
            </a:r>
            <a:endParaRPr kumimoji="1" lang="ja-JP" altLang="en-US"/>
          </a:p>
        </p:txBody>
      </p:sp>
      <p:sp>
        <p:nvSpPr>
          <p:cNvPr id="59" name="テキスト ボックス 58">
            <a:extLst>
              <a:ext uri="{FF2B5EF4-FFF2-40B4-BE49-F238E27FC236}">
                <a16:creationId xmlns:a16="http://schemas.microsoft.com/office/drawing/2014/main" id="{101A53C4-5C25-3EAF-3A7B-C40C25A7DEC1}"/>
              </a:ext>
            </a:extLst>
          </p:cNvPr>
          <p:cNvSpPr txBox="1"/>
          <p:nvPr/>
        </p:nvSpPr>
        <p:spPr>
          <a:xfrm>
            <a:off x="10255454" y="4330264"/>
            <a:ext cx="934722" cy="369332"/>
          </a:xfrm>
          <a:prstGeom prst="rect">
            <a:avLst/>
          </a:prstGeom>
          <a:noFill/>
        </p:spPr>
        <p:txBody>
          <a:bodyPr wrap="square" rtlCol="0">
            <a:spAutoFit/>
          </a:bodyPr>
          <a:lstStyle/>
          <a:p>
            <a:r>
              <a:rPr lang="en-US" altLang="ja-JP" dirty="0"/>
              <a:t>T</a:t>
            </a:r>
            <a:r>
              <a:rPr kumimoji="1" lang="en-US" altLang="ja-JP" dirty="0"/>
              <a:t>ree 2</a:t>
            </a:r>
            <a:endParaRPr kumimoji="1" lang="ja-JP" altLang="en-US"/>
          </a:p>
        </p:txBody>
      </p:sp>
      <mc:AlternateContent xmlns:mc="http://schemas.openxmlformats.org/markup-compatibility/2006" xmlns:a14="http://schemas.microsoft.com/office/drawing/2010/main">
        <mc:Choice Requires="a14">
          <p:sp>
            <p:nvSpPr>
              <p:cNvPr id="60" name="テキスト ボックス 59">
                <a:extLst>
                  <a:ext uri="{FF2B5EF4-FFF2-40B4-BE49-F238E27FC236}">
                    <a16:creationId xmlns:a16="http://schemas.microsoft.com/office/drawing/2014/main" id="{1C083F27-E483-4E6F-E46A-8C8DB1465752}"/>
                  </a:ext>
                </a:extLst>
              </p:cNvPr>
              <p:cNvSpPr txBox="1"/>
              <p:nvPr/>
            </p:nvSpPr>
            <p:spPr>
              <a:xfrm>
                <a:off x="880337" y="5436053"/>
                <a:ext cx="4309065" cy="955774"/>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ex)  Tree 1 : </a:t>
                </a:r>
                <a14:m>
                  <m:oMath xmlns:m="http://schemas.openxmlformats.org/officeDocument/2006/math">
                    <m:r>
                      <a:rPr lang="en-US" altLang="ja-JP" sz="2400" i="1">
                        <a:latin typeface="Cambria Math" panose="02040503050406030204" pitchFamily="18" charset="0"/>
                        <a:cs typeface="Arial" panose="020B0604020202020204" pitchFamily="34" charset="0"/>
                      </a:rPr>
                      <m:t>𝑓</m:t>
                    </m:r>
                    <m:d>
                      <m:dPr>
                        <m:ctrlPr>
                          <a:rPr lang="en-US" altLang="ja-JP" sz="2400" i="1">
                            <a:latin typeface="Cambria Math" panose="02040503050406030204" pitchFamily="18" charset="0"/>
                            <a:cs typeface="Arial" panose="020B0604020202020204" pitchFamily="34" charset="0"/>
                          </a:rPr>
                        </m:ctrlPr>
                      </m:dPr>
                      <m:e>
                        <m:r>
                          <a:rPr lang="en-US" altLang="ja-JP" sz="2400" i="1">
                            <a:latin typeface="Cambria Math" panose="02040503050406030204" pitchFamily="18" charset="0"/>
                            <a:cs typeface="Arial" panose="020B0604020202020204" pitchFamily="34" charset="0"/>
                          </a:rPr>
                          <m:t>𝑥</m:t>
                        </m:r>
                      </m:e>
                    </m:d>
                    <m:r>
                      <a:rPr lang="en-US" altLang="ja-JP" sz="2400" i="1">
                        <a:latin typeface="Cambria Math" panose="02040503050406030204" pitchFamily="18" charset="0"/>
                        <a:cs typeface="Arial" panose="020B0604020202020204" pitchFamily="34" charset="0"/>
                      </a:rPr>
                      <m:t>=</m:t>
                    </m:r>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1</m:t>
                        </m:r>
                      </m:sub>
                    </m:sSub>
                    <m:r>
                      <a:rPr lang="en-US" altLang="ja-JP" sz="2400" i="1">
                        <a:latin typeface="Cambria Math" panose="02040503050406030204" pitchFamily="18" charset="0"/>
                        <a:cs typeface="Arial" panose="020B0604020202020204" pitchFamily="34" charset="0"/>
                      </a:rPr>
                      <m:t>(</m:t>
                    </m:r>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2</m:t>
                        </m:r>
                      </m:sub>
                    </m:sSub>
                    <m:r>
                      <a:rPr lang="en-US" altLang="ja-JP" sz="2400" i="1">
                        <a:latin typeface="Cambria Math" panose="02040503050406030204" pitchFamily="18" charset="0"/>
                        <a:cs typeface="Arial" panose="020B0604020202020204" pitchFamily="34" charset="0"/>
                      </a:rPr>
                      <m:t>−5)</m:t>
                    </m:r>
                  </m:oMath>
                </a14:m>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       Tree 2 : </a:t>
                </a:r>
                <a14:m>
                  <m:oMath xmlns:m="http://schemas.openxmlformats.org/officeDocument/2006/math">
                    <m:r>
                      <a:rPr lang="en-US" altLang="ja-JP" sz="2400" i="1">
                        <a:latin typeface="Cambria Math" panose="02040503050406030204" pitchFamily="18" charset="0"/>
                        <a:cs typeface="Arial" panose="020B0604020202020204" pitchFamily="34" charset="0"/>
                      </a:rPr>
                      <m:t>𝑓</m:t>
                    </m:r>
                    <m:d>
                      <m:dPr>
                        <m:ctrlPr>
                          <a:rPr lang="en-US" altLang="ja-JP" sz="2400" i="1">
                            <a:latin typeface="Cambria Math" panose="02040503050406030204" pitchFamily="18" charset="0"/>
                            <a:cs typeface="Arial" panose="020B0604020202020204" pitchFamily="34" charset="0"/>
                          </a:rPr>
                        </m:ctrlPr>
                      </m:dPr>
                      <m:e>
                        <m:r>
                          <a:rPr lang="en-US" altLang="ja-JP" sz="2400" i="1">
                            <a:latin typeface="Cambria Math" panose="02040503050406030204" pitchFamily="18" charset="0"/>
                            <a:cs typeface="Arial" panose="020B0604020202020204" pitchFamily="34" charset="0"/>
                          </a:rPr>
                          <m:t>𝑥</m:t>
                        </m:r>
                      </m:e>
                    </m:d>
                    <m:r>
                      <a:rPr lang="en-US" altLang="ja-JP" sz="2400" i="1">
                        <a:latin typeface="Cambria Math" panose="02040503050406030204" pitchFamily="18" charset="0"/>
                        <a:cs typeface="Arial" panose="020B0604020202020204" pitchFamily="34" charset="0"/>
                      </a:rPr>
                      <m:t>= </m:t>
                    </m:r>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3</m:t>
                        </m:r>
                      </m:sub>
                    </m:sSub>
                    <m:r>
                      <a:rPr lang="en-US" altLang="ja-JP" sz="2400" i="1">
                        <a:latin typeface="Cambria Math" panose="02040503050406030204" pitchFamily="18" charset="0"/>
                        <a:cs typeface="Arial" panose="020B0604020202020204" pitchFamily="34" charset="0"/>
                      </a:rPr>
                      <m:t>+</m:t>
                    </m:r>
                    <m:f>
                      <m:fPr>
                        <m:ctrlPr>
                          <a:rPr lang="en-US" altLang="ja-JP" sz="2400" i="1">
                            <a:latin typeface="Cambria Math" panose="02040503050406030204" pitchFamily="18" charset="0"/>
                            <a:cs typeface="Arial" panose="020B0604020202020204" pitchFamily="34" charset="0"/>
                          </a:rPr>
                        </m:ctrlPr>
                      </m:fPr>
                      <m:num>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4</m:t>
                            </m:r>
                          </m:sub>
                        </m:sSub>
                      </m:num>
                      <m:den>
                        <m:r>
                          <a:rPr lang="en-US" altLang="ja-JP" sz="2400" i="1">
                            <a:latin typeface="Cambria Math" panose="02040503050406030204" pitchFamily="18" charset="0"/>
                            <a:cs typeface="Arial" panose="020B0604020202020204" pitchFamily="34" charset="0"/>
                          </a:rPr>
                          <m:t>3</m:t>
                        </m:r>
                      </m:den>
                    </m:f>
                  </m:oMath>
                </a14:m>
                <a:endParaRPr kumimoji="1" lang="ja-JP" altLang="en-US" sz="2400"/>
              </a:p>
            </p:txBody>
          </p:sp>
        </mc:Choice>
        <mc:Fallback xmlns="">
          <p:sp>
            <p:nvSpPr>
              <p:cNvPr id="60" name="テキスト ボックス 59">
                <a:extLst>
                  <a:ext uri="{FF2B5EF4-FFF2-40B4-BE49-F238E27FC236}">
                    <a16:creationId xmlns:a16="http://schemas.microsoft.com/office/drawing/2014/main" id="{1C083F27-E483-4E6F-E46A-8C8DB1465752}"/>
                  </a:ext>
                </a:extLst>
              </p:cNvPr>
              <p:cNvSpPr txBox="1">
                <a:spLocks noRot="1" noChangeAspect="1" noMove="1" noResize="1" noEditPoints="1" noAdjustHandles="1" noChangeArrowheads="1" noChangeShapeType="1" noTextEdit="1"/>
              </p:cNvSpPr>
              <p:nvPr/>
            </p:nvSpPr>
            <p:spPr>
              <a:xfrm>
                <a:off x="880337" y="5436053"/>
                <a:ext cx="4309065" cy="955774"/>
              </a:xfrm>
              <a:prstGeom prst="rect">
                <a:avLst/>
              </a:prstGeom>
              <a:blipFill>
                <a:blip r:embed="rId17"/>
                <a:stretch>
                  <a:fillRect l="-2353" t="-5263" r="-294" b="-3947"/>
                </a:stretch>
              </a:blipFill>
            </p:spPr>
            <p:txBody>
              <a:bodyPr/>
              <a:lstStyle/>
              <a:p>
                <a:r>
                  <a:rPr lang="ja-JP" altLang="en-US">
                    <a:noFill/>
                  </a:rPr>
                  <a:t> </a:t>
                </a:r>
              </a:p>
            </p:txBody>
          </p:sp>
        </mc:Fallback>
      </mc:AlternateContent>
      <p:sp>
        <p:nvSpPr>
          <p:cNvPr id="61" name="テキスト ボックス 60">
            <a:extLst>
              <a:ext uri="{FF2B5EF4-FFF2-40B4-BE49-F238E27FC236}">
                <a16:creationId xmlns:a16="http://schemas.microsoft.com/office/drawing/2014/main" id="{FE2CEDC8-74D2-C5C3-2AD3-E3CC5BA65FEB}"/>
              </a:ext>
            </a:extLst>
          </p:cNvPr>
          <p:cNvSpPr txBox="1"/>
          <p:nvPr/>
        </p:nvSpPr>
        <p:spPr>
          <a:xfrm>
            <a:off x="5847849" y="4604012"/>
            <a:ext cx="1620957"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ex)</a:t>
            </a:r>
            <a:r>
              <a:rPr lang="en-US" altLang="ja-JP" dirty="0">
                <a:latin typeface="Arial" panose="020B0604020202020204" pitchFamily="34" charset="0"/>
                <a:cs typeface="Arial" panose="020B0604020202020204" pitchFamily="34" charset="0"/>
              </a:rPr>
              <a:t> Crossover</a:t>
            </a:r>
            <a:endParaRPr kumimoji="1" lang="ja-JP" altLang="en-US">
              <a:latin typeface="Arial" panose="020B0604020202020204" pitchFamily="34" charset="0"/>
              <a:cs typeface="Arial" panose="020B0604020202020204" pitchFamily="34" charset="0"/>
            </a:endParaRPr>
          </a:p>
        </p:txBody>
      </p:sp>
      <p:sp>
        <p:nvSpPr>
          <p:cNvPr id="62" name="スライド番号プレースホルダー 2">
            <a:extLst>
              <a:ext uri="{FF2B5EF4-FFF2-40B4-BE49-F238E27FC236}">
                <a16:creationId xmlns:a16="http://schemas.microsoft.com/office/drawing/2014/main" id="{CE9124E3-67C9-280F-3D88-ACF0456406A7}"/>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4</a:t>
            </a:fld>
            <a:endParaRPr lang="ja-JP" altLang="en-US"/>
          </a:p>
        </p:txBody>
      </p:sp>
    </p:spTree>
    <p:extLst>
      <p:ext uri="{BB962C8B-B14F-4D97-AF65-F5344CB8AC3E}">
        <p14:creationId xmlns:p14="http://schemas.microsoft.com/office/powerpoint/2010/main" val="355675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1.45833E-6 0 L 0.05352 0.04005 C 0.06458 0.04907 0.08138 0.05394 0.09896 0.05394 C 0.11888 0.05394 0.1349 0.04907 0.14597 0.04005 L 0.19961 0 " pathEditMode="relative" rAng="0" ptsTypes="AAAAA">
                                      <p:cBhvr>
                                        <p:cTn id="6" dur="2000" fill="hold"/>
                                        <p:tgtEl>
                                          <p:spTgt spid="158"/>
                                        </p:tgtEl>
                                        <p:attrNameLst>
                                          <p:attrName>ppt_x</p:attrName>
                                          <p:attrName>ppt_y</p:attrName>
                                        </p:attrNameLst>
                                      </p:cBhvr>
                                      <p:rCtr x="9974" y="2685"/>
                                    </p:animMotion>
                                  </p:childTnLst>
                                </p:cTn>
                              </p:par>
                              <p:par>
                                <p:cTn id="7" presetID="37" presetClass="path" presetSubtype="0" accel="50000" decel="50000" fill="hold" nodeType="withEffect">
                                  <p:stCondLst>
                                    <p:cond delay="0"/>
                                  </p:stCondLst>
                                  <p:childTnLst>
                                    <p:animMotion origin="layout" path="M -3.125E-6 -3.7037E-7 L 0.05352 0.04005 C 0.06459 0.04907 0.08138 0.05394 0.09896 0.05394 C 0.11888 0.05394 0.1349 0.04907 0.14597 0.04005 L 0.19961 -3.7037E-7 " pathEditMode="relative" rAng="0" ptsTypes="AAAAA">
                                      <p:cBhvr>
                                        <p:cTn id="8" dur="2000" fill="hold"/>
                                        <p:tgtEl>
                                          <p:spTgt spid="159"/>
                                        </p:tgtEl>
                                        <p:attrNameLst>
                                          <p:attrName>ppt_x</p:attrName>
                                          <p:attrName>ppt_y</p:attrName>
                                        </p:attrNameLst>
                                      </p:cBhvr>
                                      <p:rCtr x="9974" y="2685"/>
                                    </p:animMotion>
                                  </p:childTnLst>
                                </p:cTn>
                              </p:par>
                              <p:par>
                                <p:cTn id="9" presetID="37" presetClass="path" presetSubtype="0" accel="50000" decel="50000" fill="hold" grpId="0" nodeType="withEffect">
                                  <p:stCondLst>
                                    <p:cond delay="0"/>
                                  </p:stCondLst>
                                  <p:childTnLst>
                                    <p:animMotion origin="layout" path="M 2.29167E-6 3.7037E-6 L 0.05351 0.04004 C 0.06458 0.04907 0.08138 0.05393 0.09896 0.05393 C 0.11888 0.05393 0.13489 0.04907 0.14596 0.04004 L 0.19961 3.7037E-6 " pathEditMode="relative" rAng="0" ptsTypes="AAAAA">
                                      <p:cBhvr>
                                        <p:cTn id="10" dur="2000" fill="hold"/>
                                        <p:tgtEl>
                                          <p:spTgt spid="160"/>
                                        </p:tgtEl>
                                        <p:attrNameLst>
                                          <p:attrName>ppt_x</p:attrName>
                                          <p:attrName>ppt_y</p:attrName>
                                        </p:attrNameLst>
                                      </p:cBhvr>
                                      <p:rCtr x="9974" y="2685"/>
                                    </p:animMotion>
                                  </p:childTnLst>
                                </p:cTn>
                              </p:par>
                              <p:par>
                                <p:cTn id="11" presetID="37" presetClass="path" presetSubtype="0" accel="50000" decel="50000" fill="hold" grpId="0" nodeType="withEffect">
                                  <p:stCondLst>
                                    <p:cond delay="0"/>
                                  </p:stCondLst>
                                  <p:childTnLst>
                                    <p:animMotion origin="layout" path="M 3.125E-6 0 L 0.05351 0.04005 C 0.06458 0.04907 0.08138 0.05394 0.09896 0.05394 C 0.11888 0.05394 0.13489 0.04907 0.14596 0.04005 L 0.19961 0 " pathEditMode="relative" rAng="0" ptsTypes="AAAAA">
                                      <p:cBhvr>
                                        <p:cTn id="12" dur="2000" fill="hold"/>
                                        <p:tgtEl>
                                          <p:spTgt spid="161"/>
                                        </p:tgtEl>
                                        <p:attrNameLst>
                                          <p:attrName>ppt_x</p:attrName>
                                          <p:attrName>ppt_y</p:attrName>
                                        </p:attrNameLst>
                                      </p:cBhvr>
                                      <p:rCtr x="9974" y="2685"/>
                                    </p:animMotion>
                                  </p:childTnLst>
                                </p:cTn>
                              </p:par>
                              <p:par>
                                <p:cTn id="13" presetID="37" presetClass="path" presetSubtype="0" accel="50000" decel="50000" fill="hold" nodeType="withEffect">
                                  <p:stCondLst>
                                    <p:cond delay="0"/>
                                  </p:stCondLst>
                                  <p:childTnLst>
                                    <p:animMotion origin="layout" path="M -4.16667E-7 -2.22222E-6 L 0.05352 0.04005 C 0.06458 0.04908 0.08138 0.05394 0.09896 0.05394 C 0.11888 0.05394 0.1349 0.04908 0.14596 0.04005 L 0.19961 -2.22222E-6 " pathEditMode="relative" rAng="0" ptsTypes="AAAAA">
                                      <p:cBhvr>
                                        <p:cTn id="14" dur="2000" fill="hold"/>
                                        <p:tgtEl>
                                          <p:spTgt spid="162"/>
                                        </p:tgtEl>
                                        <p:attrNameLst>
                                          <p:attrName>ppt_x</p:attrName>
                                          <p:attrName>ppt_y</p:attrName>
                                        </p:attrNameLst>
                                      </p:cBhvr>
                                      <p:rCtr x="9974" y="2685"/>
                                    </p:animMotion>
                                  </p:childTnLst>
                                </p:cTn>
                              </p:par>
                              <p:par>
                                <p:cTn id="15" presetID="0" presetClass="path" presetSubtype="0" accel="50000" decel="50000" fill="hold" grpId="0" nodeType="withEffect">
                                  <p:stCondLst>
                                    <p:cond delay="0"/>
                                  </p:stCondLst>
                                  <p:childTnLst>
                                    <p:animMotion origin="layout" path="M -8.33333E-7 0 C -0.03958 0.03356 -0.07904 0.06713 -0.11211 0.06736 C -0.14505 0.06782 -0.17161 0.03472 -0.19805 0.00162 " pathEditMode="relative" rAng="0" ptsTypes="AAA">
                                      <p:cBhvr>
                                        <p:cTn id="16" dur="2000" fill="hold"/>
                                        <p:tgtEl>
                                          <p:spTgt spid="209"/>
                                        </p:tgtEl>
                                        <p:attrNameLst>
                                          <p:attrName>ppt_x</p:attrName>
                                          <p:attrName>ppt_y</p:attrName>
                                        </p:attrNameLst>
                                      </p:cBhvr>
                                      <p:rCtr x="-9909" y="3356"/>
                                    </p:animMotion>
                                  </p:childTnLst>
                                </p:cTn>
                              </p:par>
                              <p:par>
                                <p:cTn id="17" presetID="0" presetClass="path" presetSubtype="0" accel="50000" decel="50000" fill="hold" grpId="0" nodeType="withEffect">
                                  <p:stCondLst>
                                    <p:cond delay="0"/>
                                  </p:stCondLst>
                                  <p:childTnLst>
                                    <p:animMotion origin="layout" path="M 2.70833E-6 3.7037E-6 C -0.03959 0.03356 -0.07904 0.06713 -0.11211 0.06736 C -0.14505 0.06782 -0.17162 0.03472 -0.19805 0.00162 " pathEditMode="relative" rAng="0" ptsTypes="AAA">
                                      <p:cBhvr>
                                        <p:cTn id="18" dur="2000" fill="hold"/>
                                        <p:tgtEl>
                                          <p:spTgt spid="211"/>
                                        </p:tgtEl>
                                        <p:attrNameLst>
                                          <p:attrName>ppt_x</p:attrName>
                                          <p:attrName>ppt_y</p:attrName>
                                        </p:attrNameLst>
                                      </p:cBhvr>
                                      <p:rCtr x="-9909" y="3356"/>
                                    </p:animMotion>
                                  </p:childTnLst>
                                </p:cTn>
                              </p:par>
                              <p:par>
                                <p:cTn id="19" presetID="0" presetClass="path" presetSubtype="0" accel="50000" decel="50000" fill="hold" grpId="0" nodeType="withEffect">
                                  <p:stCondLst>
                                    <p:cond delay="0"/>
                                  </p:stCondLst>
                                  <p:childTnLst>
                                    <p:animMotion origin="layout" path="M 3.75E-6 0 C -0.03959 0.03356 -0.07904 0.06713 -0.11211 0.06736 C -0.14506 0.06782 -0.17162 0.03472 -0.19805 0.00162 " pathEditMode="relative" rAng="0" ptsTypes="AAA">
                                      <p:cBhvr>
                                        <p:cTn id="20" dur="2000" fill="hold"/>
                                        <p:tgtEl>
                                          <p:spTgt spid="212"/>
                                        </p:tgtEl>
                                        <p:attrNameLst>
                                          <p:attrName>ppt_x</p:attrName>
                                          <p:attrName>ppt_y</p:attrName>
                                        </p:attrNameLst>
                                      </p:cBhvr>
                                      <p:rCtr x="-9909" y="3356"/>
                                    </p:animMotion>
                                  </p:childTnLst>
                                </p:cTn>
                              </p:par>
                              <p:par>
                                <p:cTn id="21" presetID="0" presetClass="path" presetSubtype="0" accel="50000" decel="50000" fill="hold" nodeType="withEffect">
                                  <p:stCondLst>
                                    <p:cond delay="0"/>
                                  </p:stCondLst>
                                  <p:childTnLst>
                                    <p:animMotion origin="layout" path="M -1.25E-6 -2.22222E-6 C -0.03958 0.03357 -0.07904 0.06713 -0.11211 0.06736 C -0.14505 0.06783 -0.17161 0.03472 -0.19805 0.00162 " pathEditMode="relative" rAng="0" ptsTypes="AAA">
                                      <p:cBhvr>
                                        <p:cTn id="22" dur="2000" fill="hold"/>
                                        <p:tgtEl>
                                          <p:spTgt spid="4"/>
                                        </p:tgtEl>
                                        <p:attrNameLst>
                                          <p:attrName>ppt_x</p:attrName>
                                          <p:attrName>ppt_y</p:attrName>
                                        </p:attrNameLst>
                                      </p:cBhvr>
                                      <p:rCtr x="-9909" y="3356"/>
                                    </p:animMotion>
                                  </p:childTnLst>
                                </p:cTn>
                              </p:par>
                              <p:par>
                                <p:cTn id="23" presetID="0" presetClass="path" presetSubtype="0" accel="50000" decel="50000" fill="hold" nodeType="withEffect">
                                  <p:stCondLst>
                                    <p:cond delay="0"/>
                                  </p:stCondLst>
                                  <p:childTnLst>
                                    <p:animMotion origin="layout" path="M -1.66667E-6 -3.7037E-7 C -0.03958 0.03357 -0.07903 0.06713 -0.11211 0.06736 C -0.14505 0.06782 -0.17161 0.03472 -0.19805 0.00162 " pathEditMode="relative" rAng="0" ptsTypes="AAA">
                                      <p:cBhvr>
                                        <p:cTn id="24" dur="2000" fill="hold"/>
                                        <p:tgtEl>
                                          <p:spTgt spid="15"/>
                                        </p:tgtEl>
                                        <p:attrNameLst>
                                          <p:attrName>ppt_x</p:attrName>
                                          <p:attrName>ppt_y</p:attrName>
                                        </p:attrNameLst>
                                      </p:cBhvr>
                                      <p:rCtr x="-9909" y="33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animBg="1"/>
      <p:bldP spid="160" grpId="0" animBg="1"/>
      <p:bldP spid="161" grpId="0" animBg="1"/>
      <p:bldP spid="209" grpId="0" animBg="1"/>
      <p:bldP spid="211" grpId="0" animBg="1"/>
      <p:bldP spid="2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フローチャート: 代替処理 18">
            <a:extLst>
              <a:ext uri="{FF2B5EF4-FFF2-40B4-BE49-F238E27FC236}">
                <a16:creationId xmlns:a16="http://schemas.microsoft.com/office/drawing/2014/main" id="{550938DB-A923-ED54-F1FB-9222AAF6C61B}"/>
              </a:ext>
            </a:extLst>
          </p:cNvPr>
          <p:cNvSpPr/>
          <p:nvPr/>
        </p:nvSpPr>
        <p:spPr>
          <a:xfrm>
            <a:off x="476991" y="2702247"/>
            <a:ext cx="10378578" cy="559967"/>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476992" y="276874"/>
            <a:ext cx="10008128" cy="638485"/>
          </a:xfrm>
        </p:spPr>
        <p:txBody>
          <a:bodyPr wrap="square">
            <a:normAutofit fontScale="90000"/>
          </a:bodyPr>
          <a:lstStyle/>
          <a:p>
            <a:r>
              <a:rPr lang="en-US" altLang="ja-JP" b="1" dirty="0">
                <a:latin typeface="Arial" panose="020B0604020202020204" pitchFamily="34" charset="0"/>
                <a:cs typeface="Arial" panose="020B0604020202020204" pitchFamily="34" charset="0"/>
              </a:rPr>
              <a:t>Introduction : Background</a:t>
            </a:r>
            <a:endParaRPr b="1" dirty="0">
              <a:solidFill>
                <a:srgbClr val="17324D"/>
              </a:solidFill>
              <a:latin typeface="Arial" panose="020B0604020202020204" pitchFamily="34" charset="0"/>
              <a:cs typeface="Arial" panose="020B0604020202020204" pitchFamily="34" charset="0"/>
            </a:endParaRPr>
          </a:p>
        </p:txBody>
      </p:sp>
      <p:sp>
        <p:nvSpPr>
          <p:cNvPr id="5" name="Chevron 4"/>
          <p:cNvSpPr/>
          <p:nvPr/>
        </p:nvSpPr>
        <p:spPr>
          <a:xfrm>
            <a:off x="3916878" y="3632534"/>
            <a:ext cx="3398520" cy="1417320"/>
          </a:xfrm>
          <a:prstGeom prst="chevron">
            <a:avLst>
              <a:gd name="adj" fmla="val 24398"/>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100"/>
              </a:spcAft>
            </a:pPr>
            <a:r>
              <a:rPr lang="en-US" sz="2800" b="1" dirty="0">
                <a:solidFill>
                  <a:srgbClr val="31475E"/>
                </a:solidFill>
                <a:latin typeface="Arial" panose="020B0604020202020204" pitchFamily="34" charset="0"/>
                <a:cs typeface="Arial" panose="020B0604020202020204" pitchFamily="34" charset="0"/>
              </a:rPr>
              <a:t>Convergence</a:t>
            </a:r>
          </a:p>
          <a:p>
            <a:pPr algn="ctr">
              <a:spcAft>
                <a:spcPts val="100"/>
              </a:spcAft>
            </a:pPr>
            <a:r>
              <a:rPr lang="en-US" sz="2000" dirty="0">
                <a:solidFill>
                  <a:srgbClr val="31475E"/>
                </a:solidFill>
                <a:latin typeface="Arial" panose="020B0604020202020204" pitchFamily="34" charset="0"/>
                <a:cs typeface="Arial" panose="020B0604020202020204" pitchFamily="34" charset="0"/>
              </a:rPr>
              <a:t>Crossover rate </a:t>
            </a:r>
            <a:r>
              <a:rPr lang="ja-JP" altLang="en-US" sz="2000">
                <a:solidFill>
                  <a:srgbClr val="FF0000"/>
                </a:solidFill>
                <a:latin typeface="Arial" panose="020B0604020202020204" pitchFamily="34" charset="0"/>
                <a:cs typeface="Arial" panose="020B0604020202020204" pitchFamily="34" charset="0"/>
              </a:rPr>
              <a:t>↑</a:t>
            </a:r>
            <a:endParaRPr lang="en-US" altLang="ja-JP" sz="2000" dirty="0">
              <a:solidFill>
                <a:srgbClr val="FF0000"/>
              </a:solidFill>
              <a:latin typeface="Arial" panose="020B0604020202020204" pitchFamily="34" charset="0"/>
              <a:cs typeface="Arial" panose="020B0604020202020204" pitchFamily="34" charset="0"/>
            </a:endParaRP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Combining solution</a:t>
            </a:r>
            <a:endParaRPr lang="en-US" sz="2000" dirty="0">
              <a:solidFill>
                <a:srgbClr val="31475E"/>
              </a:solidFill>
              <a:latin typeface="Arial" panose="020B0604020202020204" pitchFamily="34" charset="0"/>
              <a:cs typeface="Arial" panose="020B0604020202020204" pitchFamily="34" charset="0"/>
            </a:endParaRPr>
          </a:p>
        </p:txBody>
      </p:sp>
      <p:sp>
        <p:nvSpPr>
          <p:cNvPr id="7" name="Rounded Rectangle 6"/>
          <p:cNvSpPr/>
          <p:nvPr/>
        </p:nvSpPr>
        <p:spPr>
          <a:xfrm>
            <a:off x="476992" y="5476611"/>
            <a:ext cx="11177099" cy="502778"/>
          </a:xfrm>
          <a:prstGeom prst="roundRect">
            <a:avLst/>
          </a:prstGeom>
          <a:solidFill>
            <a:srgbClr val="F3F6F9"/>
          </a:solidFill>
          <a:ln w="19050">
            <a:solidFill>
              <a:srgbClr val="8A98A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r>
              <a:rPr lang="en-US" sz="2400" b="1" dirty="0">
                <a:solidFill>
                  <a:srgbClr val="17324D"/>
                </a:solidFill>
                <a:latin typeface="Arial" panose="020B0604020202020204" pitchFamily="34" charset="0"/>
                <a:cs typeface="Arial" panose="020B0604020202020204" pitchFamily="34" charset="0"/>
              </a:rPr>
              <a:t>Fixed parameters are insufficient for adapting to different search stages</a:t>
            </a:r>
            <a:endParaRPr sz="2400" b="1" dirty="0">
              <a:solidFill>
                <a:srgbClr val="17324D"/>
              </a:solidFill>
              <a:latin typeface="Arial" panose="020B0604020202020204" pitchFamily="34" charset="0"/>
              <a:cs typeface="Arial" panose="020B0604020202020204" pitchFamily="34" charset="0"/>
            </a:endParaRPr>
          </a:p>
        </p:txBody>
      </p:sp>
      <p:sp>
        <p:nvSpPr>
          <p:cNvPr id="10" name="スライド番号プレースホルダー 2">
            <a:extLst>
              <a:ext uri="{FF2B5EF4-FFF2-40B4-BE49-F238E27FC236}">
                <a16:creationId xmlns:a16="http://schemas.microsoft.com/office/drawing/2014/main" id="{017C9938-5092-E238-F3E5-CC9895CFA110}"/>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5</a:t>
            </a:fld>
            <a:endParaRPr lang="ja-JP" altLang="en-US"/>
          </a:p>
        </p:txBody>
      </p:sp>
      <p:sp>
        <p:nvSpPr>
          <p:cNvPr id="14" name="テキスト ボックス 13">
            <a:extLst>
              <a:ext uri="{FF2B5EF4-FFF2-40B4-BE49-F238E27FC236}">
                <a16:creationId xmlns:a16="http://schemas.microsoft.com/office/drawing/2014/main" id="{A69199AA-8840-9A7E-38F6-1DA4267378C2}"/>
              </a:ext>
            </a:extLst>
          </p:cNvPr>
          <p:cNvSpPr txBox="1"/>
          <p:nvPr/>
        </p:nvSpPr>
        <p:spPr>
          <a:xfrm>
            <a:off x="476992" y="1404340"/>
            <a:ext cx="7609776" cy="1011815"/>
          </a:xfrm>
          <a:prstGeom prst="rect">
            <a:avLst/>
          </a:prstGeom>
          <a:noFill/>
        </p:spPr>
        <p:txBody>
          <a:bodyPr wrap="none" rtlCol="0">
            <a:spAutoFit/>
          </a:bodyPr>
          <a:lstStyle/>
          <a:p>
            <a:pPr>
              <a:lnSpc>
                <a:spcPct val="120000"/>
              </a:lnSpc>
            </a:pPr>
            <a:r>
              <a:rPr lang="en-US" altLang="ja-JP" sz="2800" dirty="0">
                <a:latin typeface="Arial" panose="020B0604020202020204" pitchFamily="34" charset="0"/>
                <a:cs typeface="Arial" panose="020B0604020202020204" pitchFamily="34" charset="0"/>
              </a:rPr>
              <a:t>GP h</a:t>
            </a:r>
            <a:r>
              <a:rPr lang="ja-JP" altLang="ja-JP" sz="2800">
                <a:latin typeface="Arial" panose="020B0604020202020204" pitchFamily="34" charset="0"/>
                <a:cs typeface="Arial" panose="020B0604020202020204" pitchFamily="34" charset="0"/>
              </a:rPr>
              <a:t>as </a:t>
            </a:r>
            <a:r>
              <a:rPr lang="en-US" altLang="ja-JP" sz="2800" dirty="0">
                <a:latin typeface="Arial" panose="020B0604020202020204" pitchFamily="34" charset="0"/>
                <a:cs typeface="Arial" panose="020B0604020202020204" pitchFamily="34" charset="0"/>
              </a:rPr>
              <a:t>m</a:t>
            </a:r>
            <a:r>
              <a:rPr lang="ja-JP" altLang="ja-JP" sz="2800">
                <a:latin typeface="Arial" panose="020B0604020202020204" pitchFamily="34" charset="0"/>
                <a:cs typeface="Arial" panose="020B0604020202020204" pitchFamily="34" charset="0"/>
              </a:rPr>
              <a:t>any </a:t>
            </a:r>
            <a:r>
              <a:rPr lang="en-US" altLang="ja-JP" sz="2800" dirty="0">
                <a:latin typeface="Arial" panose="020B0604020202020204" pitchFamily="34" charset="0"/>
                <a:cs typeface="Arial" panose="020B0604020202020204" pitchFamily="34" charset="0"/>
              </a:rPr>
              <a:t>t</a:t>
            </a:r>
            <a:r>
              <a:rPr lang="ja-JP" altLang="ja-JP" sz="2800">
                <a:latin typeface="Arial" panose="020B0604020202020204" pitchFamily="34" charset="0"/>
                <a:cs typeface="Arial" panose="020B0604020202020204" pitchFamily="34" charset="0"/>
              </a:rPr>
              <a:t>unable </a:t>
            </a:r>
            <a:r>
              <a:rPr lang="en-US" altLang="ja-JP" sz="2800" dirty="0">
                <a:latin typeface="Arial" panose="020B0604020202020204" pitchFamily="34" charset="0"/>
                <a:cs typeface="Arial" panose="020B0604020202020204" pitchFamily="34" charset="0"/>
              </a:rPr>
              <a:t>p</a:t>
            </a:r>
            <a:r>
              <a:rPr lang="ja-JP" altLang="ja-JP" sz="2800">
                <a:latin typeface="Arial" panose="020B0604020202020204" pitchFamily="34" charset="0"/>
                <a:cs typeface="Arial" panose="020B0604020202020204" pitchFamily="34" charset="0"/>
              </a:rPr>
              <a:t>arameters</a:t>
            </a:r>
            <a:endParaRPr lang="en-US" altLang="ja-JP" sz="2800" dirty="0">
              <a:latin typeface="Arial" panose="020B0604020202020204" pitchFamily="34" charset="0"/>
              <a:cs typeface="Arial" panose="020B0604020202020204" pitchFamily="34" charset="0"/>
            </a:endParaRPr>
          </a:p>
          <a:p>
            <a:pPr>
              <a:lnSpc>
                <a:spcPct val="120000"/>
              </a:lnSpc>
            </a:pPr>
            <a:r>
              <a:rPr lang="en-US" altLang="ja-JP" sz="2400" dirty="0">
                <a:latin typeface="Arial" panose="020B0604020202020204" pitchFamily="34" charset="0"/>
                <a:cs typeface="Arial" panose="020B0604020202020204" pitchFamily="34" charset="0"/>
              </a:rPr>
              <a:t>ex) Crossover rate, Mutation rate, Population size, etc.</a:t>
            </a:r>
            <a:endParaRPr lang="ja-JP" altLang="ja-JP" sz="2400">
              <a:latin typeface="Arial" panose="020B0604020202020204" pitchFamily="34" charset="0"/>
              <a:cs typeface="Arial" panose="020B0604020202020204" pitchFamily="34" charset="0"/>
            </a:endParaRPr>
          </a:p>
        </p:txBody>
      </p:sp>
      <p:sp>
        <p:nvSpPr>
          <p:cNvPr id="16" name="Chevron 4">
            <a:extLst>
              <a:ext uri="{FF2B5EF4-FFF2-40B4-BE49-F238E27FC236}">
                <a16:creationId xmlns:a16="http://schemas.microsoft.com/office/drawing/2014/main" id="{F3DA9015-67B3-42BE-EA48-0785258C978E}"/>
              </a:ext>
            </a:extLst>
          </p:cNvPr>
          <p:cNvSpPr/>
          <p:nvPr/>
        </p:nvSpPr>
        <p:spPr>
          <a:xfrm>
            <a:off x="476992" y="3632534"/>
            <a:ext cx="3398520" cy="1417320"/>
          </a:xfrm>
          <a:prstGeom prst="chevron">
            <a:avLst>
              <a:gd name="adj" fmla="val 24398"/>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100"/>
              </a:spcAft>
            </a:pPr>
            <a:r>
              <a:rPr lang="en-US" altLang="ja-JP" sz="2800" b="1" dirty="0">
                <a:solidFill>
                  <a:srgbClr val="17324D"/>
                </a:solidFill>
                <a:latin typeface="Arial" panose="020B0604020202020204" pitchFamily="34" charset="0"/>
                <a:cs typeface="Arial" panose="020B0604020202020204" pitchFamily="34" charset="0"/>
              </a:rPr>
              <a:t>Explore</a:t>
            </a:r>
            <a:endParaRPr lang="ja-JP" altLang="en-US" sz="2800" b="1">
              <a:solidFill>
                <a:srgbClr val="17324D"/>
              </a:solidFill>
              <a:latin typeface="Arial" panose="020B0604020202020204" pitchFamily="34" charset="0"/>
              <a:cs typeface="Arial" panose="020B0604020202020204" pitchFamily="34" charset="0"/>
            </a:endParaRP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Mutation rate </a:t>
            </a:r>
            <a:r>
              <a:rPr lang="ja-JP" altLang="en-US" sz="2000">
                <a:solidFill>
                  <a:srgbClr val="FF0000"/>
                </a:solidFill>
                <a:latin typeface="Arial" panose="020B0604020202020204" pitchFamily="34" charset="0"/>
                <a:cs typeface="Arial" panose="020B0604020202020204" pitchFamily="34" charset="0"/>
              </a:rPr>
              <a:t>↑</a:t>
            </a:r>
            <a:br>
              <a:rPr lang="ja-JP" altLang="en-US" sz="2000">
                <a:latin typeface="Arial" panose="020B0604020202020204" pitchFamily="34" charset="0"/>
                <a:cs typeface="Arial" panose="020B0604020202020204" pitchFamily="34" charset="0"/>
              </a:rPr>
            </a:br>
            <a:r>
              <a:rPr lang="en-US" altLang="ja-JP" sz="2000" dirty="0">
                <a:solidFill>
                  <a:srgbClr val="31475E"/>
                </a:solidFill>
                <a:latin typeface="Arial" panose="020B0604020202020204" pitchFamily="34" charset="0"/>
                <a:cs typeface="Arial" panose="020B0604020202020204" pitchFamily="34" charset="0"/>
              </a:rPr>
              <a:t>Ensuring diversity</a:t>
            </a:r>
            <a:endParaRPr lang="ja-JP" altLang="en-US" sz="2000" dirty="0">
              <a:solidFill>
                <a:srgbClr val="31475E"/>
              </a:solidFill>
              <a:latin typeface="Arial" panose="020B0604020202020204" pitchFamily="34" charset="0"/>
              <a:cs typeface="Arial" panose="020B0604020202020204" pitchFamily="34" charset="0"/>
            </a:endParaRPr>
          </a:p>
        </p:txBody>
      </p:sp>
      <p:sp>
        <p:nvSpPr>
          <p:cNvPr id="17" name="Chevron 4">
            <a:extLst>
              <a:ext uri="{FF2B5EF4-FFF2-40B4-BE49-F238E27FC236}">
                <a16:creationId xmlns:a16="http://schemas.microsoft.com/office/drawing/2014/main" id="{6C372F22-876C-48D0-7CE4-1013DD86336F}"/>
              </a:ext>
            </a:extLst>
          </p:cNvPr>
          <p:cNvSpPr/>
          <p:nvPr/>
        </p:nvSpPr>
        <p:spPr>
          <a:xfrm>
            <a:off x="7313221" y="3632534"/>
            <a:ext cx="3398520" cy="1417320"/>
          </a:xfrm>
          <a:prstGeom prst="chevron">
            <a:avLst>
              <a:gd name="adj" fmla="val 24398"/>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100"/>
              </a:spcAft>
            </a:pPr>
            <a:r>
              <a:rPr lang="en-US" altLang="ja-JP" sz="2800" b="1" dirty="0">
                <a:solidFill>
                  <a:srgbClr val="17324D"/>
                </a:solidFill>
                <a:latin typeface="Arial" panose="020B0604020202020204" pitchFamily="34" charset="0"/>
                <a:cs typeface="Arial" panose="020B0604020202020204" pitchFamily="34" charset="0"/>
              </a:rPr>
              <a:t>Diversity loss</a:t>
            </a: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Tune rate</a:t>
            </a: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Restart search</a:t>
            </a:r>
            <a:endParaRPr lang="ja-JP" altLang="en-US" sz="2000" dirty="0">
              <a:solidFill>
                <a:srgbClr val="31475E"/>
              </a:solidFill>
              <a:latin typeface="Arial" panose="020B0604020202020204" pitchFamily="34" charset="0"/>
              <a:cs typeface="Arial" panose="020B0604020202020204" pitchFamily="34" charset="0"/>
            </a:endParaRPr>
          </a:p>
        </p:txBody>
      </p:sp>
      <p:sp>
        <p:nvSpPr>
          <p:cNvPr id="18" name="テキスト ボックス 17">
            <a:extLst>
              <a:ext uri="{FF2B5EF4-FFF2-40B4-BE49-F238E27FC236}">
                <a16:creationId xmlns:a16="http://schemas.microsoft.com/office/drawing/2014/main" id="{6B4B7628-1023-51B9-1DE0-3CBCB3B1ADE4}"/>
              </a:ext>
            </a:extLst>
          </p:cNvPr>
          <p:cNvSpPr txBox="1"/>
          <p:nvPr/>
        </p:nvSpPr>
        <p:spPr>
          <a:xfrm>
            <a:off x="537908" y="2702247"/>
            <a:ext cx="10185802" cy="523220"/>
          </a:xfrm>
          <a:prstGeom prst="rect">
            <a:avLst/>
          </a:prstGeom>
          <a:noFill/>
        </p:spPr>
        <p:txBody>
          <a:bodyPr wrap="none" rtlCol="0">
            <a:spAutoFit/>
          </a:bodyPr>
          <a:lstStyle/>
          <a:p>
            <a:r>
              <a:rPr lang="ja-JP" altLang="ja-JP" sz="2800">
                <a:latin typeface="Arial" panose="020B0604020202020204" pitchFamily="34" charset="0"/>
                <a:ea typeface="MS PGothic" panose="020B0600070205080204" pitchFamily="34" charset="-128"/>
                <a:cs typeface="Arial" panose="020B0604020202020204" pitchFamily="34" charset="0"/>
              </a:rPr>
              <a:t>Appropriate </a:t>
            </a:r>
            <a:r>
              <a:rPr lang="en-US" altLang="ja-JP" sz="2800" dirty="0">
                <a:latin typeface="Arial" panose="020B0604020202020204" pitchFamily="34" charset="0"/>
                <a:ea typeface="MS PGothic" panose="020B0600070205080204" pitchFamily="34" charset="-128"/>
                <a:cs typeface="Arial" panose="020B0604020202020204" pitchFamily="34" charset="0"/>
              </a:rPr>
              <a:t>p</a:t>
            </a:r>
            <a:r>
              <a:rPr lang="ja-JP" altLang="ja-JP" sz="2800">
                <a:latin typeface="Arial" panose="020B0604020202020204" pitchFamily="34" charset="0"/>
                <a:ea typeface="MS PGothic" panose="020B0600070205080204" pitchFamily="34" charset="-128"/>
                <a:cs typeface="Arial" panose="020B0604020202020204" pitchFamily="34" charset="0"/>
              </a:rPr>
              <a:t>arameters </a:t>
            </a:r>
            <a:r>
              <a:rPr lang="en-US" altLang="ja-JP" sz="2800" dirty="0">
                <a:latin typeface="Arial" panose="020B0604020202020204" pitchFamily="34" charset="0"/>
                <a:ea typeface="MS PGothic" panose="020B0600070205080204" pitchFamily="34" charset="-128"/>
                <a:cs typeface="Arial" panose="020B0604020202020204" pitchFamily="34" charset="0"/>
              </a:rPr>
              <a:t>depends on problems, s</a:t>
            </a:r>
            <a:r>
              <a:rPr lang="ja-JP" altLang="ja-JP" sz="2800">
                <a:latin typeface="Arial" panose="020B0604020202020204" pitchFamily="34" charset="0"/>
                <a:ea typeface="MS PGothic" panose="020B0600070205080204" pitchFamily="34" charset="-128"/>
                <a:cs typeface="Arial" panose="020B0604020202020204" pitchFamily="34" charset="0"/>
              </a:rPr>
              <a:t>earch </a:t>
            </a:r>
            <a:r>
              <a:rPr lang="en-US" altLang="ja-JP" sz="2800" dirty="0">
                <a:latin typeface="Arial" panose="020B0604020202020204" pitchFamily="34" charset="0"/>
                <a:ea typeface="MS PGothic" panose="020B0600070205080204" pitchFamily="34" charset="-128"/>
                <a:cs typeface="Arial" panose="020B0604020202020204" pitchFamily="34" charset="0"/>
              </a:rPr>
              <a:t>s</a:t>
            </a:r>
            <a:r>
              <a:rPr lang="ja-JP" altLang="ja-JP" sz="2800">
                <a:latin typeface="Arial" panose="020B0604020202020204" pitchFamily="34" charset="0"/>
                <a:ea typeface="MS PGothic" panose="020B0600070205080204" pitchFamily="34" charset="-128"/>
                <a:cs typeface="Arial" panose="020B0604020202020204" pitchFamily="34" charset="0"/>
              </a:rPr>
              <a:t>tage</a:t>
            </a:r>
            <a:r>
              <a:rPr lang="en-US" altLang="ja-JP" sz="2800" dirty="0">
                <a:latin typeface="Arial" panose="020B0604020202020204" pitchFamily="34" charset="0"/>
                <a:ea typeface="MS PGothic" panose="020B0600070205080204" pitchFamily="34" charset="-128"/>
                <a:cs typeface="Arial" panose="020B0604020202020204" pitchFamily="34" charset="0"/>
              </a:rPr>
              <a:t> [1]</a:t>
            </a:r>
            <a:endParaRPr lang="ja-JP" altLang="ja-JP" sz="2800">
              <a:latin typeface="Arial" panose="020B0604020202020204" pitchFamily="34" charset="0"/>
              <a:ea typeface="MS PGothic" panose="020B0600070205080204" pitchFamily="34" charset="-128"/>
              <a:cs typeface="Arial" panose="020B0604020202020204" pitchFamily="34" charset="0"/>
            </a:endParaRPr>
          </a:p>
        </p:txBody>
      </p:sp>
      <p:sp>
        <p:nvSpPr>
          <p:cNvPr id="15" name="テキスト ボックス 14">
            <a:extLst>
              <a:ext uri="{FF2B5EF4-FFF2-40B4-BE49-F238E27FC236}">
                <a16:creationId xmlns:a16="http://schemas.microsoft.com/office/drawing/2014/main" id="{72FB66F5-3E03-AD52-712F-550D7C27B178}"/>
              </a:ext>
            </a:extLst>
          </p:cNvPr>
          <p:cNvSpPr txBox="1"/>
          <p:nvPr/>
        </p:nvSpPr>
        <p:spPr>
          <a:xfrm>
            <a:off x="115933" y="6442118"/>
            <a:ext cx="9230497" cy="369332"/>
          </a:xfrm>
          <a:prstGeom prst="rect">
            <a:avLst/>
          </a:prstGeom>
          <a:noFill/>
        </p:spPr>
        <p:txBody>
          <a:bodyPr wrap="square" rtlCol="0">
            <a:spAutoFit/>
          </a:bodyPr>
          <a:lstStyle/>
          <a:p>
            <a:r>
              <a:rPr lang="en-US" altLang="ja-JP" dirty="0"/>
              <a:t>[1] </a:t>
            </a:r>
            <a:r>
              <a:rPr lang="ja-JP" altLang="ja-JP"/>
              <a:t>G. Karafotias, M. Hoogendoorn, and A. E. Eiben</a:t>
            </a:r>
            <a:r>
              <a:rPr lang="en-US" altLang="ja-JP" dirty="0"/>
              <a:t>, </a:t>
            </a:r>
            <a:r>
              <a:rPr lang="ja-JP" altLang="ja-JP"/>
              <a:t>20</a:t>
            </a:r>
            <a:r>
              <a:rPr lang="en-US" altLang="ja-JP" dirty="0"/>
              <a:t>15</a:t>
            </a:r>
            <a:endParaRPr kumimoji="1"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73FA-52D2-1224-4E78-816AB05F8814}"/>
            </a:ext>
          </a:extLst>
        </p:cNvPr>
        <p:cNvGrpSpPr/>
        <p:nvPr/>
      </p:nvGrpSpPr>
      <p:grpSpPr>
        <a:xfrm>
          <a:off x="0" y="0"/>
          <a:ext cx="0" cy="0"/>
          <a:chOff x="0" y="0"/>
          <a:chExt cx="0" cy="0"/>
        </a:xfrm>
      </p:grpSpPr>
      <p:sp>
        <p:nvSpPr>
          <p:cNvPr id="22" name="フローチャート: 代替処理 21">
            <a:extLst>
              <a:ext uri="{FF2B5EF4-FFF2-40B4-BE49-F238E27FC236}">
                <a16:creationId xmlns:a16="http://schemas.microsoft.com/office/drawing/2014/main" id="{5E7000B6-425E-DACE-A24A-18FC3EF9496D}"/>
              </a:ext>
            </a:extLst>
          </p:cNvPr>
          <p:cNvSpPr/>
          <p:nvPr/>
        </p:nvSpPr>
        <p:spPr>
          <a:xfrm>
            <a:off x="476992" y="3981560"/>
            <a:ext cx="9646033" cy="1736851"/>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Rounded Rectangle 4">
            <a:extLst>
              <a:ext uri="{FF2B5EF4-FFF2-40B4-BE49-F238E27FC236}">
                <a16:creationId xmlns:a16="http://schemas.microsoft.com/office/drawing/2014/main" id="{D07218C1-CCC2-C6FD-E287-832B1D9F56B2}"/>
              </a:ext>
            </a:extLst>
          </p:cNvPr>
          <p:cNvSpPr/>
          <p:nvPr/>
        </p:nvSpPr>
        <p:spPr>
          <a:xfrm>
            <a:off x="5868835" y="1954209"/>
            <a:ext cx="4254190"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18" name="Rounded Rectangle 4">
            <a:extLst>
              <a:ext uri="{FF2B5EF4-FFF2-40B4-BE49-F238E27FC236}">
                <a16:creationId xmlns:a16="http://schemas.microsoft.com/office/drawing/2014/main" id="{FDEB5CB2-5ADD-7BD6-1159-1FB73A700C3F}"/>
              </a:ext>
            </a:extLst>
          </p:cNvPr>
          <p:cNvSpPr/>
          <p:nvPr/>
        </p:nvSpPr>
        <p:spPr>
          <a:xfrm>
            <a:off x="476992" y="1954209"/>
            <a:ext cx="4254190"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2" name="タイトル 1">
            <a:extLst>
              <a:ext uri="{FF2B5EF4-FFF2-40B4-BE49-F238E27FC236}">
                <a16:creationId xmlns:a16="http://schemas.microsoft.com/office/drawing/2014/main" id="{BEC8C36C-BB48-2748-6354-63E1659C01E1}"/>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Related Research</a:t>
            </a:r>
            <a:endParaRPr kumimoji="1" lang="ja-JP" altLang="en-US" b="1">
              <a:latin typeface="Arial" panose="020B0604020202020204" pitchFamily="34" charset="0"/>
              <a:cs typeface="Arial" panose="020B0604020202020204" pitchFamily="34" charset="0"/>
            </a:endParaRPr>
          </a:p>
        </p:txBody>
      </p:sp>
      <p:sp>
        <p:nvSpPr>
          <p:cNvPr id="3" name="テキスト ボックス 2">
            <a:extLst>
              <a:ext uri="{FF2B5EF4-FFF2-40B4-BE49-F238E27FC236}">
                <a16:creationId xmlns:a16="http://schemas.microsoft.com/office/drawing/2014/main" id="{9A2F0942-F2F3-5923-3C70-1FFA9587AA9A}"/>
              </a:ext>
            </a:extLst>
          </p:cNvPr>
          <p:cNvSpPr txBox="1"/>
          <p:nvPr/>
        </p:nvSpPr>
        <p:spPr>
          <a:xfrm>
            <a:off x="476992" y="1248398"/>
            <a:ext cx="4859022" cy="523220"/>
          </a:xfrm>
          <a:prstGeom prst="rect">
            <a:avLst/>
          </a:prstGeom>
          <a:solidFill>
            <a:schemeClr val="bg1"/>
          </a:solidFill>
        </p:spPr>
        <p:txBody>
          <a:bodyPr wrap="none" rtlCol="0">
            <a:spAutoFit/>
          </a:bodyPr>
          <a:lstStyle/>
          <a:p>
            <a:r>
              <a:rPr lang="ja-JP" altLang="ja-JP" sz="2800" b="1">
                <a:latin typeface="Arial" panose="020B0604020202020204" pitchFamily="34" charset="0"/>
                <a:cs typeface="Arial" panose="020B0604020202020204" pitchFamily="34" charset="0"/>
              </a:rPr>
              <a:t>Parameter</a:t>
            </a:r>
            <a:r>
              <a:rPr lang="en-US" altLang="ja-JP" sz="2800" b="1" dirty="0">
                <a:latin typeface="Arial" panose="020B0604020202020204" pitchFamily="34" charset="0"/>
                <a:cs typeface="Arial" panose="020B0604020202020204" pitchFamily="34" charset="0"/>
              </a:rPr>
              <a:t> tuning approach</a:t>
            </a:r>
            <a:endParaRPr lang="ja-JP" altLang="ja-JP" sz="2800" b="1">
              <a:latin typeface="Arial" panose="020B0604020202020204" pitchFamily="34" charset="0"/>
              <a:cs typeface="Arial" panose="020B0604020202020204" pitchFamily="34" charset="0"/>
            </a:endParaRPr>
          </a:p>
        </p:txBody>
      </p:sp>
      <p:sp>
        <p:nvSpPr>
          <p:cNvPr id="13" name="下矢印 12">
            <a:extLst>
              <a:ext uri="{FF2B5EF4-FFF2-40B4-BE49-F238E27FC236}">
                <a16:creationId xmlns:a16="http://schemas.microsoft.com/office/drawing/2014/main" id="{3C33E67D-44D0-188A-36BA-1E16A993FBC8}"/>
              </a:ext>
            </a:extLst>
          </p:cNvPr>
          <p:cNvSpPr/>
          <p:nvPr/>
        </p:nvSpPr>
        <p:spPr>
          <a:xfrm>
            <a:off x="4919526" y="3191433"/>
            <a:ext cx="832975" cy="4751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1383A95-0976-4294-1DD4-4BDA305B7FA2}"/>
              </a:ext>
            </a:extLst>
          </p:cNvPr>
          <p:cNvSpPr txBox="1"/>
          <p:nvPr/>
        </p:nvSpPr>
        <p:spPr>
          <a:xfrm>
            <a:off x="153264" y="6211669"/>
            <a:ext cx="4577918" cy="646331"/>
          </a:xfrm>
          <a:prstGeom prst="rect">
            <a:avLst/>
          </a:prstGeom>
          <a:noFill/>
        </p:spPr>
        <p:txBody>
          <a:bodyPr wrap="square" rtlCol="0">
            <a:spAutoFit/>
          </a:bodyPr>
          <a:lstStyle/>
          <a:p>
            <a:r>
              <a:rPr lang="ja-JP" altLang="ja-JP"/>
              <a:t>[</a:t>
            </a:r>
            <a:r>
              <a:rPr lang="en-US" altLang="ja-JP" dirty="0"/>
              <a:t>2</a:t>
            </a:r>
            <a:r>
              <a:rPr lang="ja-JP" altLang="ja-JP"/>
              <a:t>] J. Niehaus and W. Banzhaf, 2001 </a:t>
            </a:r>
            <a:br>
              <a:rPr lang="en-US" altLang="ja-JP" dirty="0"/>
            </a:br>
            <a:r>
              <a:rPr lang="ja-JP" altLang="ja-JP"/>
              <a:t>[</a:t>
            </a:r>
            <a:r>
              <a:rPr lang="en-US" altLang="ja-JP" dirty="0"/>
              <a:t>3</a:t>
            </a:r>
            <a:r>
              <a:rPr lang="ja-JP" altLang="ja-JP"/>
              <a:t>] S. Oh, W.-H. Suh, and C.-W. Ahn2021</a:t>
            </a:r>
            <a:endParaRPr kumimoji="1" lang="ja-JP" altLang="en-US"/>
          </a:p>
        </p:txBody>
      </p:sp>
      <p:sp>
        <p:nvSpPr>
          <p:cNvPr id="15" name="スライド番号プレースホルダー 2">
            <a:extLst>
              <a:ext uri="{FF2B5EF4-FFF2-40B4-BE49-F238E27FC236}">
                <a16:creationId xmlns:a16="http://schemas.microsoft.com/office/drawing/2014/main" id="{71D30C88-D78C-ECD9-4CC4-101B0BCB5FBD}"/>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6</a:t>
            </a:fld>
            <a:endParaRPr lang="ja-JP" altLang="en-US"/>
          </a:p>
        </p:txBody>
      </p:sp>
      <p:sp>
        <p:nvSpPr>
          <p:cNvPr id="6" name="テキスト ボックス 5">
            <a:extLst>
              <a:ext uri="{FF2B5EF4-FFF2-40B4-BE49-F238E27FC236}">
                <a16:creationId xmlns:a16="http://schemas.microsoft.com/office/drawing/2014/main" id="{8832A6C9-A1F4-92A9-9556-B78671494FF9}"/>
              </a:ext>
            </a:extLst>
          </p:cNvPr>
          <p:cNvSpPr txBox="1"/>
          <p:nvPr/>
        </p:nvSpPr>
        <p:spPr>
          <a:xfrm>
            <a:off x="584200" y="2005872"/>
            <a:ext cx="3823483" cy="461665"/>
          </a:xfrm>
          <a:prstGeom prst="rect">
            <a:avLst/>
          </a:prstGeom>
          <a:noFill/>
        </p:spPr>
        <p:txBody>
          <a:bodyPr wrap="none" rtlCol="0">
            <a:spAutoFit/>
          </a:bodyPr>
          <a:lstStyle/>
          <a:p>
            <a:r>
              <a:rPr lang="ja-JP" altLang="ja-JP" sz="2400" b="1">
                <a:latin typeface="Arial" panose="020B0604020202020204" pitchFamily="34" charset="0"/>
                <a:cs typeface="Arial" panose="020B0604020202020204" pitchFamily="34" charset="0"/>
              </a:rPr>
              <a:t>Operator </a:t>
            </a:r>
            <a:r>
              <a:rPr lang="en-US" altLang="ja-JP" sz="2400" b="1" dirty="0">
                <a:latin typeface="Arial" panose="020B0604020202020204" pitchFamily="34" charset="0"/>
                <a:cs typeface="Arial" panose="020B0604020202020204" pitchFamily="34" charset="0"/>
              </a:rPr>
              <a:t>p</a:t>
            </a:r>
            <a:r>
              <a:rPr lang="ja-JP" altLang="ja-JP" sz="2400" b="1">
                <a:latin typeface="Arial" panose="020B0604020202020204" pitchFamily="34" charset="0"/>
                <a:cs typeface="Arial" panose="020B0604020202020204" pitchFamily="34" charset="0"/>
              </a:rPr>
              <a:t>robabilities</a:t>
            </a:r>
            <a:r>
              <a:rPr lang="en-US" altLang="ja-JP" sz="2400" dirty="0">
                <a:latin typeface="Arial" panose="020B0604020202020204" pitchFamily="34" charset="0"/>
                <a:cs typeface="Arial" panose="020B0604020202020204" pitchFamily="34" charset="0"/>
              </a:rPr>
              <a:t> [2]</a:t>
            </a:r>
            <a:endParaRPr lang="ja-JP" altLang="ja-JP" sz="2400">
              <a:latin typeface="Arial" panose="020B0604020202020204" pitchFamily="34" charset="0"/>
              <a:cs typeface="Arial" panose="020B0604020202020204" pitchFamily="34" charset="0"/>
            </a:endParaRPr>
          </a:p>
        </p:txBody>
      </p:sp>
      <p:sp>
        <p:nvSpPr>
          <p:cNvPr id="8" name="テキスト ボックス 7">
            <a:extLst>
              <a:ext uri="{FF2B5EF4-FFF2-40B4-BE49-F238E27FC236}">
                <a16:creationId xmlns:a16="http://schemas.microsoft.com/office/drawing/2014/main" id="{E1FA0574-2FCC-BA40-878D-2092830DBFF9}"/>
              </a:ext>
            </a:extLst>
          </p:cNvPr>
          <p:cNvSpPr txBox="1"/>
          <p:nvPr/>
        </p:nvSpPr>
        <p:spPr>
          <a:xfrm>
            <a:off x="6000261" y="2005872"/>
            <a:ext cx="3005951" cy="461665"/>
          </a:xfrm>
          <a:prstGeom prst="rect">
            <a:avLst/>
          </a:prstGeom>
          <a:noFill/>
        </p:spPr>
        <p:txBody>
          <a:bodyPr wrap="none" rtlCol="0">
            <a:spAutoFit/>
          </a:bodyPr>
          <a:lstStyle/>
          <a:p>
            <a:r>
              <a:rPr lang="en-US" altLang="ja-JP" sz="2400" b="1" dirty="0">
                <a:latin typeface="Arial" panose="020B0604020202020204" pitchFamily="34" charset="0"/>
                <a:cs typeface="Arial" panose="020B0604020202020204" pitchFamily="34" charset="0"/>
              </a:rPr>
              <a:t>Rate</a:t>
            </a:r>
            <a:r>
              <a:rPr lang="ja-JP" altLang="ja-JP" sz="2400" b="1">
                <a:latin typeface="Arial" panose="020B0604020202020204" pitchFamily="34" charset="0"/>
                <a:cs typeface="Arial" panose="020B0604020202020204" pitchFamily="34" charset="0"/>
              </a:rPr>
              <a:t> </a:t>
            </a:r>
            <a:r>
              <a:rPr lang="en-US" altLang="ja-JP" sz="2400" b="1" dirty="0">
                <a:latin typeface="Arial" panose="020B0604020202020204" pitchFamily="34" charset="0"/>
                <a:cs typeface="Arial" panose="020B0604020202020204" pitchFamily="34" charset="0"/>
              </a:rPr>
              <a:t>adjustment </a:t>
            </a:r>
            <a:r>
              <a:rPr lang="en-US" altLang="ja-JP" sz="2400" dirty="0">
                <a:latin typeface="Arial" panose="020B0604020202020204" pitchFamily="34" charset="0"/>
                <a:cs typeface="Arial" panose="020B0604020202020204" pitchFamily="34" charset="0"/>
              </a:rPr>
              <a:t>[3]</a:t>
            </a:r>
            <a:endParaRPr lang="ja-JP" altLang="ja-JP" sz="2400">
              <a:latin typeface="Arial" panose="020B0604020202020204" pitchFamily="34" charset="0"/>
              <a:cs typeface="Arial" panose="020B0604020202020204" pitchFamily="34" charset="0"/>
            </a:endParaRPr>
          </a:p>
        </p:txBody>
      </p:sp>
      <p:sp>
        <p:nvSpPr>
          <p:cNvPr id="9" name="テキスト ボックス 8">
            <a:extLst>
              <a:ext uri="{FF2B5EF4-FFF2-40B4-BE49-F238E27FC236}">
                <a16:creationId xmlns:a16="http://schemas.microsoft.com/office/drawing/2014/main" id="{04B8AE31-BC58-2358-C02D-B13147C5E25F}"/>
              </a:ext>
            </a:extLst>
          </p:cNvPr>
          <p:cNvSpPr txBox="1"/>
          <p:nvPr/>
        </p:nvSpPr>
        <p:spPr>
          <a:xfrm>
            <a:off x="584200" y="2542121"/>
            <a:ext cx="4017446" cy="461665"/>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U</a:t>
            </a:r>
            <a:r>
              <a:rPr kumimoji="1" lang="en-US" altLang="ja-JP" sz="2400" dirty="0">
                <a:latin typeface="Arial" panose="020B0604020202020204" pitchFamily="34" charset="0"/>
                <a:cs typeface="Arial" panose="020B0604020202020204" pitchFamily="34" charset="0"/>
              </a:rPr>
              <a:t>se history of improvement </a:t>
            </a:r>
            <a:endParaRPr kumimoji="1" lang="ja-JP" altLang="en-US" sz="2400">
              <a:latin typeface="Arial" panose="020B0604020202020204" pitchFamily="34" charset="0"/>
              <a:cs typeface="Arial" panose="020B0604020202020204" pitchFamily="34" charset="0"/>
            </a:endParaRPr>
          </a:p>
        </p:txBody>
      </p:sp>
      <p:sp>
        <p:nvSpPr>
          <p:cNvPr id="16" name="テキスト ボックス 15">
            <a:extLst>
              <a:ext uri="{FF2B5EF4-FFF2-40B4-BE49-F238E27FC236}">
                <a16:creationId xmlns:a16="http://schemas.microsoft.com/office/drawing/2014/main" id="{6C0156A1-171F-E2E5-5B95-C51F4D714BBD}"/>
              </a:ext>
            </a:extLst>
          </p:cNvPr>
          <p:cNvSpPr txBox="1"/>
          <p:nvPr/>
        </p:nvSpPr>
        <p:spPr>
          <a:xfrm>
            <a:off x="6000261" y="2556592"/>
            <a:ext cx="3470822" cy="461665"/>
          </a:xfrm>
          <a:prstGeom prst="rect">
            <a:avLst/>
          </a:prstGeom>
          <a:noFill/>
        </p:spPr>
        <p:txBody>
          <a:bodyPr wrap="none" rtlCol="0">
            <a:spAutoFit/>
          </a:bodyPr>
          <a:lstStyle/>
          <a:p>
            <a:r>
              <a:rPr kumimoji="1" lang="en-US" altLang="ja-JP" sz="2400" dirty="0">
                <a:latin typeface="Arial" panose="020B0604020202020204" pitchFamily="34" charset="0"/>
                <a:cs typeface="Arial" panose="020B0604020202020204" pitchFamily="34" charset="0"/>
              </a:rPr>
              <a:t>Base on tree complexity</a:t>
            </a:r>
            <a:endParaRPr kumimoji="1" lang="ja-JP" altLang="en-US" sz="2400">
              <a:latin typeface="Arial" panose="020B0604020202020204" pitchFamily="34" charset="0"/>
              <a:cs typeface="Arial" panose="020B0604020202020204" pitchFamily="34" charset="0"/>
            </a:endParaRPr>
          </a:p>
        </p:txBody>
      </p:sp>
      <p:sp>
        <p:nvSpPr>
          <p:cNvPr id="20" name="テキスト ボックス 19">
            <a:extLst>
              <a:ext uri="{FF2B5EF4-FFF2-40B4-BE49-F238E27FC236}">
                <a16:creationId xmlns:a16="http://schemas.microsoft.com/office/drawing/2014/main" id="{7B3F7E9B-88AD-3D69-EA30-E0F4511A737A}"/>
              </a:ext>
            </a:extLst>
          </p:cNvPr>
          <p:cNvSpPr txBox="1"/>
          <p:nvPr/>
        </p:nvSpPr>
        <p:spPr>
          <a:xfrm>
            <a:off x="584200" y="4072377"/>
            <a:ext cx="1305165"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I</a:t>
            </a:r>
            <a:r>
              <a:rPr kumimoji="1" lang="en-US" altLang="ja-JP" sz="2800" b="1" dirty="0">
                <a:latin typeface="Arial" panose="020B0604020202020204" pitchFamily="34" charset="0"/>
                <a:cs typeface="Arial" panose="020B0604020202020204" pitchFamily="34" charset="0"/>
              </a:rPr>
              <a:t>ssues</a:t>
            </a:r>
            <a:endParaRPr kumimoji="1" lang="ja-JP" altLang="en-US" sz="2800" b="1">
              <a:latin typeface="Arial" panose="020B0604020202020204" pitchFamily="34" charset="0"/>
              <a:cs typeface="Arial" panose="020B0604020202020204" pitchFamily="34" charset="0"/>
            </a:endParaRPr>
          </a:p>
        </p:txBody>
      </p:sp>
      <p:sp>
        <p:nvSpPr>
          <p:cNvPr id="21" name="テキスト ボックス 20">
            <a:extLst>
              <a:ext uri="{FF2B5EF4-FFF2-40B4-BE49-F238E27FC236}">
                <a16:creationId xmlns:a16="http://schemas.microsoft.com/office/drawing/2014/main" id="{21F9867D-53EA-1340-693E-9DC528452788}"/>
              </a:ext>
            </a:extLst>
          </p:cNvPr>
          <p:cNvSpPr txBox="1"/>
          <p:nvPr/>
        </p:nvSpPr>
        <p:spPr>
          <a:xfrm>
            <a:off x="584200" y="4582837"/>
            <a:ext cx="8486619" cy="950901"/>
          </a:xfrm>
          <a:prstGeom prst="rect">
            <a:avLst/>
          </a:prstGeom>
          <a:noFill/>
        </p:spPr>
        <p:txBody>
          <a:bodyPr wrap="none" rtlCol="0">
            <a:spAutoFit/>
          </a:bodyPr>
          <a:lstStyle/>
          <a:p>
            <a:pPr>
              <a:lnSpc>
                <a:spcPct val="120000"/>
              </a:lnSpc>
            </a:pPr>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Limitations of single-perspective state</a:t>
            </a:r>
            <a:endParaRPr lang="en-US" altLang="ja-JP" sz="2400" dirty="0">
              <a:latin typeface="Arial" panose="020B0604020202020204" pitchFamily="34" charset="0"/>
              <a:cs typeface="Arial" panose="020B0604020202020204" pitchFamily="34" charset="0"/>
            </a:endParaRPr>
          </a:p>
          <a:p>
            <a:pPr>
              <a:lnSpc>
                <a:spcPct val="120000"/>
              </a:lnSpc>
            </a:pPr>
            <a:r>
              <a:rPr lang="ja-JP" altLang="en-US" sz="2400">
                <a:latin typeface="Arial" panose="020B0604020202020204" pitchFamily="34" charset="0"/>
                <a:cs typeface="Arial" panose="020B0604020202020204" pitchFamily="34" charset="0"/>
              </a:rPr>
              <a:t>・</a:t>
            </a:r>
            <a:r>
              <a:rPr lang="en" altLang="ja-JP" sz="2400" dirty="0">
                <a:latin typeface="Arial" panose="020B0604020202020204" pitchFamily="34" charset="0"/>
                <a:cs typeface="Arial" panose="020B0604020202020204" pitchFamily="34" charset="0"/>
              </a:rPr>
              <a:t>Lack of consideration for operator-rate readjustment timing</a:t>
            </a:r>
            <a:endParaRPr kumimoji="1" lang="ja-JP" altLang="en-US"/>
          </a:p>
        </p:txBody>
      </p:sp>
    </p:spTree>
    <p:extLst>
      <p:ext uri="{BB962C8B-B14F-4D97-AF65-F5344CB8AC3E}">
        <p14:creationId xmlns:p14="http://schemas.microsoft.com/office/powerpoint/2010/main" val="3090947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フローチャート: 代替処理 10">
            <a:extLst>
              <a:ext uri="{FF2B5EF4-FFF2-40B4-BE49-F238E27FC236}">
                <a16:creationId xmlns:a16="http://schemas.microsoft.com/office/drawing/2014/main" id="{EF03F635-B0B8-79AA-E804-C51C58809819}"/>
              </a:ext>
            </a:extLst>
          </p:cNvPr>
          <p:cNvSpPr/>
          <p:nvPr/>
        </p:nvSpPr>
        <p:spPr>
          <a:xfrm>
            <a:off x="616084" y="5376039"/>
            <a:ext cx="10959831"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p:txBody>
          <a:bodyPr wrap="square">
            <a:normAutofit fontScale="90000"/>
          </a:bodyPr>
          <a:lstStyle/>
          <a:p>
            <a:pPr algn="l"/>
            <a:r>
              <a:rPr lang="en-US" altLang="ja-JP" b="1" dirty="0">
                <a:solidFill>
                  <a:srgbClr val="17324D"/>
                </a:solidFill>
                <a:latin typeface="Arial" panose="020B0604020202020204" pitchFamily="34" charset="0"/>
                <a:cs typeface="Arial" panose="020B0604020202020204" pitchFamily="34" charset="0"/>
              </a:rPr>
              <a:t>Research Objective</a:t>
            </a:r>
            <a:endParaRPr b="1" dirty="0">
              <a:solidFill>
                <a:srgbClr val="17324D"/>
              </a:solidFill>
              <a:latin typeface="Arial" panose="020B0604020202020204" pitchFamily="34" charset="0"/>
              <a:cs typeface="Arial" panose="020B0604020202020204" pitchFamily="34" charset="0"/>
            </a:endParaRPr>
          </a:p>
        </p:txBody>
      </p:sp>
      <p:sp>
        <p:nvSpPr>
          <p:cNvPr id="9" name="フローチャート: 代替処理 8">
            <a:extLst>
              <a:ext uri="{FF2B5EF4-FFF2-40B4-BE49-F238E27FC236}">
                <a16:creationId xmlns:a16="http://schemas.microsoft.com/office/drawing/2014/main" id="{EC11E00C-8053-8158-4A33-4DF118EC8D59}"/>
              </a:ext>
            </a:extLst>
          </p:cNvPr>
          <p:cNvSpPr/>
          <p:nvPr/>
        </p:nvSpPr>
        <p:spPr>
          <a:xfrm>
            <a:off x="616084" y="1481961"/>
            <a:ext cx="10959831" cy="1785995"/>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8AED33F-C36F-A02E-F0C7-7CC8D249F4D3}"/>
              </a:ext>
            </a:extLst>
          </p:cNvPr>
          <p:cNvSpPr txBox="1"/>
          <p:nvPr/>
        </p:nvSpPr>
        <p:spPr>
          <a:xfrm>
            <a:off x="762573" y="5525576"/>
            <a:ext cx="10959830" cy="561820"/>
          </a:xfrm>
          <a:prstGeom prst="rect">
            <a:avLst/>
          </a:prstGeom>
          <a:noFill/>
        </p:spPr>
        <p:txBody>
          <a:bodyPr wrap="square" rtlCol="0">
            <a:spAutoFit/>
          </a:bodyPr>
          <a:lstStyle/>
          <a:p>
            <a:pPr>
              <a:lnSpc>
                <a:spcPct val="120000"/>
              </a:lnSpc>
            </a:pPr>
            <a:r>
              <a:rPr lang="ja-JP" altLang="ja-JP" sz="2800">
                <a:latin typeface="Arial" panose="020B0604020202020204" pitchFamily="34" charset="0"/>
                <a:cs typeface="Arial" panose="020B0604020202020204" pitchFamily="34" charset="0"/>
              </a:rPr>
              <a:t>View GP operator-rate setting as a </a:t>
            </a:r>
            <a:r>
              <a:rPr lang="en-US" altLang="ja-JP" sz="2800" b="1" dirty="0">
                <a:solidFill>
                  <a:srgbClr val="FF0000"/>
                </a:solidFill>
                <a:latin typeface="Arial" panose="020B0604020202020204" pitchFamily="34" charset="0"/>
                <a:cs typeface="Arial" panose="020B0604020202020204" pitchFamily="34" charset="0"/>
              </a:rPr>
              <a:t>C</a:t>
            </a:r>
            <a:r>
              <a:rPr lang="ja-JP" altLang="ja-JP" sz="2800" b="1">
                <a:solidFill>
                  <a:srgbClr val="FF0000"/>
                </a:solidFill>
                <a:latin typeface="Arial" panose="020B0604020202020204" pitchFamily="34" charset="0"/>
                <a:cs typeface="Arial" panose="020B0604020202020204" pitchFamily="34" charset="0"/>
              </a:rPr>
              <a:t>losed-loop control</a:t>
            </a:r>
            <a:r>
              <a:rPr lang="ja-JP" altLang="ja-JP" sz="2800">
                <a:solidFill>
                  <a:srgbClr val="FF0000"/>
                </a:solidFill>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problem</a:t>
            </a:r>
            <a:endParaRPr lang="en-US" altLang="ja-JP" sz="2800" dirty="0">
              <a:latin typeface="Arial" panose="020B0604020202020204" pitchFamily="34" charset="0"/>
              <a:cs typeface="Arial" panose="020B0604020202020204" pitchFamily="34" charset="0"/>
            </a:endParaRPr>
          </a:p>
        </p:txBody>
      </p:sp>
      <p:sp>
        <p:nvSpPr>
          <p:cNvPr id="18" name="スライド番号プレースホルダー 2">
            <a:extLst>
              <a:ext uri="{FF2B5EF4-FFF2-40B4-BE49-F238E27FC236}">
                <a16:creationId xmlns:a16="http://schemas.microsoft.com/office/drawing/2014/main" id="{E4FD9948-659C-1478-A9B0-6CD3EFC89DB4}"/>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7</a:t>
            </a:fld>
            <a:endParaRPr lang="ja-JP" altLang="en-US"/>
          </a:p>
        </p:txBody>
      </p:sp>
      <p:sp>
        <p:nvSpPr>
          <p:cNvPr id="3" name="テキスト ボックス 2">
            <a:extLst>
              <a:ext uri="{FF2B5EF4-FFF2-40B4-BE49-F238E27FC236}">
                <a16:creationId xmlns:a16="http://schemas.microsoft.com/office/drawing/2014/main" id="{9DA7C9A0-DBFE-C472-09DD-436AFC10B4BC}"/>
              </a:ext>
            </a:extLst>
          </p:cNvPr>
          <p:cNvSpPr txBox="1"/>
          <p:nvPr/>
        </p:nvSpPr>
        <p:spPr>
          <a:xfrm>
            <a:off x="762573" y="1682460"/>
            <a:ext cx="10522507" cy="1384995"/>
          </a:xfrm>
          <a:prstGeom prst="rect">
            <a:avLst/>
          </a:prstGeom>
          <a:noFill/>
        </p:spPr>
        <p:txBody>
          <a:bodyPr wrap="square" rtlCol="0">
            <a:spAutoFit/>
          </a:bodyPr>
          <a:lstStyle/>
          <a:p>
            <a:r>
              <a:rPr lang="ja-JP" altLang="ja-JP" sz="2800">
                <a:latin typeface="Arial" panose="020B0604020202020204" pitchFamily="34" charset="0"/>
                <a:cs typeface="Arial" panose="020B0604020202020204" pitchFamily="34" charset="0"/>
              </a:rPr>
              <a:t>Improve</a:t>
            </a:r>
            <a:r>
              <a:rPr lang="en-US" altLang="ja-JP" sz="2800" dirty="0">
                <a:latin typeface="Arial" panose="020B0604020202020204" pitchFamily="34" charset="0"/>
                <a:cs typeface="Arial" panose="020B0604020202020204" pitchFamily="34" charset="0"/>
              </a:rPr>
              <a:t> </a:t>
            </a:r>
            <a:r>
              <a:rPr lang="ja-JP" altLang="ja-JP" sz="2800" b="1">
                <a:latin typeface="Arial" panose="020B0604020202020204" pitchFamily="34" charset="0"/>
                <a:cs typeface="Arial" panose="020B0604020202020204" pitchFamily="34" charset="0"/>
              </a:rPr>
              <a:t>Diversity </a:t>
            </a:r>
            <a:r>
              <a:rPr lang="en-US" altLang="ja-JP" sz="2800" b="1" dirty="0">
                <a:latin typeface="Arial" panose="020B0604020202020204" pitchFamily="34" charset="0"/>
                <a:cs typeface="Arial" panose="020B0604020202020204" pitchFamily="34" charset="0"/>
              </a:rPr>
              <a:t>and </a:t>
            </a:r>
            <a:r>
              <a:rPr lang="ja-JP" altLang="ja-JP" sz="2800" b="1">
                <a:latin typeface="Arial" panose="020B0604020202020204" pitchFamily="34" charset="0"/>
                <a:cs typeface="Arial" panose="020B0604020202020204" pitchFamily="34" charset="0"/>
              </a:rPr>
              <a:t>Convergenc</a:t>
            </a:r>
            <a:r>
              <a:rPr lang="en-US" altLang="ja-JP" sz="2800" b="1" dirty="0">
                <a:latin typeface="Arial" panose="020B0604020202020204" pitchFamily="34" charset="0"/>
                <a:cs typeface="Arial" panose="020B0604020202020204" pitchFamily="34" charset="0"/>
              </a:rPr>
              <a:t>y</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t</a:t>
            </a:r>
            <a:r>
              <a:rPr lang="ja-JP" altLang="ja-JP" sz="2800">
                <a:latin typeface="Arial" panose="020B0604020202020204" pitchFamily="34" charset="0"/>
                <a:cs typeface="Arial" panose="020B0604020202020204" pitchFamily="34" charset="0"/>
              </a:rPr>
              <a:t>hrough </a:t>
            </a:r>
            <a:r>
              <a:rPr lang="en-US" altLang="ja-JP" sz="2800" b="1" dirty="0">
                <a:solidFill>
                  <a:srgbClr val="FF0000"/>
                </a:solidFill>
                <a:latin typeface="Arial" panose="020B0604020202020204" pitchFamily="34" charset="0"/>
                <a:cs typeface="Arial" panose="020B0604020202020204" pitchFamily="34" charset="0"/>
              </a:rPr>
              <a:t>Crossover Rate</a:t>
            </a:r>
            <a:r>
              <a:rPr lang="en-US" altLang="ja-JP" sz="2800" dirty="0">
                <a:latin typeface="Arial" panose="020B0604020202020204" pitchFamily="34" charset="0"/>
                <a:cs typeface="Arial" panose="020B0604020202020204" pitchFamily="34" charset="0"/>
              </a:rPr>
              <a:t>, </a:t>
            </a:r>
            <a:r>
              <a:rPr lang="en-US" altLang="ja-JP" sz="2800" b="1" dirty="0">
                <a:solidFill>
                  <a:srgbClr val="FF0000"/>
                </a:solidFill>
                <a:latin typeface="Arial" panose="020B0604020202020204" pitchFamily="34" charset="0"/>
                <a:cs typeface="Arial" panose="020B0604020202020204" pitchFamily="34" charset="0"/>
              </a:rPr>
              <a:t>Mutation </a:t>
            </a:r>
            <a:r>
              <a:rPr lang="ja-JP" altLang="ja-JP" sz="2800" b="1">
                <a:solidFill>
                  <a:srgbClr val="FF0000"/>
                </a:solidFill>
                <a:latin typeface="Arial" panose="020B0604020202020204" pitchFamily="34" charset="0"/>
                <a:cs typeface="Arial" panose="020B0604020202020204" pitchFamily="34" charset="0"/>
              </a:rPr>
              <a:t>Rate </a:t>
            </a:r>
            <a:r>
              <a:rPr lang="ja-JP" altLang="ja-JP" sz="2800">
                <a:latin typeface="Arial" panose="020B0604020202020204" pitchFamily="34" charset="0"/>
                <a:cs typeface="Arial" panose="020B0604020202020204" pitchFamily="34" charset="0"/>
              </a:rPr>
              <a:t>and</a:t>
            </a:r>
            <a:r>
              <a:rPr lang="ja-JP" altLang="ja-JP" sz="2800" b="1">
                <a:solidFill>
                  <a:srgbClr val="FF0000"/>
                </a:solidFill>
                <a:latin typeface="Arial" panose="020B0604020202020204" pitchFamily="34" charset="0"/>
                <a:cs typeface="Arial" panose="020B0604020202020204" pitchFamily="34" charset="0"/>
              </a:rPr>
              <a:t> Update-Timing</a:t>
            </a:r>
            <a:r>
              <a:rPr lang="ja-JP" altLang="ja-JP" sz="2800">
                <a:latin typeface="Arial" panose="020B0604020202020204" pitchFamily="34" charset="0"/>
                <a:cs typeface="Arial" panose="020B0604020202020204" pitchFamily="34" charset="0"/>
              </a:rPr>
              <a:t> </a:t>
            </a:r>
            <a:r>
              <a:rPr lang="en-US" altLang="ja-JP" sz="2800" b="1" dirty="0">
                <a:latin typeface="Arial" panose="020B0604020202020204" pitchFamily="34" charset="0"/>
                <a:cs typeface="Arial" panose="020B0604020202020204" pitchFamily="34" charset="0"/>
              </a:rPr>
              <a:t>a</a:t>
            </a:r>
            <a:r>
              <a:rPr lang="ja-JP" altLang="ja-JP" sz="2800" b="1">
                <a:latin typeface="Arial" panose="020B0604020202020204" pitchFamily="34" charset="0"/>
                <a:cs typeface="Arial" panose="020B0604020202020204" pitchFamily="34" charset="0"/>
              </a:rPr>
              <a:t>daptation</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b</a:t>
            </a:r>
            <a:r>
              <a:rPr lang="ja-JP" altLang="ja-JP" sz="2800">
                <a:latin typeface="Arial" panose="020B0604020202020204" pitchFamily="34" charset="0"/>
                <a:cs typeface="Arial" panose="020B0604020202020204" pitchFamily="34" charset="0"/>
              </a:rPr>
              <a:t>ased on </a:t>
            </a:r>
            <a:r>
              <a:rPr lang="ja-JP" altLang="ja-JP" sz="2800" b="1">
                <a:latin typeface="Arial" panose="020B0604020202020204" pitchFamily="34" charset="0"/>
                <a:cs typeface="Arial" panose="020B0604020202020204" pitchFamily="34" charset="0"/>
              </a:rPr>
              <a:t>Multiple Generational States</a:t>
            </a:r>
            <a:endParaRPr kumimoji="1" lang="ja-JP" altLang="en-US" sz="2800"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C9E0B2DB-1AC7-4FCC-B26D-BEA57DCBCD3B}"/>
                  </a:ext>
                </a:extLst>
              </p:cNvPr>
              <p:cNvSpPr txBox="1"/>
              <p:nvPr/>
            </p:nvSpPr>
            <p:spPr>
              <a:xfrm>
                <a:off x="906920" y="3687735"/>
                <a:ext cx="2488076" cy="461665"/>
              </a:xfrm>
              <a:prstGeom prst="rect">
                <a:avLst/>
              </a:prstGeom>
              <a:noFill/>
            </p:spPr>
            <p:txBody>
              <a:bodyPr wrap="square" rtlCol="0">
                <a:spAutoFit/>
              </a:bodyPr>
              <a:lstStyle/>
              <a:p>
                <a:r>
                  <a:rPr kumimoji="1" lang="en-US" altLang="ja-JP" sz="2400" b="1" dirty="0">
                    <a:latin typeface="Arial" panose="020B0604020202020204" pitchFamily="34" charset="0"/>
                    <a:cs typeface="Arial" panose="020B0604020202020204" pitchFamily="34" charset="0"/>
                  </a:rPr>
                  <a:t>State</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𝒍</m:t>
                        </m:r>
                      </m:sub>
                    </m:sSub>
                  </m:oMath>
                </a14:m>
                <a:endParaRPr kumimoji="1" lang="ja-JP" altLang="en-US" sz="2400" b="1"/>
              </a:p>
            </p:txBody>
          </p:sp>
        </mc:Choice>
        <mc:Fallback xmlns="">
          <p:sp>
            <p:nvSpPr>
              <p:cNvPr id="15" name="テキスト ボックス 14">
                <a:extLst>
                  <a:ext uri="{FF2B5EF4-FFF2-40B4-BE49-F238E27FC236}">
                    <a16:creationId xmlns:a16="http://schemas.microsoft.com/office/drawing/2014/main" id="{C9E0B2DB-1AC7-4FCC-B26D-BEA57DCBCD3B}"/>
                  </a:ext>
                </a:extLst>
              </p:cNvPr>
              <p:cNvSpPr txBox="1">
                <a:spLocks noRot="1" noChangeAspect="1" noMove="1" noResize="1" noEditPoints="1" noAdjustHandles="1" noChangeArrowheads="1" noChangeShapeType="1" noTextEdit="1"/>
              </p:cNvSpPr>
              <p:nvPr/>
            </p:nvSpPr>
            <p:spPr>
              <a:xfrm>
                <a:off x="906920" y="3687735"/>
                <a:ext cx="2488076" cy="461665"/>
              </a:xfrm>
              <a:prstGeom prst="rect">
                <a:avLst/>
              </a:prstGeom>
              <a:blipFill>
                <a:blip r:embed="rId3"/>
                <a:stretch>
                  <a:fillRect l="-4061" t="-13514" b="-24324"/>
                </a:stretch>
              </a:blipFill>
            </p:spPr>
            <p:txBody>
              <a:bodyPr/>
              <a:lstStyle/>
              <a:p>
                <a:r>
                  <a:rPr lang="ja-JP" altLang="en-US">
                    <a:noFill/>
                  </a:rPr>
                  <a:t> </a:t>
                </a:r>
              </a:p>
            </p:txBody>
          </p:sp>
        </mc:Fallback>
      </mc:AlternateContent>
      <p:sp>
        <p:nvSpPr>
          <p:cNvPr id="16" name="Text 20">
            <a:extLst>
              <a:ext uri="{FF2B5EF4-FFF2-40B4-BE49-F238E27FC236}">
                <a16:creationId xmlns:a16="http://schemas.microsoft.com/office/drawing/2014/main" id="{19544198-D782-0ABB-3F70-B5608E7C34AA}"/>
              </a:ext>
            </a:extLst>
          </p:cNvPr>
          <p:cNvSpPr txBox="1"/>
          <p:nvPr/>
        </p:nvSpPr>
        <p:spPr>
          <a:xfrm>
            <a:off x="1058207" y="4149400"/>
            <a:ext cx="10226873" cy="928437"/>
          </a:xfrm>
          <a:prstGeom prst="rect">
            <a:avLst/>
          </a:prstGeom>
          <a:noFill/>
          <a:ln>
            <a:noFill/>
          </a:ln>
        </p:spPr>
        <p:txBody>
          <a:bodyPr wrap="square" lIns="45720" tIns="45720" rIns="45720" bIns="45720" anchor="t"/>
          <a:lstStyle/>
          <a:p>
            <a:r>
              <a:rPr lang="ja-JP" altLang="en-US" sz="2000">
                <a:latin typeface="Arial" panose="020B0604020202020204" pitchFamily="34" charset="0"/>
                <a:cs typeface="Arial" panose="020B0604020202020204" pitchFamily="34" charset="0"/>
              </a:rPr>
              <a:t>・</a:t>
            </a:r>
            <a:r>
              <a:rPr lang="ja-JP" altLang="ja-JP" sz="2000">
                <a:latin typeface="Arial" panose="020B0604020202020204" pitchFamily="34" charset="0"/>
                <a:cs typeface="Arial" panose="020B0604020202020204" pitchFamily="34" charset="0"/>
              </a:rPr>
              <a:t>Generation </a:t>
            </a:r>
            <a:r>
              <a:rPr lang="en-US" altLang="ja-JP" sz="2000" dirty="0">
                <a:latin typeface="Arial" panose="020B0604020202020204" pitchFamily="34" charset="0"/>
                <a:cs typeface="Arial" panose="020B0604020202020204" pitchFamily="34" charset="0"/>
              </a:rPr>
              <a:t>p</a:t>
            </a:r>
            <a:r>
              <a:rPr lang="ja-JP" altLang="ja-JP" sz="2000">
                <a:latin typeface="Arial" panose="020B0604020202020204" pitchFamily="34" charset="0"/>
                <a:cs typeface="Arial" panose="020B0604020202020204" pitchFamily="34" charset="0"/>
              </a:rPr>
              <a:t>rogress </a:t>
            </a:r>
            <a:r>
              <a:rPr lang="en-US" altLang="ja-JP" sz="2000" dirty="0">
                <a:latin typeface="Arial" panose="020B0604020202020204" pitchFamily="34" charset="0"/>
                <a:cs typeface="Arial" panose="020B0604020202020204" pitchFamily="34" charset="0"/>
              </a:rPr>
              <a:t>r</a:t>
            </a:r>
            <a:r>
              <a:rPr lang="ja-JP" altLang="ja-JP" sz="2000">
                <a:latin typeface="Arial" panose="020B0604020202020204" pitchFamily="34" charset="0"/>
                <a:cs typeface="Arial" panose="020B0604020202020204" pitchFamily="34" charset="0"/>
              </a:rPr>
              <a:t>atio</a:t>
            </a:r>
            <a:r>
              <a:rPr lang="ja-JP" altLang="en-US" sz="2000">
                <a:latin typeface="Arial" panose="020B0604020202020204" pitchFamily="34" charset="0"/>
                <a:cs typeface="Arial" panose="020B0604020202020204" pitchFamily="34" charset="0"/>
              </a:rPr>
              <a:t>　・</a:t>
            </a:r>
            <a:r>
              <a:rPr lang="ja-JP" altLang="ja-JP" sz="2000">
                <a:latin typeface="Arial" panose="020B0604020202020204" pitchFamily="34" charset="0"/>
                <a:cs typeface="Arial" panose="020B0604020202020204" pitchFamily="34" charset="0"/>
              </a:rPr>
              <a:t>Current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olution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et </a:t>
            </a:r>
            <a:r>
              <a:rPr lang="en-US" altLang="ja-JP" sz="2000" dirty="0">
                <a:latin typeface="Arial" panose="020B0604020202020204" pitchFamily="34" charset="0"/>
                <a:cs typeface="Arial" panose="020B0604020202020204" pitchFamily="34" charset="0"/>
              </a:rPr>
              <a:t>q</a:t>
            </a:r>
            <a:r>
              <a:rPr lang="ja-JP" altLang="ja-JP" sz="2000">
                <a:latin typeface="Arial" panose="020B0604020202020204" pitchFamily="34" charset="0"/>
                <a:cs typeface="Arial" panose="020B0604020202020204" pitchFamily="34" charset="0"/>
              </a:rPr>
              <a:t>uality</a:t>
            </a:r>
            <a:r>
              <a:rPr lang="ja-JP" altLang="en-US" sz="2000">
                <a:latin typeface="Arial" panose="020B0604020202020204" pitchFamily="34" charset="0"/>
                <a:cs typeface="Arial" panose="020B0604020202020204" pitchFamily="34" charset="0"/>
              </a:rPr>
              <a:t>　・</a:t>
            </a:r>
            <a:r>
              <a:rPr lang="ja-JP" altLang="ja-JP" sz="2000">
                <a:latin typeface="Arial" panose="020B0604020202020204" pitchFamily="34" charset="0"/>
                <a:cs typeface="Arial" panose="020B0604020202020204" pitchFamily="34" charset="0"/>
              </a:rPr>
              <a:t>Recent</a:t>
            </a:r>
            <a:r>
              <a:rPr lang="en-US" altLang="ja-JP" sz="2000" dirty="0">
                <a:latin typeface="Arial" panose="020B0604020202020204" pitchFamily="34" charset="0"/>
                <a:cs typeface="Arial" panose="020B0604020202020204" pitchFamily="34" charset="0"/>
              </a:rPr>
              <a:t> improvement</a:t>
            </a:r>
          </a:p>
          <a:p>
            <a:r>
              <a:rPr lang="ja-JP" altLang="en-US" sz="2000">
                <a:latin typeface="Arial" panose="020B0604020202020204" pitchFamily="34" charset="0"/>
                <a:cs typeface="Arial" panose="020B0604020202020204" pitchFamily="34" charset="0"/>
              </a:rPr>
              <a:t>・</a:t>
            </a:r>
            <a:r>
              <a:rPr lang="en-US" altLang="ja-JP" sz="2000" dirty="0">
                <a:latin typeface="Arial" panose="020B0604020202020204" pitchFamily="34" charset="0"/>
                <a:cs typeface="Arial" panose="020B0604020202020204" pitchFamily="34" charset="0"/>
              </a:rPr>
              <a:t>Structural d</a:t>
            </a:r>
            <a:r>
              <a:rPr lang="en-US" altLang="ja-JP" sz="2000" dirty="0">
                <a:solidFill>
                  <a:srgbClr val="252A2D"/>
                </a:solidFill>
                <a:latin typeface="Arial" panose="020B0604020202020204" pitchFamily="34" charset="0"/>
                <a:ea typeface="Yu Gothic"/>
                <a:cs typeface="Arial" panose="020B0604020202020204" pitchFamily="34" charset="0"/>
              </a:rPr>
              <a:t>iversity               </a:t>
            </a:r>
            <a:r>
              <a:rPr lang="ja-JP" altLang="en-US" sz="2000">
                <a:solidFill>
                  <a:srgbClr val="252A2D"/>
                </a:solidFill>
                <a:latin typeface="Arial" panose="020B0604020202020204" pitchFamily="34" charset="0"/>
                <a:ea typeface="Yu Gothic"/>
                <a:cs typeface="Arial" panose="020B0604020202020204" pitchFamily="34" charset="0"/>
              </a:rPr>
              <a:t>・</a:t>
            </a:r>
            <a:r>
              <a:rPr lang="en-US" altLang="ja-JP" sz="2000" dirty="0">
                <a:latin typeface="Arial" panose="020B0604020202020204" pitchFamily="34" charset="0"/>
                <a:cs typeface="Arial" panose="020B0604020202020204" pitchFamily="34" charset="0"/>
              </a:rPr>
              <a:t>A</a:t>
            </a:r>
            <a:r>
              <a:rPr lang="ja-JP" altLang="ja-JP" sz="2000">
                <a:latin typeface="Arial" panose="020B0604020202020204" pitchFamily="34" charset="0"/>
                <a:cs typeface="Arial" panose="020B0604020202020204" pitchFamily="34" charset="0"/>
              </a:rPr>
              <a:t>verage </a:t>
            </a:r>
            <a:r>
              <a:rPr lang="en-US" altLang="ja-JP" sz="2000" dirty="0">
                <a:latin typeface="Arial" panose="020B0604020202020204" pitchFamily="34" charset="0"/>
                <a:cs typeface="Arial" panose="020B0604020202020204" pitchFamily="34" charset="0"/>
              </a:rPr>
              <a:t>t</a:t>
            </a:r>
            <a:r>
              <a:rPr lang="ja-JP" altLang="ja-JP" sz="2000">
                <a:latin typeface="Arial" panose="020B0604020202020204" pitchFamily="34" charset="0"/>
                <a:cs typeface="Arial" panose="020B0604020202020204" pitchFamily="34" charset="0"/>
              </a:rPr>
              <a:t>ree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ize</a:t>
            </a:r>
            <a:r>
              <a:rPr lang="ja-JP" altLang="en-US" sz="2000">
                <a:latin typeface="Arial" panose="020B0604020202020204" pitchFamily="34" charset="0"/>
                <a:cs typeface="Arial" panose="020B0604020202020204" pitchFamily="34" charset="0"/>
              </a:rPr>
              <a:t>　　　　　・</a:t>
            </a:r>
            <a:r>
              <a:rPr lang="ja-JP" altLang="ja-JP" sz="2000">
                <a:latin typeface="Arial" panose="020B0604020202020204" pitchFamily="34" charset="0"/>
                <a:cs typeface="Arial" panose="020B0604020202020204" pitchFamily="34" charset="0"/>
              </a:rPr>
              <a:t>Stagnation </a:t>
            </a:r>
            <a:r>
              <a:rPr lang="en-US" altLang="ja-JP" sz="2000" dirty="0">
                <a:latin typeface="Arial" panose="020B0604020202020204" pitchFamily="34" charset="0"/>
                <a:cs typeface="Arial" panose="020B0604020202020204" pitchFamily="34" charset="0"/>
              </a:rPr>
              <a:t>l</a:t>
            </a:r>
            <a:r>
              <a:rPr lang="ja-JP" altLang="ja-JP" sz="2000">
                <a:latin typeface="Arial" panose="020B0604020202020204" pitchFamily="34" charset="0"/>
                <a:cs typeface="Arial" panose="020B0604020202020204" pitchFamily="34" charset="0"/>
              </a:rPr>
              <a:t>ength</a:t>
            </a:r>
          </a:p>
        </p:txBody>
      </p:sp>
      <p:sp>
        <p:nvSpPr>
          <p:cNvPr id="17" name="フローチャート: 代替処理 16">
            <a:extLst>
              <a:ext uri="{FF2B5EF4-FFF2-40B4-BE49-F238E27FC236}">
                <a16:creationId xmlns:a16="http://schemas.microsoft.com/office/drawing/2014/main" id="{B26807E6-5185-36A7-F279-467DDC1E22B2}"/>
              </a:ext>
            </a:extLst>
          </p:cNvPr>
          <p:cNvSpPr/>
          <p:nvPr/>
        </p:nvSpPr>
        <p:spPr>
          <a:xfrm>
            <a:off x="616084" y="3642328"/>
            <a:ext cx="10959831" cy="1359339"/>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E5D1-05D4-0E06-8B39-DFC7B5EA72D9}"/>
            </a:ext>
          </a:extLst>
        </p:cNvPr>
        <p:cNvGrpSpPr/>
        <p:nvPr/>
      </p:nvGrpSpPr>
      <p:grpSpPr>
        <a:xfrm>
          <a:off x="0" y="0"/>
          <a:ext cx="0" cy="0"/>
          <a:chOff x="0" y="0"/>
          <a:chExt cx="0" cy="0"/>
        </a:xfrm>
      </p:grpSpPr>
      <p:sp>
        <p:nvSpPr>
          <p:cNvPr id="23" name="フローチャート: 代替処理 22">
            <a:extLst>
              <a:ext uri="{FF2B5EF4-FFF2-40B4-BE49-F238E27FC236}">
                <a16:creationId xmlns:a16="http://schemas.microsoft.com/office/drawing/2014/main" id="{7F6826A5-7054-62BE-2E88-F9EE0CA51710}"/>
              </a:ext>
            </a:extLst>
          </p:cNvPr>
          <p:cNvSpPr/>
          <p:nvPr/>
        </p:nvSpPr>
        <p:spPr>
          <a:xfrm>
            <a:off x="2086843" y="5830797"/>
            <a:ext cx="7266432" cy="545351"/>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フローチャート: 代替処理 16">
            <a:extLst>
              <a:ext uri="{FF2B5EF4-FFF2-40B4-BE49-F238E27FC236}">
                <a16:creationId xmlns:a16="http://schemas.microsoft.com/office/drawing/2014/main" id="{55C4B393-4E46-0032-4549-AF832BE1B7A1}"/>
              </a:ext>
            </a:extLst>
          </p:cNvPr>
          <p:cNvSpPr/>
          <p:nvPr/>
        </p:nvSpPr>
        <p:spPr>
          <a:xfrm>
            <a:off x="476992" y="1290826"/>
            <a:ext cx="10401258" cy="93423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8656863-7136-389F-FB24-F8BC144C6544}"/>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Proposed method</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73167E03-57E2-03FE-FA6F-CC996DAAAC54}"/>
                  </a:ext>
                </a:extLst>
              </p:cNvPr>
              <p:cNvSpPr txBox="1"/>
              <p:nvPr/>
            </p:nvSpPr>
            <p:spPr>
              <a:xfrm>
                <a:off x="2404397" y="5892310"/>
                <a:ext cx="6705038" cy="461665"/>
              </a:xfrm>
              <a:prstGeom prst="rect">
                <a:avLst/>
              </a:prstGeom>
              <a:noFill/>
            </p:spPr>
            <p:txBody>
              <a:bodyPr wrap="square" rtlCol="0">
                <a:spAutoFit/>
              </a:bodyPr>
              <a:lstStyle/>
              <a:p>
                <a:r>
                  <a:rPr lang="en-US" altLang="ja-JP" sz="2400" dirty="0">
                    <a:latin typeface="Arial" panose="020B0604020202020204" pitchFamily="34" charset="0"/>
                    <a:cs typeface="Arial" panose="020B0604020202020204" pitchFamily="34" charset="0"/>
                  </a:rPr>
                  <a:t>Reward</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𝒓</m:t>
                        </m:r>
                      </m:e>
                      <m:sub>
                        <m:r>
                          <a:rPr kumimoji="1" lang="en-US" altLang="ja-JP" sz="2400" b="1" i="1" smtClean="0">
                            <a:latin typeface="Cambria Math" panose="02040503050406030204" pitchFamily="18" charset="0"/>
                          </a:rPr>
                          <m:t>𝒍</m:t>
                        </m:r>
                      </m:sub>
                    </m:sSub>
                    <m:r>
                      <a:rPr kumimoji="1" lang="en-US" altLang="ja-JP" sz="2400" b="0" i="1" smtClean="0">
                        <a:latin typeface="Cambria Math" panose="02040503050406030204" pitchFamily="18" charset="0"/>
                      </a:rPr>
                      <m:t>=</m:t>
                    </m:r>
                  </m:oMath>
                </a14:m>
                <a:r>
                  <a:rPr kumimoji="1" lang="en-US" altLang="ja-JP" sz="2400" dirty="0"/>
                  <a:t> </a:t>
                </a:r>
                <a:r>
                  <a:rPr kumimoji="1" lang="en-US" altLang="ja-JP" sz="2400" b="1" dirty="0">
                    <a:latin typeface="Arial" panose="020B0604020202020204" pitchFamily="34" charset="0"/>
                    <a:cs typeface="Arial" panose="020B0604020202020204" pitchFamily="34" charset="0"/>
                  </a:rPr>
                  <a:t>Improvement </a:t>
                </a:r>
                <a14:m>
                  <m:oMath xmlns:m="http://schemas.openxmlformats.org/officeDocument/2006/math">
                    <m:r>
                      <a:rPr kumimoji="1" lang="en-US" altLang="ja-JP" sz="2400" b="1" i="1" smtClean="0">
                        <a:latin typeface="Cambria Math" panose="02040503050406030204" pitchFamily="18" charset="0"/>
                        <a:cs typeface="Arial" panose="020B0604020202020204" pitchFamily="34" charset="0"/>
                      </a:rPr>
                      <m:t>+</m:t>
                    </m:r>
                  </m:oMath>
                </a14:m>
                <a:r>
                  <a:rPr kumimoji="1" lang="en-US" altLang="ja-JP" sz="2400" b="1" dirty="0">
                    <a:latin typeface="Arial" panose="020B0604020202020204" pitchFamily="34" charset="0"/>
                    <a:cs typeface="Arial" panose="020B0604020202020204" pitchFamily="34" charset="0"/>
                  </a:rPr>
                  <a:t> Diversity </a:t>
                </a:r>
                <a14:m>
                  <m:oMath xmlns:m="http://schemas.openxmlformats.org/officeDocument/2006/math">
                    <m:r>
                      <a:rPr kumimoji="1" lang="en-US" altLang="ja-JP" sz="2400" b="1" i="1" smtClean="0">
                        <a:latin typeface="Cambria Math" panose="02040503050406030204" pitchFamily="18" charset="0"/>
                        <a:cs typeface="Arial" panose="020B0604020202020204" pitchFamily="34" charset="0"/>
                      </a:rPr>
                      <m:t>−</m:t>
                    </m:r>
                  </m:oMath>
                </a14:m>
                <a:r>
                  <a:rPr kumimoji="1" lang="en-US" altLang="ja-JP" sz="2400" b="1" dirty="0">
                    <a:latin typeface="Arial" panose="020B0604020202020204" pitchFamily="34" charset="0"/>
                    <a:cs typeface="Arial" panose="020B0604020202020204" pitchFamily="34" charset="0"/>
                  </a:rPr>
                  <a:t> Cost</a:t>
                </a:r>
                <a:endParaRPr kumimoji="1" lang="ja-JP" altLang="en-US" sz="2400" b="1">
                  <a:latin typeface="Arial" panose="020B0604020202020204" pitchFamily="34" charset="0"/>
                  <a:cs typeface="Arial" panose="020B0604020202020204" pitchFamily="34" charset="0"/>
                </a:endParaRPr>
              </a:p>
            </p:txBody>
          </p:sp>
        </mc:Choice>
        <mc:Fallback xmlns="">
          <p:sp>
            <p:nvSpPr>
              <p:cNvPr id="35" name="テキスト ボックス 34">
                <a:extLst>
                  <a:ext uri="{FF2B5EF4-FFF2-40B4-BE49-F238E27FC236}">
                    <a16:creationId xmlns:a16="http://schemas.microsoft.com/office/drawing/2014/main" id="{73167E03-57E2-03FE-FA6F-CC996DAAAC54}"/>
                  </a:ext>
                </a:extLst>
              </p:cNvPr>
              <p:cNvSpPr txBox="1">
                <a:spLocks noRot="1" noChangeAspect="1" noMove="1" noResize="1" noEditPoints="1" noAdjustHandles="1" noChangeArrowheads="1" noChangeShapeType="1" noTextEdit="1"/>
              </p:cNvSpPr>
              <p:nvPr/>
            </p:nvSpPr>
            <p:spPr>
              <a:xfrm>
                <a:off x="2404397" y="5892310"/>
                <a:ext cx="6705038" cy="461665"/>
              </a:xfrm>
              <a:prstGeom prst="rect">
                <a:avLst/>
              </a:prstGeom>
              <a:blipFill>
                <a:blip r:embed="rId3"/>
                <a:stretch>
                  <a:fillRect l="-1512" t="-16216" r="-567" b="-24324"/>
                </a:stretch>
              </a:blipFill>
            </p:spPr>
            <p:txBody>
              <a:bodyPr/>
              <a:lstStyle/>
              <a:p>
                <a:r>
                  <a:rPr lang="ja-JP" altLang="en-US">
                    <a:noFill/>
                  </a:rPr>
                  <a:t> </a:t>
                </a:r>
              </a:p>
            </p:txBody>
          </p:sp>
        </mc:Fallback>
      </mc:AlternateContent>
      <p:sp>
        <p:nvSpPr>
          <p:cNvPr id="39" name="スライド番号プレースホルダー 2">
            <a:extLst>
              <a:ext uri="{FF2B5EF4-FFF2-40B4-BE49-F238E27FC236}">
                <a16:creationId xmlns:a16="http://schemas.microsoft.com/office/drawing/2014/main" id="{0551198F-A92E-CE67-DC5D-B4E8A02AFA1E}"/>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8</a:t>
            </a:fld>
            <a:endParaRPr lang="ja-JP" altLang="en-US"/>
          </a:p>
        </p:txBody>
      </p:sp>
      <p:sp>
        <p:nvSpPr>
          <p:cNvPr id="16" name="テキスト ボックス 15">
            <a:extLst>
              <a:ext uri="{FF2B5EF4-FFF2-40B4-BE49-F238E27FC236}">
                <a16:creationId xmlns:a16="http://schemas.microsoft.com/office/drawing/2014/main" id="{6A7ECB24-E562-2537-E6E2-44B9E98C812D}"/>
              </a:ext>
            </a:extLst>
          </p:cNvPr>
          <p:cNvSpPr txBox="1"/>
          <p:nvPr/>
        </p:nvSpPr>
        <p:spPr>
          <a:xfrm>
            <a:off x="663673" y="1442007"/>
            <a:ext cx="10181909" cy="523220"/>
          </a:xfrm>
          <a:prstGeom prst="rect">
            <a:avLst/>
          </a:prstGeom>
          <a:noFill/>
        </p:spPr>
        <p:txBody>
          <a:bodyPr wrap="square" rtlCol="0">
            <a:spAutoFit/>
          </a:bodyPr>
          <a:lstStyle/>
          <a:p>
            <a:r>
              <a:rPr kumimoji="1" lang="en-US" altLang="ja-JP" sz="2800" b="1" dirty="0">
                <a:latin typeface="Arial" panose="020B0604020202020204" pitchFamily="34" charset="0"/>
                <a:cs typeface="Arial" panose="020B0604020202020204" pitchFamily="34" charset="0"/>
              </a:rPr>
              <a:t>Closed loop framework : GP as a Plant, BO as a Controller</a:t>
            </a:r>
            <a:endParaRPr kumimoji="1" lang="ja-JP" altLang="en-US" sz="2800" b="1">
              <a:latin typeface="Arial" panose="020B0604020202020204" pitchFamily="34" charset="0"/>
              <a:cs typeface="Arial" panose="020B0604020202020204" pitchFamily="34" charset="0"/>
            </a:endParaRPr>
          </a:p>
        </p:txBody>
      </p:sp>
      <p:sp>
        <p:nvSpPr>
          <p:cNvPr id="36" name="テキスト ボックス 35">
            <a:extLst>
              <a:ext uri="{FF2B5EF4-FFF2-40B4-BE49-F238E27FC236}">
                <a16:creationId xmlns:a16="http://schemas.microsoft.com/office/drawing/2014/main" id="{F4E81394-682D-CBCC-6C13-D88588FBD9DA}"/>
              </a:ext>
            </a:extLst>
          </p:cNvPr>
          <p:cNvSpPr txBox="1"/>
          <p:nvPr/>
        </p:nvSpPr>
        <p:spPr>
          <a:xfrm>
            <a:off x="6673333" y="1830709"/>
            <a:ext cx="2565126"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Bayesian Optimization</a:t>
            </a:r>
            <a:endParaRPr kumimoji="1" lang="ja-JP" altLang="en-US">
              <a:latin typeface="Arial" panose="020B0604020202020204" pitchFamily="34" charset="0"/>
              <a:cs typeface="Arial" panose="020B0604020202020204" pitchFamily="34" charset="0"/>
            </a:endParaRPr>
          </a:p>
        </p:txBody>
      </p:sp>
      <p:sp>
        <p:nvSpPr>
          <p:cNvPr id="58" name="フリーフォーム 57">
            <a:extLst>
              <a:ext uri="{FF2B5EF4-FFF2-40B4-BE49-F238E27FC236}">
                <a16:creationId xmlns:a16="http://schemas.microsoft.com/office/drawing/2014/main" id="{5A109584-A39C-1775-1243-ED0E319F4F57}"/>
              </a:ext>
            </a:extLst>
          </p:cNvPr>
          <p:cNvSpPr/>
          <p:nvPr/>
        </p:nvSpPr>
        <p:spPr>
          <a:xfrm>
            <a:off x="742881" y="3537900"/>
            <a:ext cx="9980908" cy="2001664"/>
          </a:xfrm>
          <a:custGeom>
            <a:avLst/>
            <a:gdLst>
              <a:gd name="csX0" fmla="*/ 8431619 w 8431619"/>
              <a:gd name="csY0" fmla="*/ 0 h 1711842"/>
              <a:gd name="csX1" fmla="*/ 8420986 w 8431619"/>
              <a:gd name="csY1" fmla="*/ 1711842 h 1711842"/>
              <a:gd name="csX2" fmla="*/ 0 w 8431619"/>
              <a:gd name="csY2" fmla="*/ 1690577 h 1711842"/>
              <a:gd name="csX3" fmla="*/ 0 w 8431619"/>
              <a:gd name="csY3" fmla="*/ 372139 h 1711842"/>
              <a:gd name="csX4" fmla="*/ 616688 w 8431619"/>
              <a:gd name="csY4" fmla="*/ 361507 h 1711842"/>
            </a:gdLst>
            <a:ahLst/>
            <a:cxnLst>
              <a:cxn ang="0">
                <a:pos x="csX0" y="csY0"/>
              </a:cxn>
              <a:cxn ang="0">
                <a:pos x="csX1" y="csY1"/>
              </a:cxn>
              <a:cxn ang="0">
                <a:pos x="csX2" y="csY2"/>
              </a:cxn>
              <a:cxn ang="0">
                <a:pos x="csX3" y="csY3"/>
              </a:cxn>
              <a:cxn ang="0">
                <a:pos x="csX4" y="csY4"/>
              </a:cxn>
            </a:cxnLst>
            <a:rect l="l" t="t" r="r" b="b"/>
            <a:pathLst>
              <a:path w="8431619" h="1711842">
                <a:moveTo>
                  <a:pt x="8431619" y="0"/>
                </a:moveTo>
                <a:cubicBezTo>
                  <a:pt x="8428075" y="570614"/>
                  <a:pt x="8424530" y="1141228"/>
                  <a:pt x="8420986" y="1711842"/>
                </a:cubicBezTo>
                <a:lnTo>
                  <a:pt x="0" y="1690577"/>
                </a:lnTo>
                <a:lnTo>
                  <a:pt x="0" y="372139"/>
                </a:lnTo>
                <a:lnTo>
                  <a:pt x="616688" y="361507"/>
                </a:lnTo>
              </a:path>
            </a:pathLst>
          </a:custGeom>
          <a:noFill/>
          <a:ln w="101600">
            <a:solidFill>
              <a:srgbClr val="165F8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フローチャート: 代替処理 58">
            <a:extLst>
              <a:ext uri="{FF2B5EF4-FFF2-40B4-BE49-F238E27FC236}">
                <a16:creationId xmlns:a16="http://schemas.microsoft.com/office/drawing/2014/main" id="{B1D7AAFF-EC29-1D76-D67C-32B719737FAF}"/>
              </a:ext>
            </a:extLst>
          </p:cNvPr>
          <p:cNvSpPr/>
          <p:nvPr/>
        </p:nvSpPr>
        <p:spPr>
          <a:xfrm>
            <a:off x="4268302" y="2891606"/>
            <a:ext cx="2072611" cy="222696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右矢印 59">
            <a:extLst>
              <a:ext uri="{FF2B5EF4-FFF2-40B4-BE49-F238E27FC236}">
                <a16:creationId xmlns:a16="http://schemas.microsoft.com/office/drawing/2014/main" id="{6BF951FF-289C-A826-5223-530EB2C69A31}"/>
              </a:ext>
            </a:extLst>
          </p:cNvPr>
          <p:cNvSpPr/>
          <p:nvPr/>
        </p:nvSpPr>
        <p:spPr>
          <a:xfrm rot="16200000">
            <a:off x="5101232" y="3980636"/>
            <a:ext cx="484632" cy="188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1" name="グループ化 60">
            <a:extLst>
              <a:ext uri="{FF2B5EF4-FFF2-40B4-BE49-F238E27FC236}">
                <a16:creationId xmlns:a16="http://schemas.microsoft.com/office/drawing/2014/main" id="{BEA29E41-1CAE-800E-C90A-21456E8882BB}"/>
              </a:ext>
            </a:extLst>
          </p:cNvPr>
          <p:cNvGrpSpPr/>
          <p:nvPr/>
        </p:nvGrpSpPr>
        <p:grpSpPr>
          <a:xfrm>
            <a:off x="4578242" y="4230865"/>
            <a:ext cx="1504482" cy="707885"/>
            <a:chOff x="2235977" y="5185657"/>
            <a:chExt cx="1504482" cy="707885"/>
          </a:xfrm>
        </p:grpSpPr>
        <p:sp>
          <p:nvSpPr>
            <p:cNvPr id="62" name="Rounded Rectangle 4">
              <a:extLst>
                <a:ext uri="{FF2B5EF4-FFF2-40B4-BE49-F238E27FC236}">
                  <a16:creationId xmlns:a16="http://schemas.microsoft.com/office/drawing/2014/main" id="{1610C819-24F1-D319-6F57-8464D4FEFCCB}"/>
                </a:ext>
              </a:extLst>
            </p:cNvPr>
            <p:cNvSpPr/>
            <p:nvPr/>
          </p:nvSpPr>
          <p:spPr>
            <a:xfrm>
              <a:off x="2235977" y="5185657"/>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63" name="テキスト ボックス 62">
              <a:extLst>
                <a:ext uri="{FF2B5EF4-FFF2-40B4-BE49-F238E27FC236}">
                  <a16:creationId xmlns:a16="http://schemas.microsoft.com/office/drawing/2014/main" id="{E1F2B615-1D2C-3F9D-4280-CB1618988F4F}"/>
                </a:ext>
              </a:extLst>
            </p:cNvPr>
            <p:cNvSpPr txBox="1"/>
            <p:nvPr/>
          </p:nvSpPr>
          <p:spPr>
            <a:xfrm>
              <a:off x="2460670" y="5340006"/>
              <a:ext cx="1055096"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Update</a:t>
              </a:r>
            </a:p>
          </p:txBody>
        </p:sp>
      </p:grpSp>
      <p:sp>
        <p:nvSpPr>
          <p:cNvPr id="64" name="右矢印 63">
            <a:extLst>
              <a:ext uri="{FF2B5EF4-FFF2-40B4-BE49-F238E27FC236}">
                <a16:creationId xmlns:a16="http://schemas.microsoft.com/office/drawing/2014/main" id="{8DA4C39A-5F11-A02F-F346-8BB71B508CBC}"/>
              </a:ext>
            </a:extLst>
          </p:cNvPr>
          <p:cNvSpPr/>
          <p:nvPr/>
        </p:nvSpPr>
        <p:spPr>
          <a:xfrm>
            <a:off x="2811852" y="3344409"/>
            <a:ext cx="1740521"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テキスト ボックス 64">
            <a:extLst>
              <a:ext uri="{FF2B5EF4-FFF2-40B4-BE49-F238E27FC236}">
                <a16:creationId xmlns:a16="http://schemas.microsoft.com/office/drawing/2014/main" id="{06DFEEB5-4896-FB55-2A28-BF5FD9264ABB}"/>
              </a:ext>
            </a:extLst>
          </p:cNvPr>
          <p:cNvSpPr txBox="1"/>
          <p:nvPr/>
        </p:nvSpPr>
        <p:spPr>
          <a:xfrm>
            <a:off x="4011913" y="2376245"/>
            <a:ext cx="2539478"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BO Controller</a:t>
            </a:r>
            <a:endParaRPr kumimoji="1" lang="ja-JP" altLang="en-US" sz="2800"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A8090A50-F430-C65C-ECDD-9FEA22EF01FE}"/>
                  </a:ext>
                </a:extLst>
              </p:cNvPr>
              <p:cNvSpPr txBox="1"/>
              <p:nvPr/>
            </p:nvSpPr>
            <p:spPr>
              <a:xfrm>
                <a:off x="3152763" y="3013605"/>
                <a:ext cx="983218" cy="369332"/>
              </a:xfrm>
              <a:prstGeom prst="rect">
                <a:avLst/>
              </a:prstGeom>
              <a:noFill/>
            </p:spPr>
            <p:txBody>
              <a:bodyPr wrap="none" rtlCol="0">
                <a:spAutoFit/>
              </a:bodyPr>
              <a:lstStyle/>
              <a:p>
                <a:r>
                  <a:rPr lang="en-US" altLang="ja-JP" dirty="0">
                    <a:latin typeface="Arial" panose="020B0604020202020204" pitchFamily="34" charset="0"/>
                    <a:cs typeface="Arial" panose="020B0604020202020204" pitchFamily="34" charset="0"/>
                  </a:rPr>
                  <a:t>State </a:t>
                </a:r>
                <a14:m>
                  <m:oMath xmlns:m="http://schemas.openxmlformats.org/officeDocument/2006/math">
                    <m:sSub>
                      <m:sSubPr>
                        <m:ctrlPr>
                          <a:rPr lang="en-US" altLang="ja-JP" i="1">
                            <a:latin typeface="Cambria Math" panose="02040503050406030204" pitchFamily="18" charset="0"/>
                            <a:cs typeface="Arial" panose="020B0604020202020204" pitchFamily="34" charset="0"/>
                          </a:rPr>
                        </m:ctrlPr>
                      </m:sSubPr>
                      <m:e>
                        <m:r>
                          <a:rPr lang="en-US" altLang="ja-JP" i="1">
                            <a:latin typeface="Cambria Math" panose="02040503050406030204" pitchFamily="18" charset="0"/>
                            <a:cs typeface="Arial" panose="020B0604020202020204" pitchFamily="34" charset="0"/>
                          </a:rPr>
                          <m:t>𝑥</m:t>
                        </m:r>
                      </m:e>
                      <m:sub>
                        <m:r>
                          <a:rPr lang="en-US" altLang="ja-JP" i="1">
                            <a:latin typeface="Cambria Math" panose="02040503050406030204" pitchFamily="18" charset="0"/>
                            <a:cs typeface="Arial" panose="020B0604020202020204" pitchFamily="34" charset="0"/>
                          </a:rPr>
                          <m:t>𝑙</m:t>
                        </m:r>
                      </m:sub>
                    </m:sSub>
                  </m:oMath>
                </a14:m>
                <a:endParaRPr kumimoji="1" lang="ja-JP" altLang="en-US"/>
              </a:p>
            </p:txBody>
          </p:sp>
        </mc:Choice>
        <mc:Fallback xmlns="">
          <p:sp>
            <p:nvSpPr>
              <p:cNvPr id="66" name="テキスト ボックス 65">
                <a:extLst>
                  <a:ext uri="{FF2B5EF4-FFF2-40B4-BE49-F238E27FC236}">
                    <a16:creationId xmlns:a16="http://schemas.microsoft.com/office/drawing/2014/main" id="{A8090A50-F430-C65C-ECDD-9FEA22EF01FE}"/>
                  </a:ext>
                </a:extLst>
              </p:cNvPr>
              <p:cNvSpPr txBox="1">
                <a:spLocks noRot="1" noChangeAspect="1" noMove="1" noResize="1" noEditPoints="1" noAdjustHandles="1" noChangeArrowheads="1" noChangeShapeType="1" noTextEdit="1"/>
              </p:cNvSpPr>
              <p:nvPr/>
            </p:nvSpPr>
            <p:spPr>
              <a:xfrm>
                <a:off x="3152763" y="3013605"/>
                <a:ext cx="983218" cy="369332"/>
              </a:xfrm>
              <a:prstGeom prst="rect">
                <a:avLst/>
              </a:prstGeom>
              <a:blipFill>
                <a:blip r:embed="rId4"/>
                <a:stretch>
                  <a:fillRect l="-5128" t="-10000" b="-23333"/>
                </a:stretch>
              </a:blipFill>
            </p:spPr>
            <p:txBody>
              <a:bodyPr/>
              <a:lstStyle/>
              <a:p>
                <a:r>
                  <a:rPr lang="ja-JP" altLang="en-US">
                    <a:noFill/>
                  </a:rPr>
                  <a:t> </a:t>
                </a:r>
              </a:p>
            </p:txBody>
          </p:sp>
        </mc:Fallback>
      </mc:AlternateContent>
      <p:sp>
        <p:nvSpPr>
          <p:cNvPr id="67" name="右矢印 66">
            <a:extLst>
              <a:ext uri="{FF2B5EF4-FFF2-40B4-BE49-F238E27FC236}">
                <a16:creationId xmlns:a16="http://schemas.microsoft.com/office/drawing/2014/main" id="{8A8D1AE4-BA2E-473E-3A69-C11272BD4E35}"/>
              </a:ext>
            </a:extLst>
          </p:cNvPr>
          <p:cNvSpPr/>
          <p:nvPr/>
        </p:nvSpPr>
        <p:spPr>
          <a:xfrm>
            <a:off x="5831039" y="3349291"/>
            <a:ext cx="2440806"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6F7C3028-2635-FC64-B86C-59F7510AC9A5}"/>
                  </a:ext>
                </a:extLst>
              </p:cNvPr>
              <p:cNvSpPr txBox="1"/>
              <p:nvPr/>
            </p:nvSpPr>
            <p:spPr>
              <a:xfrm>
                <a:off x="6365126" y="2794842"/>
                <a:ext cx="1804779" cy="646331"/>
              </a:xfrm>
              <a:prstGeom prst="rect">
                <a:avLst/>
              </a:prstGeom>
              <a:noFill/>
            </p:spPr>
            <p:txBody>
              <a:bodyPr wrap="square" rtlCol="0">
                <a:spAutoFit/>
              </a:bodyPr>
              <a:lstStyle/>
              <a:p>
                <a:r>
                  <a:rPr lang="en-US" altLang="ja-JP" dirty="0">
                    <a:latin typeface="Arial" panose="020B0604020202020204" pitchFamily="34" charset="0"/>
                    <a:cs typeface="Arial" panose="020B0604020202020204" pitchFamily="34" charset="0"/>
                  </a:rPr>
                  <a:t>Control input </a:t>
                </a:r>
                <a14:m>
                  <m:oMath xmlns:m="http://schemas.openxmlformats.org/officeDocument/2006/math">
                    <m:sSub>
                      <m:sSubPr>
                        <m:ctrlPr>
                          <a:rPr lang="en-US" altLang="ja-JP" i="1">
                            <a:latin typeface="Cambria Math" panose="02040503050406030204" pitchFamily="18" charset="0"/>
                            <a:cs typeface="Arial" panose="020B0604020202020204" pitchFamily="34" charset="0"/>
                          </a:rPr>
                        </m:ctrlPr>
                      </m:sSubPr>
                      <m:e>
                        <m:r>
                          <a:rPr lang="en-US" altLang="ja-JP" i="1">
                            <a:latin typeface="Cambria Math" panose="02040503050406030204" pitchFamily="18" charset="0"/>
                            <a:cs typeface="Arial" panose="020B0604020202020204" pitchFamily="34" charset="0"/>
                          </a:rPr>
                          <m:t>𝑢</m:t>
                        </m:r>
                      </m:e>
                      <m:sub>
                        <m:r>
                          <a:rPr lang="en-US" altLang="ja-JP" i="1">
                            <a:latin typeface="Cambria Math" panose="02040503050406030204" pitchFamily="18" charset="0"/>
                            <a:cs typeface="Arial" panose="020B0604020202020204" pitchFamily="34" charset="0"/>
                          </a:rPr>
                          <m:t>𝑙</m:t>
                        </m:r>
                      </m:sub>
                    </m:sSub>
                  </m:oMath>
                </a14:m>
                <a:endParaRPr lang="en-US" altLang="ja-JP" dirty="0">
                  <a:cs typeface="Arial" panose="020B0604020202020204" pitchFamily="34" charset="0"/>
                </a:endParaRPr>
              </a:p>
              <a:p>
                <a:r>
                  <a:rPr kumimoji="1" lang="en-US" altLang="ja-JP" dirty="0">
                    <a:latin typeface="Arial" panose="020B0604020202020204" pitchFamily="34" charset="0"/>
                    <a:cs typeface="Arial" panose="020B0604020202020204" pitchFamily="34" charset="0"/>
                  </a:rPr>
                  <a:t>(Rates, Timing)</a:t>
                </a:r>
                <a:endParaRPr kumimoji="1" lang="ja-JP" altLang="en-US">
                  <a:latin typeface="Arial" panose="020B0604020202020204" pitchFamily="34" charset="0"/>
                  <a:cs typeface="Arial" panose="020B0604020202020204" pitchFamily="34" charset="0"/>
                </a:endParaRPr>
              </a:p>
            </p:txBody>
          </p:sp>
        </mc:Choice>
        <mc:Fallback xmlns="">
          <p:sp>
            <p:nvSpPr>
              <p:cNvPr id="68" name="テキスト ボックス 67">
                <a:extLst>
                  <a:ext uri="{FF2B5EF4-FFF2-40B4-BE49-F238E27FC236}">
                    <a16:creationId xmlns:a16="http://schemas.microsoft.com/office/drawing/2014/main" id="{6F7C3028-2635-FC64-B86C-59F7510AC9A5}"/>
                  </a:ext>
                </a:extLst>
              </p:cNvPr>
              <p:cNvSpPr txBox="1">
                <a:spLocks noRot="1" noChangeAspect="1" noMove="1" noResize="1" noEditPoints="1" noAdjustHandles="1" noChangeArrowheads="1" noChangeShapeType="1" noTextEdit="1"/>
              </p:cNvSpPr>
              <p:nvPr/>
            </p:nvSpPr>
            <p:spPr>
              <a:xfrm>
                <a:off x="6365126" y="2794842"/>
                <a:ext cx="1804779" cy="646331"/>
              </a:xfrm>
              <a:prstGeom prst="rect">
                <a:avLst/>
              </a:prstGeom>
              <a:blipFill>
                <a:blip r:embed="rId5"/>
                <a:stretch>
                  <a:fillRect l="-2797" t="-5769" b="-13462"/>
                </a:stretch>
              </a:blipFill>
            </p:spPr>
            <p:txBody>
              <a:bodyPr/>
              <a:lstStyle/>
              <a:p>
                <a:r>
                  <a:rPr lang="ja-JP" altLang="en-US">
                    <a:noFill/>
                  </a:rPr>
                  <a:t> </a:t>
                </a:r>
              </a:p>
            </p:txBody>
          </p:sp>
        </mc:Fallback>
      </mc:AlternateContent>
      <p:sp>
        <p:nvSpPr>
          <p:cNvPr id="69" name="テキスト ボックス 68">
            <a:extLst>
              <a:ext uri="{FF2B5EF4-FFF2-40B4-BE49-F238E27FC236}">
                <a16:creationId xmlns:a16="http://schemas.microsoft.com/office/drawing/2014/main" id="{C57C5ED9-CB59-ED2E-F13F-4448A8202FF2}"/>
              </a:ext>
            </a:extLst>
          </p:cNvPr>
          <p:cNvSpPr txBox="1"/>
          <p:nvPr/>
        </p:nvSpPr>
        <p:spPr>
          <a:xfrm>
            <a:off x="8716325" y="2376245"/>
            <a:ext cx="1063112"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Plant</a:t>
            </a:r>
            <a:endParaRPr kumimoji="1" lang="ja-JP" altLang="en-US" sz="2800" b="1">
              <a:latin typeface="Arial" panose="020B0604020202020204" pitchFamily="34" charset="0"/>
              <a:cs typeface="Arial" panose="020B0604020202020204" pitchFamily="34" charset="0"/>
            </a:endParaRPr>
          </a:p>
        </p:txBody>
      </p:sp>
      <p:sp>
        <p:nvSpPr>
          <p:cNvPr id="70" name="右矢印 69">
            <a:extLst>
              <a:ext uri="{FF2B5EF4-FFF2-40B4-BE49-F238E27FC236}">
                <a16:creationId xmlns:a16="http://schemas.microsoft.com/office/drawing/2014/main" id="{51BE30F8-6D09-649D-41D9-94EA8946ECA7}"/>
              </a:ext>
            </a:extLst>
          </p:cNvPr>
          <p:cNvSpPr/>
          <p:nvPr/>
        </p:nvSpPr>
        <p:spPr>
          <a:xfrm>
            <a:off x="2811852" y="4470683"/>
            <a:ext cx="1740521"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1" name="テキスト ボックス 70">
                <a:extLst>
                  <a:ext uri="{FF2B5EF4-FFF2-40B4-BE49-F238E27FC236}">
                    <a16:creationId xmlns:a16="http://schemas.microsoft.com/office/drawing/2014/main" id="{B9F15255-D7FB-6502-8063-2105DFCCDDEC}"/>
                  </a:ext>
                </a:extLst>
              </p:cNvPr>
              <p:cNvSpPr txBox="1"/>
              <p:nvPr/>
            </p:nvSpPr>
            <p:spPr>
              <a:xfrm>
                <a:off x="3038164" y="4152256"/>
                <a:ext cx="1214948" cy="369332"/>
              </a:xfrm>
              <a:prstGeom prst="rect">
                <a:avLst/>
              </a:prstGeom>
              <a:noFill/>
            </p:spPr>
            <p:txBody>
              <a:bodyPr wrap="none" rtlCol="0">
                <a:spAutoFit/>
              </a:bodyPr>
              <a:lstStyle/>
              <a:p>
                <a:r>
                  <a:rPr lang="en-US" altLang="ja-JP" dirty="0">
                    <a:latin typeface="Arial" panose="020B0604020202020204" pitchFamily="34" charset="0"/>
                    <a:cs typeface="Arial" panose="020B0604020202020204" pitchFamily="34" charset="0"/>
                  </a:rPr>
                  <a:t>Reward</a:t>
                </a:r>
                <a:r>
                  <a:rPr lang="en-US" altLang="ja-JP" dirty="0">
                    <a:cs typeface="Arial" panose="020B0604020202020204" pitchFamily="34" charset="0"/>
                  </a:rPr>
                  <a:t> </a:t>
                </a:r>
                <a14:m>
                  <m:oMath xmlns:m="http://schemas.openxmlformats.org/officeDocument/2006/math">
                    <m:sSub>
                      <m:sSubPr>
                        <m:ctrlPr>
                          <a:rPr lang="en-US" altLang="ja-JP" i="1">
                            <a:latin typeface="Cambria Math" panose="02040503050406030204" pitchFamily="18" charset="0"/>
                            <a:cs typeface="Arial" panose="020B0604020202020204" pitchFamily="34" charset="0"/>
                          </a:rPr>
                        </m:ctrlPr>
                      </m:sSubPr>
                      <m:e>
                        <m:r>
                          <a:rPr lang="en-US" altLang="ja-JP" i="1">
                            <a:latin typeface="Cambria Math" panose="02040503050406030204" pitchFamily="18" charset="0"/>
                            <a:cs typeface="Arial" panose="020B0604020202020204" pitchFamily="34" charset="0"/>
                          </a:rPr>
                          <m:t>𝑟</m:t>
                        </m:r>
                      </m:e>
                      <m:sub>
                        <m:r>
                          <a:rPr lang="en-US" altLang="ja-JP" i="1">
                            <a:latin typeface="Cambria Math" panose="02040503050406030204" pitchFamily="18" charset="0"/>
                            <a:cs typeface="Arial" panose="020B0604020202020204" pitchFamily="34" charset="0"/>
                          </a:rPr>
                          <m:t>𝑙</m:t>
                        </m:r>
                      </m:sub>
                    </m:sSub>
                  </m:oMath>
                </a14:m>
                <a:endParaRPr kumimoji="1" lang="ja-JP" altLang="en-US"/>
              </a:p>
            </p:txBody>
          </p:sp>
        </mc:Choice>
        <mc:Fallback xmlns="">
          <p:sp>
            <p:nvSpPr>
              <p:cNvPr id="71" name="テキスト ボックス 70">
                <a:extLst>
                  <a:ext uri="{FF2B5EF4-FFF2-40B4-BE49-F238E27FC236}">
                    <a16:creationId xmlns:a16="http://schemas.microsoft.com/office/drawing/2014/main" id="{B9F15255-D7FB-6502-8063-2105DFCCDDEC}"/>
                  </a:ext>
                </a:extLst>
              </p:cNvPr>
              <p:cNvSpPr txBox="1">
                <a:spLocks noRot="1" noChangeAspect="1" noMove="1" noResize="1" noEditPoints="1" noAdjustHandles="1" noChangeArrowheads="1" noChangeShapeType="1" noTextEdit="1"/>
              </p:cNvSpPr>
              <p:nvPr/>
            </p:nvSpPr>
            <p:spPr>
              <a:xfrm>
                <a:off x="3038164" y="4152256"/>
                <a:ext cx="1214948" cy="369332"/>
              </a:xfrm>
              <a:prstGeom prst="rect">
                <a:avLst/>
              </a:prstGeom>
              <a:blipFill>
                <a:blip r:embed="rId6"/>
                <a:stretch>
                  <a:fillRect l="-4124" t="-6452" b="-19355"/>
                </a:stretch>
              </a:blipFill>
            </p:spPr>
            <p:txBody>
              <a:bodyPr/>
              <a:lstStyle/>
              <a:p>
                <a:r>
                  <a:rPr lang="ja-JP" altLang="en-US">
                    <a:noFill/>
                  </a:rPr>
                  <a:t> </a:t>
                </a:r>
              </a:p>
            </p:txBody>
          </p:sp>
        </mc:Fallback>
      </mc:AlternateContent>
      <p:grpSp>
        <p:nvGrpSpPr>
          <p:cNvPr id="72" name="グループ化 71">
            <a:extLst>
              <a:ext uri="{FF2B5EF4-FFF2-40B4-BE49-F238E27FC236}">
                <a16:creationId xmlns:a16="http://schemas.microsoft.com/office/drawing/2014/main" id="{CB7574B7-DF5A-C666-E9D2-8E7BBCC9E1D8}"/>
              </a:ext>
            </a:extLst>
          </p:cNvPr>
          <p:cNvGrpSpPr/>
          <p:nvPr/>
        </p:nvGrpSpPr>
        <p:grpSpPr>
          <a:xfrm>
            <a:off x="4578243" y="3108838"/>
            <a:ext cx="1504482" cy="707885"/>
            <a:chOff x="4250146" y="3480507"/>
            <a:chExt cx="1504482" cy="707885"/>
          </a:xfrm>
        </p:grpSpPr>
        <p:sp>
          <p:nvSpPr>
            <p:cNvPr id="73" name="Rounded Rectangle 4">
              <a:extLst>
                <a:ext uri="{FF2B5EF4-FFF2-40B4-BE49-F238E27FC236}">
                  <a16:creationId xmlns:a16="http://schemas.microsoft.com/office/drawing/2014/main" id="{8F58D29B-2B2B-698E-B412-6891F9381C1F}"/>
                </a:ext>
              </a:extLst>
            </p:cNvPr>
            <p:cNvSpPr/>
            <p:nvPr/>
          </p:nvSpPr>
          <p:spPr>
            <a:xfrm>
              <a:off x="4250146" y="3480507"/>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74" name="テキスト ボックス 73">
              <a:extLst>
                <a:ext uri="{FF2B5EF4-FFF2-40B4-BE49-F238E27FC236}">
                  <a16:creationId xmlns:a16="http://schemas.microsoft.com/office/drawing/2014/main" id="{C2D3F25A-3F5E-D0F4-A287-CEB809E739E2}"/>
                </a:ext>
              </a:extLst>
            </p:cNvPr>
            <p:cNvSpPr txBox="1"/>
            <p:nvPr/>
          </p:nvSpPr>
          <p:spPr>
            <a:xfrm>
              <a:off x="4532547" y="3635469"/>
              <a:ext cx="939681"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Select</a:t>
              </a:r>
            </a:p>
          </p:txBody>
        </p:sp>
      </p:grpSp>
      <p:sp>
        <p:nvSpPr>
          <p:cNvPr id="75" name="Rounded Rectangle 4">
            <a:extLst>
              <a:ext uri="{FF2B5EF4-FFF2-40B4-BE49-F238E27FC236}">
                <a16:creationId xmlns:a16="http://schemas.microsoft.com/office/drawing/2014/main" id="{570E3BEC-7DE2-44AA-E774-5EFA3C933BBA}"/>
              </a:ext>
            </a:extLst>
          </p:cNvPr>
          <p:cNvSpPr/>
          <p:nvPr/>
        </p:nvSpPr>
        <p:spPr>
          <a:xfrm>
            <a:off x="1479574" y="3126007"/>
            <a:ext cx="1504482" cy="1744650"/>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76" name="テキスト ボックス 75">
            <a:extLst>
              <a:ext uri="{FF2B5EF4-FFF2-40B4-BE49-F238E27FC236}">
                <a16:creationId xmlns:a16="http://schemas.microsoft.com/office/drawing/2014/main" id="{26DC806F-2265-8787-EF69-0E70D4724DA4}"/>
              </a:ext>
            </a:extLst>
          </p:cNvPr>
          <p:cNvSpPr txBox="1"/>
          <p:nvPr/>
        </p:nvSpPr>
        <p:spPr>
          <a:xfrm>
            <a:off x="1569614" y="3429000"/>
            <a:ext cx="1324402"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Calculate</a:t>
            </a:r>
          </a:p>
        </p:txBody>
      </p:sp>
      <p:sp>
        <p:nvSpPr>
          <p:cNvPr id="77" name="テキスト ボックス 76">
            <a:extLst>
              <a:ext uri="{FF2B5EF4-FFF2-40B4-BE49-F238E27FC236}">
                <a16:creationId xmlns:a16="http://schemas.microsoft.com/office/drawing/2014/main" id="{3FD14781-8158-337A-2FC2-449155AC1DF4}"/>
              </a:ext>
            </a:extLst>
          </p:cNvPr>
          <p:cNvSpPr txBox="1"/>
          <p:nvPr/>
        </p:nvSpPr>
        <p:spPr>
          <a:xfrm>
            <a:off x="1505480" y="3829110"/>
            <a:ext cx="1210588" cy="736227"/>
          </a:xfrm>
          <a:prstGeom prst="rect">
            <a:avLst/>
          </a:prstGeom>
          <a:noFill/>
        </p:spPr>
        <p:txBody>
          <a:bodyPr wrap="none" rtlCol="0">
            <a:spAutoFit/>
          </a:bodyPr>
          <a:lstStyle/>
          <a:p>
            <a:pPr>
              <a:lnSpc>
                <a:spcPct val="120000"/>
              </a:lnSpc>
            </a:pPr>
            <a:r>
              <a:rPr lang="ja-JP" altLang="en-US">
                <a:latin typeface="Arial" panose="020B0604020202020204" pitchFamily="34" charset="0"/>
                <a:cs typeface="Arial" panose="020B0604020202020204" pitchFamily="34" charset="0"/>
              </a:rPr>
              <a:t>・</a:t>
            </a:r>
            <a:r>
              <a:rPr lang="en-US" altLang="ja-JP" dirty="0">
                <a:latin typeface="Arial" panose="020B0604020202020204" pitchFamily="34" charset="0"/>
                <a:cs typeface="Arial" panose="020B0604020202020204" pitchFamily="34" charset="0"/>
              </a:rPr>
              <a:t>State</a:t>
            </a:r>
          </a:p>
          <a:p>
            <a:pPr>
              <a:lnSpc>
                <a:spcPct val="120000"/>
              </a:lnSpc>
            </a:pPr>
            <a:r>
              <a:rPr lang="ja-JP" altLang="en-US">
                <a:latin typeface="Arial" panose="020B0604020202020204" pitchFamily="34" charset="0"/>
                <a:cs typeface="Arial" panose="020B0604020202020204" pitchFamily="34" charset="0"/>
              </a:rPr>
              <a:t>・</a:t>
            </a:r>
            <a:r>
              <a:rPr lang="en-US" altLang="ja-JP" dirty="0">
                <a:latin typeface="Arial" panose="020B0604020202020204" pitchFamily="34" charset="0"/>
                <a:cs typeface="Arial" panose="020B0604020202020204" pitchFamily="34" charset="0"/>
              </a:rPr>
              <a:t>Reward</a:t>
            </a:r>
            <a:endParaRPr kumimoji="1" lang="en-US" altLang="ja-JP" dirty="0">
              <a:latin typeface="Arial" panose="020B0604020202020204" pitchFamily="34" charset="0"/>
              <a:cs typeface="Arial" panose="020B0604020202020204" pitchFamily="34" charset="0"/>
            </a:endParaRPr>
          </a:p>
        </p:txBody>
      </p:sp>
      <p:sp>
        <p:nvSpPr>
          <p:cNvPr id="78" name="右矢印 77">
            <a:extLst>
              <a:ext uri="{FF2B5EF4-FFF2-40B4-BE49-F238E27FC236}">
                <a16:creationId xmlns:a16="http://schemas.microsoft.com/office/drawing/2014/main" id="{0DFB5574-29AC-E901-3B93-6B967310449E}"/>
              </a:ext>
            </a:extLst>
          </p:cNvPr>
          <p:cNvSpPr/>
          <p:nvPr/>
        </p:nvSpPr>
        <p:spPr>
          <a:xfrm>
            <a:off x="9708598" y="3373525"/>
            <a:ext cx="1740521"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フローチャート: 代替処理 78">
            <a:extLst>
              <a:ext uri="{FF2B5EF4-FFF2-40B4-BE49-F238E27FC236}">
                <a16:creationId xmlns:a16="http://schemas.microsoft.com/office/drawing/2014/main" id="{F9F0AA44-3BE9-4612-01E5-7BEAA8E09B22}"/>
              </a:ext>
            </a:extLst>
          </p:cNvPr>
          <p:cNvSpPr/>
          <p:nvPr/>
        </p:nvSpPr>
        <p:spPr>
          <a:xfrm>
            <a:off x="8302226" y="2891605"/>
            <a:ext cx="1891311" cy="222696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0" name="グループ化 79">
            <a:extLst>
              <a:ext uri="{FF2B5EF4-FFF2-40B4-BE49-F238E27FC236}">
                <a16:creationId xmlns:a16="http://schemas.microsoft.com/office/drawing/2014/main" id="{8AF25475-50FA-0E84-6AED-C770ADE1E4DB}"/>
              </a:ext>
            </a:extLst>
          </p:cNvPr>
          <p:cNvGrpSpPr/>
          <p:nvPr/>
        </p:nvGrpSpPr>
        <p:grpSpPr>
          <a:xfrm>
            <a:off x="8533875" y="4212075"/>
            <a:ext cx="1504482" cy="707885"/>
            <a:chOff x="7253213" y="4187404"/>
            <a:chExt cx="1504482" cy="707885"/>
          </a:xfrm>
        </p:grpSpPr>
        <p:sp>
          <p:nvSpPr>
            <p:cNvPr id="81" name="Rounded Rectangle 4">
              <a:extLst>
                <a:ext uri="{FF2B5EF4-FFF2-40B4-BE49-F238E27FC236}">
                  <a16:creationId xmlns:a16="http://schemas.microsoft.com/office/drawing/2014/main" id="{E0F95D12-A7E0-99FE-4033-EF5D11A2D720}"/>
                </a:ext>
              </a:extLst>
            </p:cNvPr>
            <p:cNvSpPr/>
            <p:nvPr/>
          </p:nvSpPr>
          <p:spPr>
            <a:xfrm>
              <a:off x="7253213" y="4187404"/>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82" name="テキスト ボックス 81">
              <a:extLst>
                <a:ext uri="{FF2B5EF4-FFF2-40B4-BE49-F238E27FC236}">
                  <a16:creationId xmlns:a16="http://schemas.microsoft.com/office/drawing/2014/main" id="{FD0FB184-7E8B-7CD9-50D7-E26D79CAD5BC}"/>
                </a:ext>
              </a:extLst>
            </p:cNvPr>
            <p:cNvSpPr txBox="1"/>
            <p:nvPr/>
          </p:nvSpPr>
          <p:spPr>
            <a:xfrm>
              <a:off x="7442640" y="4320842"/>
              <a:ext cx="1125628"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Run GP</a:t>
              </a:r>
            </a:p>
          </p:txBody>
        </p:sp>
      </p:grpSp>
      <p:pic>
        <p:nvPicPr>
          <p:cNvPr id="83" name="グラフィックス 82" descr="データベース 単色塗りつぶし">
            <a:extLst>
              <a:ext uri="{FF2B5EF4-FFF2-40B4-BE49-F238E27FC236}">
                <a16:creationId xmlns:a16="http://schemas.microsoft.com/office/drawing/2014/main" id="{6FDA5C5C-046C-5A2B-84E8-E843F84E99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11804" y="3543129"/>
            <a:ext cx="537665" cy="537665"/>
          </a:xfrm>
          <a:prstGeom prst="rect">
            <a:avLst/>
          </a:prstGeom>
        </p:spPr>
      </p:pic>
      <p:sp>
        <p:nvSpPr>
          <p:cNvPr id="84" name="テキスト ボックス 83">
            <a:extLst>
              <a:ext uri="{FF2B5EF4-FFF2-40B4-BE49-F238E27FC236}">
                <a16:creationId xmlns:a16="http://schemas.microsoft.com/office/drawing/2014/main" id="{B07B27F3-CC05-8075-A81F-90203E6C7F3F}"/>
              </a:ext>
            </a:extLst>
          </p:cNvPr>
          <p:cNvSpPr txBox="1"/>
          <p:nvPr/>
        </p:nvSpPr>
        <p:spPr>
          <a:xfrm>
            <a:off x="8431645" y="3149491"/>
            <a:ext cx="1707519"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Data, Problem</a:t>
            </a:r>
            <a:endParaRPr kumimoji="1" lang="ja-JP" altLang="en-US">
              <a:latin typeface="Arial" panose="020B0604020202020204" pitchFamily="34" charset="0"/>
              <a:cs typeface="Arial" panose="020B0604020202020204" pitchFamily="34" charset="0"/>
            </a:endParaRPr>
          </a:p>
        </p:txBody>
      </p:sp>
      <p:sp>
        <p:nvSpPr>
          <p:cNvPr id="85" name="テキスト ボックス 84">
            <a:extLst>
              <a:ext uri="{FF2B5EF4-FFF2-40B4-BE49-F238E27FC236}">
                <a16:creationId xmlns:a16="http://schemas.microsoft.com/office/drawing/2014/main" id="{17518CA2-1466-5357-9F4D-C8E513E8AC23}"/>
              </a:ext>
            </a:extLst>
          </p:cNvPr>
          <p:cNvSpPr txBox="1"/>
          <p:nvPr/>
        </p:nvSpPr>
        <p:spPr>
          <a:xfrm>
            <a:off x="10298293" y="3035234"/>
            <a:ext cx="1018227"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Solution</a:t>
            </a:r>
            <a:endParaRPr kumimoji="1" lang="ja-JP"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6521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フローチャート: 代替処理 53">
            <a:extLst>
              <a:ext uri="{FF2B5EF4-FFF2-40B4-BE49-F238E27FC236}">
                <a16:creationId xmlns:a16="http://schemas.microsoft.com/office/drawing/2014/main" id="{AAA256D1-4FC0-87EA-2814-45F98D59EF4E}"/>
              </a:ext>
            </a:extLst>
          </p:cNvPr>
          <p:cNvSpPr/>
          <p:nvPr/>
        </p:nvSpPr>
        <p:spPr>
          <a:xfrm>
            <a:off x="1758679" y="4728681"/>
            <a:ext cx="7027532" cy="140274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フローチャート: 代替処理 4">
            <a:extLst>
              <a:ext uri="{FF2B5EF4-FFF2-40B4-BE49-F238E27FC236}">
                <a16:creationId xmlns:a16="http://schemas.microsoft.com/office/drawing/2014/main" id="{26E4FEEA-10CE-0904-2601-B86A8B459A77}"/>
              </a:ext>
            </a:extLst>
          </p:cNvPr>
          <p:cNvSpPr/>
          <p:nvPr/>
        </p:nvSpPr>
        <p:spPr>
          <a:xfrm>
            <a:off x="616084" y="1367350"/>
            <a:ext cx="10760640" cy="707886"/>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14E9F21-24F3-329A-6BAA-487402A44848}"/>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BO : Bayesian Optimization</a:t>
            </a:r>
            <a:endParaRPr kumimoji="1" lang="ja-JP" altLang="en-US" b="1">
              <a:latin typeface="Arial" panose="020B0604020202020204" pitchFamily="34" charset="0"/>
              <a:cs typeface="Arial" panose="020B0604020202020204" pitchFamily="34" charset="0"/>
            </a:endParaRPr>
          </a:p>
        </p:txBody>
      </p:sp>
      <p:sp>
        <p:nvSpPr>
          <p:cNvPr id="4" name="テキスト ボックス 3">
            <a:extLst>
              <a:ext uri="{FF2B5EF4-FFF2-40B4-BE49-F238E27FC236}">
                <a16:creationId xmlns:a16="http://schemas.microsoft.com/office/drawing/2014/main" id="{AFC97898-699B-8E0F-CBAE-8232BC7312EA}"/>
              </a:ext>
            </a:extLst>
          </p:cNvPr>
          <p:cNvSpPr txBox="1"/>
          <p:nvPr/>
        </p:nvSpPr>
        <p:spPr>
          <a:xfrm>
            <a:off x="815275" y="1470728"/>
            <a:ext cx="9490259" cy="523220"/>
          </a:xfrm>
          <a:prstGeom prst="rect">
            <a:avLst/>
          </a:prstGeom>
          <a:noFill/>
        </p:spPr>
        <p:txBody>
          <a:bodyPr wrap="square">
            <a:spAutoFit/>
          </a:bodyPr>
          <a:lstStyle/>
          <a:p>
            <a:r>
              <a:rPr lang="ja-JP" altLang="ja-JP" sz="2800">
                <a:latin typeface="Arial" panose="020B0604020202020204" pitchFamily="34" charset="0"/>
                <a:cs typeface="Arial" panose="020B0604020202020204" pitchFamily="34" charset="0"/>
              </a:rPr>
              <a:t>Efficiently </a:t>
            </a:r>
            <a:r>
              <a:rPr lang="en-US" altLang="ja-JP" sz="2800" dirty="0">
                <a:latin typeface="Arial" panose="020B0604020202020204" pitchFamily="34" charset="0"/>
                <a:cs typeface="Arial" panose="020B0604020202020204" pitchFamily="34" charset="0"/>
              </a:rPr>
              <a:t>s</a:t>
            </a:r>
            <a:r>
              <a:rPr lang="ja-JP" altLang="ja-JP" sz="2800">
                <a:latin typeface="Arial" panose="020B0604020202020204" pitchFamily="34" charset="0"/>
                <a:cs typeface="Arial" panose="020B0604020202020204" pitchFamily="34" charset="0"/>
              </a:rPr>
              <a:t>earch for </a:t>
            </a:r>
            <a:r>
              <a:rPr lang="en-US" altLang="ja-JP" sz="2800" dirty="0">
                <a:latin typeface="Arial" panose="020B0604020202020204" pitchFamily="34" charset="0"/>
                <a:cs typeface="Arial" panose="020B0604020202020204" pitchFamily="34" charset="0"/>
              </a:rPr>
              <a:t>s</a:t>
            </a:r>
            <a:r>
              <a:rPr lang="ja-JP" altLang="ja-JP" sz="2800">
                <a:latin typeface="Arial" panose="020B0604020202020204" pitchFamily="34" charset="0"/>
                <a:cs typeface="Arial" panose="020B0604020202020204" pitchFamily="34" charset="0"/>
              </a:rPr>
              <a:t>olutions by </a:t>
            </a:r>
            <a:r>
              <a:rPr lang="en-US" altLang="ja-JP" sz="2800" b="1" dirty="0">
                <a:latin typeface="Arial" panose="020B0604020202020204" pitchFamily="34" charset="0"/>
                <a:cs typeface="Arial" panose="020B0604020202020204" pitchFamily="34" charset="0"/>
              </a:rPr>
              <a:t>p</a:t>
            </a:r>
            <a:r>
              <a:rPr lang="ja-JP" altLang="ja-JP" sz="2800" b="1">
                <a:latin typeface="Arial" panose="020B0604020202020204" pitchFamily="34" charset="0"/>
                <a:cs typeface="Arial" panose="020B0604020202020204" pitchFamily="34" charset="0"/>
              </a:rPr>
              <a:t>redicting</a:t>
            </a:r>
            <a:r>
              <a:rPr lang="en-US" altLang="ja-JP" sz="2800" b="1" dirty="0">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from </a:t>
            </a:r>
            <a:r>
              <a:rPr lang="en-US" altLang="ja-JP" sz="2800" dirty="0">
                <a:latin typeface="Arial" panose="020B0604020202020204" pitchFamily="34" charset="0"/>
                <a:cs typeface="Arial" panose="020B0604020202020204" pitchFamily="34" charset="0"/>
              </a:rPr>
              <a:t>d</a:t>
            </a:r>
            <a:r>
              <a:rPr lang="ja-JP" altLang="ja-JP" sz="2800">
                <a:latin typeface="Arial" panose="020B0604020202020204" pitchFamily="34" charset="0"/>
                <a:cs typeface="Arial" panose="020B0604020202020204" pitchFamily="34" charset="0"/>
              </a:rPr>
              <a:t>ata</a:t>
            </a:r>
          </a:p>
        </p:txBody>
      </p:sp>
      <p:sp>
        <p:nvSpPr>
          <p:cNvPr id="6" name="テキスト ボックス 5">
            <a:extLst>
              <a:ext uri="{FF2B5EF4-FFF2-40B4-BE49-F238E27FC236}">
                <a16:creationId xmlns:a16="http://schemas.microsoft.com/office/drawing/2014/main" id="{53A4D626-3CFE-57C6-B2C7-6F71E0701D9D}"/>
              </a:ext>
            </a:extLst>
          </p:cNvPr>
          <p:cNvSpPr txBox="1"/>
          <p:nvPr/>
        </p:nvSpPr>
        <p:spPr>
          <a:xfrm>
            <a:off x="1861239" y="4891599"/>
            <a:ext cx="6779420" cy="1078885"/>
          </a:xfrm>
          <a:prstGeom prst="rect">
            <a:avLst/>
          </a:prstGeom>
          <a:noFill/>
        </p:spPr>
        <p:txBody>
          <a:bodyPr wrap="none" rtlCol="0">
            <a:spAutoFit/>
          </a:bodyPr>
          <a:lstStyle/>
          <a:p>
            <a:pPr marL="457200" indent="-457200">
              <a:lnSpc>
                <a:spcPct val="120000"/>
              </a:lnSpc>
              <a:buFont typeface="Wingdings" pitchFamily="2" charset="2"/>
              <a:buChar char="ü"/>
            </a:pPr>
            <a:r>
              <a:rPr lang="en-US" altLang="ja-JP" sz="2800" b="1" dirty="0">
                <a:latin typeface="Arial" panose="020B0604020202020204" pitchFamily="34" charset="0"/>
                <a:cs typeface="Arial" panose="020B0604020202020204" pitchFamily="34" charset="0"/>
              </a:rPr>
              <a:t>Can handle black box relationships </a:t>
            </a:r>
          </a:p>
          <a:p>
            <a:pPr marL="457200" indent="-457200">
              <a:lnSpc>
                <a:spcPct val="120000"/>
              </a:lnSpc>
              <a:buFont typeface="Wingdings" pitchFamily="2" charset="2"/>
              <a:buChar char="ü"/>
            </a:pPr>
            <a:r>
              <a:rPr lang="en-US" altLang="ja-JP" sz="2800" b="1" dirty="0">
                <a:latin typeface="Arial" panose="020B0604020202020204" pitchFamily="34" charset="0"/>
                <a:cs typeface="Arial" panose="020B0604020202020204" pitchFamily="34" charset="0"/>
              </a:rPr>
              <a:t>Fewer trials, smarter choices</a:t>
            </a:r>
            <a:endParaRPr kumimoji="1" lang="ja-JP" altLang="en-US" sz="2800" b="1">
              <a:latin typeface="Arial" panose="020B0604020202020204" pitchFamily="34" charset="0"/>
              <a:cs typeface="Arial" panose="020B0604020202020204" pitchFamily="34" charset="0"/>
            </a:endParaRPr>
          </a:p>
        </p:txBody>
      </p:sp>
      <p:pic>
        <p:nvPicPr>
          <p:cNvPr id="8" name="グラフィックス 7" descr="コメント: いいね! 枠線">
            <a:extLst>
              <a:ext uri="{FF2B5EF4-FFF2-40B4-BE49-F238E27FC236}">
                <a16:creationId xmlns:a16="http://schemas.microsoft.com/office/drawing/2014/main" id="{CA386F4E-FC68-4D65-6F43-30E68227E0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7211" y="4516642"/>
            <a:ext cx="914400" cy="914400"/>
          </a:xfrm>
          <a:prstGeom prst="rect">
            <a:avLst/>
          </a:prstGeom>
        </p:spPr>
      </p:pic>
      <p:grpSp>
        <p:nvGrpSpPr>
          <p:cNvPr id="32" name="グループ化 31">
            <a:extLst>
              <a:ext uri="{FF2B5EF4-FFF2-40B4-BE49-F238E27FC236}">
                <a16:creationId xmlns:a16="http://schemas.microsoft.com/office/drawing/2014/main" id="{37784C2D-6636-42DF-36E5-7E108180F318}"/>
              </a:ext>
            </a:extLst>
          </p:cNvPr>
          <p:cNvGrpSpPr/>
          <p:nvPr/>
        </p:nvGrpSpPr>
        <p:grpSpPr>
          <a:xfrm>
            <a:off x="8837246" y="2385128"/>
            <a:ext cx="2539478" cy="2855276"/>
            <a:chOff x="4011913" y="2376245"/>
            <a:chExt cx="2539478" cy="2855276"/>
          </a:xfrm>
        </p:grpSpPr>
        <p:sp>
          <p:nvSpPr>
            <p:cNvPr id="23" name="フローチャート: 代替処理 22">
              <a:extLst>
                <a:ext uri="{FF2B5EF4-FFF2-40B4-BE49-F238E27FC236}">
                  <a16:creationId xmlns:a16="http://schemas.microsoft.com/office/drawing/2014/main" id="{F24C90B3-70E4-F3B1-84C5-F3FE171A38B0}"/>
                </a:ext>
              </a:extLst>
            </p:cNvPr>
            <p:cNvSpPr/>
            <p:nvPr/>
          </p:nvSpPr>
          <p:spPr>
            <a:xfrm>
              <a:off x="4268302" y="2891606"/>
              <a:ext cx="2072611" cy="222696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右矢印 23">
              <a:extLst>
                <a:ext uri="{FF2B5EF4-FFF2-40B4-BE49-F238E27FC236}">
                  <a16:creationId xmlns:a16="http://schemas.microsoft.com/office/drawing/2014/main" id="{BBD24007-A894-9101-313C-49E60A8F367C}"/>
                </a:ext>
              </a:extLst>
            </p:cNvPr>
            <p:cNvSpPr/>
            <p:nvPr/>
          </p:nvSpPr>
          <p:spPr>
            <a:xfrm rot="16200000">
              <a:off x="5101232" y="3980636"/>
              <a:ext cx="484632" cy="188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08A9F13-30B5-30A5-0009-BF56A605893F}"/>
                </a:ext>
              </a:extLst>
            </p:cNvPr>
            <p:cNvSpPr txBox="1"/>
            <p:nvPr/>
          </p:nvSpPr>
          <p:spPr>
            <a:xfrm>
              <a:off x="4011913" y="2376245"/>
              <a:ext cx="2539478"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BO Controller</a:t>
              </a:r>
              <a:endParaRPr kumimoji="1" lang="ja-JP" altLang="en-US" sz="2800" b="1">
                <a:latin typeface="Arial" panose="020B0604020202020204" pitchFamily="34" charset="0"/>
                <a:cs typeface="Arial" panose="020B0604020202020204" pitchFamily="34" charset="0"/>
              </a:endParaRPr>
            </a:p>
          </p:txBody>
        </p:sp>
        <p:grpSp>
          <p:nvGrpSpPr>
            <p:cNvPr id="26" name="グループ化 25">
              <a:extLst>
                <a:ext uri="{FF2B5EF4-FFF2-40B4-BE49-F238E27FC236}">
                  <a16:creationId xmlns:a16="http://schemas.microsoft.com/office/drawing/2014/main" id="{066228B1-375A-ABC4-6631-A9189E65DC33}"/>
                </a:ext>
              </a:extLst>
            </p:cNvPr>
            <p:cNvGrpSpPr/>
            <p:nvPr/>
          </p:nvGrpSpPr>
          <p:grpSpPr>
            <a:xfrm>
              <a:off x="4578243" y="3108838"/>
              <a:ext cx="1504482" cy="707885"/>
              <a:chOff x="4250146" y="3480507"/>
              <a:chExt cx="1504482" cy="707885"/>
            </a:xfrm>
          </p:grpSpPr>
          <p:sp>
            <p:nvSpPr>
              <p:cNvPr id="27" name="Rounded Rectangle 4">
                <a:extLst>
                  <a:ext uri="{FF2B5EF4-FFF2-40B4-BE49-F238E27FC236}">
                    <a16:creationId xmlns:a16="http://schemas.microsoft.com/office/drawing/2014/main" id="{E0CB26F0-2F63-E644-60DD-01E29A8C648B}"/>
                  </a:ext>
                </a:extLst>
              </p:cNvPr>
              <p:cNvSpPr/>
              <p:nvPr/>
            </p:nvSpPr>
            <p:spPr>
              <a:xfrm>
                <a:off x="4250146" y="3480507"/>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28" name="テキスト ボックス 27">
                <a:extLst>
                  <a:ext uri="{FF2B5EF4-FFF2-40B4-BE49-F238E27FC236}">
                    <a16:creationId xmlns:a16="http://schemas.microsoft.com/office/drawing/2014/main" id="{48FC2E20-8D4C-BF08-B29F-F0ECB571A384}"/>
                  </a:ext>
                </a:extLst>
              </p:cNvPr>
              <p:cNvSpPr txBox="1"/>
              <p:nvPr/>
            </p:nvSpPr>
            <p:spPr>
              <a:xfrm>
                <a:off x="4532547" y="3635469"/>
                <a:ext cx="939681"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Select</a:t>
                </a:r>
              </a:p>
            </p:txBody>
          </p:sp>
        </p:grpSp>
        <p:sp>
          <p:nvSpPr>
            <p:cNvPr id="29" name="正方形/長方形 28">
              <a:extLst>
                <a:ext uri="{FF2B5EF4-FFF2-40B4-BE49-F238E27FC236}">
                  <a16:creationId xmlns:a16="http://schemas.microsoft.com/office/drawing/2014/main" id="{348712EC-5EEA-A9B3-8BB2-B23BB94264B6}"/>
                </a:ext>
              </a:extLst>
            </p:cNvPr>
            <p:cNvSpPr/>
            <p:nvPr/>
          </p:nvSpPr>
          <p:spPr>
            <a:xfrm>
              <a:off x="4171356" y="4076388"/>
              <a:ext cx="2266514" cy="1155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7" name="グループ化 46">
            <a:extLst>
              <a:ext uri="{FF2B5EF4-FFF2-40B4-BE49-F238E27FC236}">
                <a16:creationId xmlns:a16="http://schemas.microsoft.com/office/drawing/2014/main" id="{BEE0AD42-D5BF-E092-81AD-1FCDA149EB92}"/>
              </a:ext>
            </a:extLst>
          </p:cNvPr>
          <p:cNvGrpSpPr/>
          <p:nvPr/>
        </p:nvGrpSpPr>
        <p:grpSpPr>
          <a:xfrm>
            <a:off x="616084" y="2666032"/>
            <a:ext cx="7094531" cy="1417656"/>
            <a:chOff x="616084" y="2908348"/>
            <a:chExt cx="7094531" cy="1417656"/>
          </a:xfrm>
        </p:grpSpPr>
        <p:sp>
          <p:nvSpPr>
            <p:cNvPr id="46" name="角丸四角形吹き出し 45">
              <a:extLst>
                <a:ext uri="{FF2B5EF4-FFF2-40B4-BE49-F238E27FC236}">
                  <a16:creationId xmlns:a16="http://schemas.microsoft.com/office/drawing/2014/main" id="{B860E678-1CA2-96C0-2F2D-BB4D7EEABB86}"/>
                </a:ext>
              </a:extLst>
            </p:cNvPr>
            <p:cNvSpPr/>
            <p:nvPr/>
          </p:nvSpPr>
          <p:spPr>
            <a:xfrm>
              <a:off x="616084" y="2908348"/>
              <a:ext cx="7094531" cy="1417656"/>
            </a:xfrm>
            <a:prstGeom prst="wedgeRoundRectCallout">
              <a:avLst>
                <a:gd name="adj1" fmla="val 72524"/>
                <a:gd name="adj2" fmla="val -4616"/>
                <a:gd name="adj3" fmla="val 16667"/>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C0A67515-9F66-5DD3-9A65-005C049EA37B}"/>
                </a:ext>
              </a:extLst>
            </p:cNvPr>
            <p:cNvSpPr txBox="1"/>
            <p:nvPr/>
          </p:nvSpPr>
          <p:spPr>
            <a:xfrm>
              <a:off x="1445741" y="3237470"/>
              <a:ext cx="415498" cy="369332"/>
            </a:xfrm>
            <a:prstGeom prst="rect">
              <a:avLst/>
            </a:prstGeom>
            <a:noFill/>
          </p:spPr>
          <p:txBody>
            <a:bodyPr wrap="none" rtlCol="0">
              <a:spAutoFit/>
            </a:bodyPr>
            <a:lstStyle/>
            <a:p>
              <a:r>
                <a:rPr kumimoji="1" lang="ja-JP" altLang="en-US"/>
                <a:t>・</a:t>
              </a:r>
            </a:p>
          </p:txBody>
        </p:sp>
        <p:grpSp>
          <p:nvGrpSpPr>
            <p:cNvPr id="19" name="グループ化 18">
              <a:extLst>
                <a:ext uri="{FF2B5EF4-FFF2-40B4-BE49-F238E27FC236}">
                  <a16:creationId xmlns:a16="http://schemas.microsoft.com/office/drawing/2014/main" id="{050B5429-9155-6385-94DA-577E76E9D8BF}"/>
                </a:ext>
              </a:extLst>
            </p:cNvPr>
            <p:cNvGrpSpPr/>
            <p:nvPr/>
          </p:nvGrpSpPr>
          <p:grpSpPr>
            <a:xfrm>
              <a:off x="1155096" y="3114668"/>
              <a:ext cx="1504482" cy="970603"/>
              <a:chOff x="4250146" y="3480507"/>
              <a:chExt cx="1504482" cy="970603"/>
            </a:xfrm>
          </p:grpSpPr>
          <p:sp>
            <p:nvSpPr>
              <p:cNvPr id="20" name="Rounded Rectangle 4">
                <a:extLst>
                  <a:ext uri="{FF2B5EF4-FFF2-40B4-BE49-F238E27FC236}">
                    <a16:creationId xmlns:a16="http://schemas.microsoft.com/office/drawing/2014/main" id="{E6D3A015-0B68-F58F-D55F-A338A4E48F15}"/>
                  </a:ext>
                </a:extLst>
              </p:cNvPr>
              <p:cNvSpPr/>
              <p:nvPr/>
            </p:nvSpPr>
            <p:spPr>
              <a:xfrm>
                <a:off x="4250146" y="3480507"/>
                <a:ext cx="1504482" cy="97060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21" name="テキスト ボックス 20">
                <a:extLst>
                  <a:ext uri="{FF2B5EF4-FFF2-40B4-BE49-F238E27FC236}">
                    <a16:creationId xmlns:a16="http://schemas.microsoft.com/office/drawing/2014/main" id="{ECDD1AC9-09AE-2AFD-011D-37E84A708BFF}"/>
                  </a:ext>
                </a:extLst>
              </p:cNvPr>
              <p:cNvSpPr txBox="1"/>
              <p:nvPr/>
            </p:nvSpPr>
            <p:spPr>
              <a:xfrm>
                <a:off x="4379461" y="3573685"/>
                <a:ext cx="1245854" cy="769441"/>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History</a:t>
                </a:r>
              </a:p>
              <a:p>
                <a:pPr algn="ctr"/>
                <a:r>
                  <a:rPr lang="en-US" altLang="ja-JP" sz="2000" dirty="0">
                    <a:latin typeface="Arial" panose="020B0604020202020204" pitchFamily="34" charset="0"/>
                    <a:cs typeface="Arial" panose="020B0604020202020204" pitchFamily="34" charset="0"/>
                  </a:rPr>
                  <a:t>data</a:t>
                </a:r>
                <a:endParaRPr kumimoji="1" lang="en-US" altLang="ja-JP" sz="2000" dirty="0">
                  <a:latin typeface="Arial" panose="020B0604020202020204" pitchFamily="34" charset="0"/>
                  <a:cs typeface="Arial" panose="020B0604020202020204" pitchFamily="34" charset="0"/>
                </a:endParaRPr>
              </a:p>
            </p:txBody>
          </p:sp>
        </p:grpSp>
        <p:grpSp>
          <p:nvGrpSpPr>
            <p:cNvPr id="39" name="グループ化 38">
              <a:extLst>
                <a:ext uri="{FF2B5EF4-FFF2-40B4-BE49-F238E27FC236}">
                  <a16:creationId xmlns:a16="http://schemas.microsoft.com/office/drawing/2014/main" id="{E84D9A9E-3A20-49C0-F29D-4D2109029D6E}"/>
                </a:ext>
              </a:extLst>
            </p:cNvPr>
            <p:cNvGrpSpPr/>
            <p:nvPr/>
          </p:nvGrpSpPr>
          <p:grpSpPr>
            <a:xfrm>
              <a:off x="3390822" y="3114668"/>
              <a:ext cx="1504482" cy="970603"/>
              <a:chOff x="4250146" y="3480507"/>
              <a:chExt cx="1504482" cy="970603"/>
            </a:xfrm>
          </p:grpSpPr>
          <p:sp>
            <p:nvSpPr>
              <p:cNvPr id="40" name="Rounded Rectangle 4">
                <a:extLst>
                  <a:ext uri="{FF2B5EF4-FFF2-40B4-BE49-F238E27FC236}">
                    <a16:creationId xmlns:a16="http://schemas.microsoft.com/office/drawing/2014/main" id="{69202D63-924E-AF8C-54DA-91334256184C}"/>
                  </a:ext>
                </a:extLst>
              </p:cNvPr>
              <p:cNvSpPr/>
              <p:nvPr/>
            </p:nvSpPr>
            <p:spPr>
              <a:xfrm>
                <a:off x="4250146" y="3480507"/>
                <a:ext cx="1504482" cy="97060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41" name="テキスト ボックス 40">
                <a:extLst>
                  <a:ext uri="{FF2B5EF4-FFF2-40B4-BE49-F238E27FC236}">
                    <a16:creationId xmlns:a16="http://schemas.microsoft.com/office/drawing/2014/main" id="{354C6F15-4BFC-5B2C-235C-0753418A8E9D}"/>
                  </a:ext>
                </a:extLst>
              </p:cNvPr>
              <p:cNvSpPr txBox="1"/>
              <p:nvPr/>
            </p:nvSpPr>
            <p:spPr>
              <a:xfrm>
                <a:off x="4388278" y="3568774"/>
                <a:ext cx="1228221" cy="769441"/>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Pr</a:t>
                </a:r>
                <a:r>
                  <a:rPr lang="en-US" altLang="ja-JP" sz="2400" b="1" dirty="0">
                    <a:latin typeface="Arial" panose="020B0604020202020204" pitchFamily="34" charset="0"/>
                    <a:cs typeface="Arial" panose="020B0604020202020204" pitchFamily="34" charset="0"/>
                  </a:rPr>
                  <a:t>edict</a:t>
                </a:r>
                <a:endParaRPr kumimoji="1" lang="en-US" altLang="ja-JP" sz="2400" b="1" dirty="0">
                  <a:latin typeface="Arial" panose="020B0604020202020204" pitchFamily="34" charset="0"/>
                  <a:cs typeface="Arial" panose="020B0604020202020204" pitchFamily="34" charset="0"/>
                </a:endParaRPr>
              </a:p>
              <a:p>
                <a:pPr algn="ctr"/>
                <a:r>
                  <a:rPr kumimoji="1" lang="en-US" altLang="ja-JP" sz="2000" dirty="0">
                    <a:latin typeface="Arial" panose="020B0604020202020204" pitchFamily="34" charset="0"/>
                    <a:cs typeface="Arial" panose="020B0604020202020204" pitchFamily="34" charset="0"/>
                  </a:rPr>
                  <a:t>model</a:t>
                </a:r>
              </a:p>
            </p:txBody>
          </p:sp>
        </p:grpSp>
        <p:grpSp>
          <p:nvGrpSpPr>
            <p:cNvPr id="42" name="グループ化 41">
              <a:extLst>
                <a:ext uri="{FF2B5EF4-FFF2-40B4-BE49-F238E27FC236}">
                  <a16:creationId xmlns:a16="http://schemas.microsoft.com/office/drawing/2014/main" id="{2E4C0C46-DF2C-B909-A9CA-510B5DCC8D5B}"/>
                </a:ext>
              </a:extLst>
            </p:cNvPr>
            <p:cNvGrpSpPr/>
            <p:nvPr/>
          </p:nvGrpSpPr>
          <p:grpSpPr>
            <a:xfrm>
              <a:off x="5626548" y="3114668"/>
              <a:ext cx="1504482" cy="970603"/>
              <a:chOff x="4250146" y="3480507"/>
              <a:chExt cx="1504482" cy="970603"/>
            </a:xfrm>
          </p:grpSpPr>
          <p:sp>
            <p:nvSpPr>
              <p:cNvPr id="43" name="Rounded Rectangle 4">
                <a:extLst>
                  <a:ext uri="{FF2B5EF4-FFF2-40B4-BE49-F238E27FC236}">
                    <a16:creationId xmlns:a16="http://schemas.microsoft.com/office/drawing/2014/main" id="{1AA1E38C-46EC-58B8-01A6-6629BE782771}"/>
                  </a:ext>
                </a:extLst>
              </p:cNvPr>
              <p:cNvSpPr/>
              <p:nvPr/>
            </p:nvSpPr>
            <p:spPr>
              <a:xfrm>
                <a:off x="4250146" y="3480507"/>
                <a:ext cx="1504482" cy="97060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44" name="テキスト ボックス 43">
                <a:extLst>
                  <a:ext uri="{FF2B5EF4-FFF2-40B4-BE49-F238E27FC236}">
                    <a16:creationId xmlns:a16="http://schemas.microsoft.com/office/drawing/2014/main" id="{DDB97480-29B2-3D20-3BA1-68FC04C91D6B}"/>
                  </a:ext>
                </a:extLst>
              </p:cNvPr>
              <p:cNvSpPr txBox="1"/>
              <p:nvPr/>
            </p:nvSpPr>
            <p:spPr>
              <a:xfrm>
                <a:off x="4303318" y="3578239"/>
                <a:ext cx="1398140" cy="769441"/>
              </a:xfrm>
              <a:prstGeom prst="rect">
                <a:avLst/>
              </a:prstGeom>
              <a:noFill/>
            </p:spPr>
            <p:txBody>
              <a:bodyPr wrap="none" rtlCol="0">
                <a:spAutoFit/>
              </a:bodyPr>
              <a:lstStyle/>
              <a:p>
                <a:pPr algn="ctr"/>
                <a:r>
                  <a:rPr lang="en-US" altLang="ja-JP" sz="2400" b="1" dirty="0">
                    <a:latin typeface="Arial" panose="020B0604020202020204" pitchFamily="34" charset="0"/>
                    <a:cs typeface="Arial" panose="020B0604020202020204" pitchFamily="34" charset="0"/>
                  </a:rPr>
                  <a:t>Suggest</a:t>
                </a:r>
                <a:endParaRPr kumimoji="1" lang="en-US" altLang="ja-JP" sz="2400" b="1" dirty="0">
                  <a:latin typeface="Arial" panose="020B0604020202020204" pitchFamily="34" charset="0"/>
                  <a:cs typeface="Arial" panose="020B0604020202020204" pitchFamily="34" charset="0"/>
                </a:endParaRPr>
              </a:p>
              <a:p>
                <a:pPr algn="ctr"/>
                <a:r>
                  <a:rPr kumimoji="1" lang="en-US" altLang="ja-JP" sz="2000" dirty="0">
                    <a:latin typeface="Arial" panose="020B0604020202020204" pitchFamily="34" charset="0"/>
                    <a:cs typeface="Arial" panose="020B0604020202020204" pitchFamily="34" charset="0"/>
                  </a:rPr>
                  <a:t>so</a:t>
                </a:r>
                <a:r>
                  <a:rPr lang="en-US" altLang="ja-JP" sz="2000" dirty="0">
                    <a:latin typeface="Arial" panose="020B0604020202020204" pitchFamily="34" charset="0"/>
                    <a:cs typeface="Arial" panose="020B0604020202020204" pitchFamily="34" charset="0"/>
                  </a:rPr>
                  <a:t>lution</a:t>
                </a:r>
                <a:endParaRPr kumimoji="1" lang="en-US" altLang="ja-JP" sz="2000" dirty="0">
                  <a:latin typeface="Arial" panose="020B0604020202020204" pitchFamily="34" charset="0"/>
                  <a:cs typeface="Arial" panose="020B0604020202020204" pitchFamily="34" charset="0"/>
                </a:endParaRPr>
              </a:p>
            </p:txBody>
          </p:sp>
        </p:grpSp>
      </p:grpSp>
      <p:sp>
        <p:nvSpPr>
          <p:cNvPr id="48" name="右矢印 47">
            <a:extLst>
              <a:ext uri="{FF2B5EF4-FFF2-40B4-BE49-F238E27FC236}">
                <a16:creationId xmlns:a16="http://schemas.microsoft.com/office/drawing/2014/main" id="{DB7EC005-FB9E-C7F0-543F-A8EC0D5C1F44}"/>
              </a:ext>
            </a:extLst>
          </p:cNvPr>
          <p:cNvSpPr/>
          <p:nvPr/>
        </p:nvSpPr>
        <p:spPr>
          <a:xfrm>
            <a:off x="699101" y="3311025"/>
            <a:ext cx="438926"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右矢印 48">
            <a:extLst>
              <a:ext uri="{FF2B5EF4-FFF2-40B4-BE49-F238E27FC236}">
                <a16:creationId xmlns:a16="http://schemas.microsoft.com/office/drawing/2014/main" id="{74034D10-E972-4989-EA9E-265670ED5665}"/>
              </a:ext>
            </a:extLst>
          </p:cNvPr>
          <p:cNvSpPr/>
          <p:nvPr/>
        </p:nvSpPr>
        <p:spPr>
          <a:xfrm>
            <a:off x="2676182" y="3311025"/>
            <a:ext cx="714640"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右矢印 49">
            <a:extLst>
              <a:ext uri="{FF2B5EF4-FFF2-40B4-BE49-F238E27FC236}">
                <a16:creationId xmlns:a16="http://schemas.microsoft.com/office/drawing/2014/main" id="{B105D67A-05B3-2ADB-84FD-5D762E23705A}"/>
              </a:ext>
            </a:extLst>
          </p:cNvPr>
          <p:cNvSpPr/>
          <p:nvPr/>
        </p:nvSpPr>
        <p:spPr>
          <a:xfrm>
            <a:off x="4900398" y="3311025"/>
            <a:ext cx="714640"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右矢印 52">
            <a:extLst>
              <a:ext uri="{FF2B5EF4-FFF2-40B4-BE49-F238E27FC236}">
                <a16:creationId xmlns:a16="http://schemas.microsoft.com/office/drawing/2014/main" id="{4E0976A4-0A8D-A88D-4FD1-6AE44D7B755A}"/>
              </a:ext>
            </a:extLst>
          </p:cNvPr>
          <p:cNvSpPr/>
          <p:nvPr/>
        </p:nvSpPr>
        <p:spPr>
          <a:xfrm>
            <a:off x="7136971" y="3311025"/>
            <a:ext cx="438926"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スライド番号プレースホルダー 2">
            <a:extLst>
              <a:ext uri="{FF2B5EF4-FFF2-40B4-BE49-F238E27FC236}">
                <a16:creationId xmlns:a16="http://schemas.microsoft.com/office/drawing/2014/main" id="{0883914C-2CED-6AFE-D5D7-23E8CA9413AE}"/>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9</a:t>
            </a:fld>
            <a:endParaRPr lang="ja-JP" altLang="en-US"/>
          </a:p>
        </p:txBody>
      </p:sp>
    </p:spTree>
    <p:extLst>
      <p:ext uri="{BB962C8B-B14F-4D97-AF65-F5344CB8AC3E}">
        <p14:creationId xmlns:p14="http://schemas.microsoft.com/office/powerpoint/2010/main" val="2534269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フローチャート: 代替処理 10">
            <a:extLst>
              <a:ext uri="{FF2B5EF4-FFF2-40B4-BE49-F238E27FC236}">
                <a16:creationId xmlns:a16="http://schemas.microsoft.com/office/drawing/2014/main" id="{EC0D1497-4A09-3554-46D2-B970156BB6C8}"/>
              </a:ext>
            </a:extLst>
          </p:cNvPr>
          <p:cNvSpPr/>
          <p:nvPr/>
        </p:nvSpPr>
        <p:spPr>
          <a:xfrm>
            <a:off x="1326765" y="4319108"/>
            <a:ext cx="9291337" cy="1813570"/>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3E71326-271D-4CE5-61A3-986AA836CBA3}"/>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Experiment</a:t>
            </a:r>
            <a:endParaRPr kumimoji="1" lang="ja-JP" altLang="en-US" b="1">
              <a:latin typeface="Arial" panose="020B0604020202020204" pitchFamily="34" charset="0"/>
              <a:cs typeface="Arial" panose="020B0604020202020204" pitchFamily="34" charset="0"/>
            </a:endParaRPr>
          </a:p>
        </p:txBody>
      </p:sp>
      <p:sp>
        <p:nvSpPr>
          <p:cNvPr id="3" name="テキスト ボックス 2">
            <a:extLst>
              <a:ext uri="{FF2B5EF4-FFF2-40B4-BE49-F238E27FC236}">
                <a16:creationId xmlns:a16="http://schemas.microsoft.com/office/drawing/2014/main" id="{8BE33225-D83A-2E34-8080-68C30A20F8D8}"/>
              </a:ext>
            </a:extLst>
          </p:cNvPr>
          <p:cNvSpPr txBox="1"/>
          <p:nvPr/>
        </p:nvSpPr>
        <p:spPr>
          <a:xfrm>
            <a:off x="476992" y="1346886"/>
            <a:ext cx="5106463"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 </a:t>
            </a:r>
            <a:r>
              <a:rPr kumimoji="1" lang="en-US" altLang="ja-JP" sz="2800" b="1" dirty="0">
                <a:latin typeface="Arial" panose="020B0604020202020204" pitchFamily="34" charset="0"/>
                <a:cs typeface="Arial" panose="020B0604020202020204" pitchFamily="34" charset="0"/>
              </a:rPr>
              <a:t>Test problem </a:t>
            </a:r>
            <a:r>
              <a:rPr kumimoji="1" lang="en-US" altLang="ja-JP" sz="2800" dirty="0">
                <a:latin typeface="Arial" panose="020B0604020202020204" pitchFamily="34" charset="0"/>
                <a:cs typeface="Arial" panose="020B0604020202020204" pitchFamily="34" charset="0"/>
              </a:rPr>
              <a:t>: Friedman-II </a:t>
            </a:r>
            <a:r>
              <a:rPr kumimoji="1" lang="en-US" altLang="ja-JP" sz="2000" dirty="0">
                <a:latin typeface="Arial" panose="020B0604020202020204" pitchFamily="34" charset="0"/>
                <a:cs typeface="Arial" panose="020B0604020202020204" pitchFamily="34" charset="0"/>
              </a:rPr>
              <a:t>[4] </a:t>
            </a:r>
            <a:endParaRPr kumimoji="1" lang="ja-JP" altLang="en-US" sz="2000">
              <a:latin typeface="Arial" panose="020B0604020202020204" pitchFamily="34" charset="0"/>
              <a:cs typeface="Arial" panose="020B0604020202020204" pitchFamily="34" charset="0"/>
            </a:endParaRPr>
          </a:p>
        </p:txBody>
      </p:sp>
      <p:sp>
        <p:nvSpPr>
          <p:cNvPr id="4" name="テキスト ボックス 3">
            <a:extLst>
              <a:ext uri="{FF2B5EF4-FFF2-40B4-BE49-F238E27FC236}">
                <a16:creationId xmlns:a16="http://schemas.microsoft.com/office/drawing/2014/main" id="{4BC59932-0962-C258-6B55-3A19A84E524F}"/>
              </a:ext>
            </a:extLst>
          </p:cNvPr>
          <p:cNvSpPr txBox="1"/>
          <p:nvPr/>
        </p:nvSpPr>
        <p:spPr>
          <a:xfrm>
            <a:off x="115933" y="6442118"/>
            <a:ext cx="9230497" cy="369332"/>
          </a:xfrm>
          <a:prstGeom prst="rect">
            <a:avLst/>
          </a:prstGeom>
          <a:noFill/>
        </p:spPr>
        <p:txBody>
          <a:bodyPr wrap="square" rtlCol="0">
            <a:spAutoFit/>
          </a:bodyPr>
          <a:lstStyle/>
          <a:p>
            <a:r>
              <a:rPr lang="en-US" altLang="ja-JP" dirty="0"/>
              <a:t>[4]</a:t>
            </a:r>
            <a:r>
              <a:rPr lang="ja-JP" altLang="ja-JP"/>
              <a:t>B. Burlacu, G. Yang, and M. Affenzeller</a:t>
            </a:r>
            <a:r>
              <a:rPr lang="en-US" altLang="ja-JP" dirty="0"/>
              <a:t>, </a:t>
            </a:r>
            <a:r>
              <a:rPr lang="ja-JP" altLang="ja-JP"/>
              <a:t>2024</a:t>
            </a:r>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9893E1C-AB20-3901-0EBB-7E4D4D451486}"/>
                  </a:ext>
                </a:extLst>
              </p:cNvPr>
              <p:cNvSpPr txBox="1"/>
              <p:nvPr/>
            </p:nvSpPr>
            <p:spPr>
              <a:xfrm>
                <a:off x="2248824" y="2040023"/>
                <a:ext cx="7694350" cy="523220"/>
              </a:xfrm>
              <a:prstGeom prst="rect">
                <a:avLst/>
              </a:prstGeom>
              <a:noFill/>
            </p:spPr>
            <p:txBody>
              <a:bodyPr wrap="none" rtlCol="0">
                <a:spAutoFit/>
              </a:bodyPr>
              <a:lstStyle/>
              <a:p>
                <a:pPr/>
                <a14:m>
                  <m:oMathPara xmlns:m="http://schemas.openxmlformats.org/officeDocument/2006/math">
                    <m:oMath>
                      <m:r>
                        <a:rPr kumimoji="1" lang="en-US" altLang="ja-JP" sz="2800" b="0" i="1" smtClean="0">
                          <a:latin typeface="Cambria Math" panose="02040503050406030204" pitchFamily="18" charset="0"/>
                        </a:rPr>
                        <m:t>𝑦</m:t>
                      </m:r>
                      <m:r>
                        <a:rPr kumimoji="1" lang="en-US" altLang="ja-JP" sz="2800" b="0" i="1" smtClean="0">
                          <a:latin typeface="Cambria Math" panose="02040503050406030204" pitchFamily="18" charset="0"/>
                        </a:rPr>
                        <m:t>=10</m:t>
                      </m:r>
                      <m:func>
                        <m:funcPr>
                          <m:ctrlPr>
                            <a:rPr kumimoji="1" lang="en-US" altLang="ja-JP" sz="2800" b="0" i="0" smtClean="0">
                              <a:latin typeface="Cambria Math" panose="02040503050406030204" pitchFamily="18" charset="0"/>
                            </a:rPr>
                          </m:ctrlPr>
                        </m:funcPr>
                        <m:fName>
                          <m:r>
                            <m:rPr>
                              <m:sty m:val="p"/>
                            </m:rPr>
                            <a:rPr kumimoji="1" lang="en-US" altLang="ja-JP" sz="2800" b="0" i="0" smtClean="0">
                              <a:latin typeface="Cambria Math" panose="02040503050406030204" pitchFamily="18" charset="0"/>
                            </a:rPr>
                            <m:t>sin</m:t>
                          </m:r>
                        </m:fName>
                        <m:e>
                          <m:d>
                            <m:dPr>
                              <m:ctrlPr>
                                <a:rPr kumimoji="1" lang="ja-JP" altLang="en-US" sz="2800" b="0" i="1" smtClean="0">
                                  <a:latin typeface="Cambria Math" panose="02040503050406030204" pitchFamily="18" charset="0"/>
                                  <a:ea typeface="Cambria Math" panose="02040503050406030204" pitchFamily="18" charset="0"/>
                                </a:rPr>
                              </m:ctrlPr>
                            </m:dPr>
                            <m:e>
                              <m:r>
                                <a:rPr kumimoji="1" lang="ja-JP" altLang="en-US" sz="2800" b="0" i="1" smtClean="0">
                                  <a:latin typeface="Cambria Math" panose="02040503050406030204" pitchFamily="18" charset="0"/>
                                  <a:ea typeface="Cambria Math" panose="02040503050406030204" pitchFamily="18" charset="0"/>
                                </a:rPr>
                                <m:t>𝜋</m:t>
                              </m:r>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𝑥</m:t>
                                  </m:r>
                                </m:e>
                                <m:sub>
                                  <m:r>
                                    <a:rPr kumimoji="1" lang="en-US" altLang="ja-JP" sz="2800" b="0" i="1" smtClean="0">
                                      <a:latin typeface="Cambria Math" panose="02040503050406030204" pitchFamily="18" charset="0"/>
                                      <a:ea typeface="Cambria Math" panose="02040503050406030204" pitchFamily="18" charset="0"/>
                                    </a:rPr>
                                    <m:t>1</m:t>
                                  </m:r>
                                </m:sub>
                              </m:sSub>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𝑥</m:t>
                                  </m:r>
                                </m:e>
                                <m:sub>
                                  <m:r>
                                    <a:rPr kumimoji="1" lang="en-US" altLang="ja-JP" sz="2800" b="0" i="1" smtClean="0">
                                      <a:latin typeface="Cambria Math" panose="02040503050406030204" pitchFamily="18" charset="0"/>
                                      <a:ea typeface="Cambria Math" panose="02040503050406030204" pitchFamily="18" charset="0"/>
                                    </a:rPr>
                                    <m:t>2</m:t>
                                  </m:r>
                                </m:sub>
                              </m:sSub>
                            </m:e>
                          </m:d>
                          <m:r>
                            <a:rPr kumimoji="1" lang="en-US" altLang="ja-JP" sz="2800" b="0" i="1" smtClean="0">
                              <a:latin typeface="Cambria Math" panose="02040503050406030204" pitchFamily="18" charset="0"/>
                              <a:ea typeface="Cambria Math" panose="02040503050406030204" pitchFamily="18" charset="0"/>
                            </a:rPr>
                            <m:t>+20</m:t>
                          </m:r>
                        </m:e>
                      </m:func>
                      <m:sSup>
                        <m:sSupPr>
                          <m:ctrlPr>
                            <a:rPr kumimoji="1" lang="en-US" altLang="ja-JP" sz="2800" b="0" i="1" smtClean="0">
                              <a:latin typeface="Cambria Math" panose="02040503050406030204" pitchFamily="18" charset="0"/>
                            </a:rPr>
                          </m:ctrlPr>
                        </m:sSupPr>
                        <m:e>
                          <m:r>
                            <a:rPr kumimoji="1" lang="en-US" altLang="ja-JP" sz="2800" b="0" i="1" smtClean="0">
                              <a:latin typeface="Cambria Math" panose="02040503050406030204" pitchFamily="18" charset="0"/>
                            </a:rPr>
                            <m:t>(</m:t>
                          </m:r>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3</m:t>
                              </m:r>
                            </m:sub>
                          </m:sSub>
                          <m:r>
                            <a:rPr kumimoji="1" lang="en-US" altLang="ja-JP" sz="2800" b="0" i="1" smtClean="0">
                              <a:latin typeface="Cambria Math" panose="02040503050406030204" pitchFamily="18" charset="0"/>
                            </a:rPr>
                            <m:t>−0.5)</m:t>
                          </m:r>
                        </m:e>
                        <m:sup>
                          <m:r>
                            <a:rPr kumimoji="1" lang="en-US" altLang="ja-JP" sz="2800" b="0" i="1" smtClean="0">
                              <a:latin typeface="Cambria Math" panose="02040503050406030204" pitchFamily="18" charset="0"/>
                            </a:rPr>
                            <m:t>2</m:t>
                          </m:r>
                        </m:sup>
                      </m:sSup>
                      <m:r>
                        <a:rPr kumimoji="1" lang="en-US" altLang="ja-JP" sz="2800" b="0" i="1" smtClean="0">
                          <a:latin typeface="Cambria Math" panose="02040503050406030204" pitchFamily="18" charset="0"/>
                        </a:rPr>
                        <m:t>+10</m:t>
                      </m:r>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4</m:t>
                          </m:r>
                        </m:sub>
                      </m:sSub>
                      <m:r>
                        <a:rPr kumimoji="1" lang="en-US" altLang="ja-JP" sz="2800" b="0" i="1" smtClean="0">
                          <a:latin typeface="Cambria Math" panose="02040503050406030204" pitchFamily="18" charset="0"/>
                        </a:rPr>
                        <m:t>+5</m:t>
                      </m:r>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5</m:t>
                          </m:r>
                        </m:sub>
                      </m:sSub>
                    </m:oMath>
                  </m:oMathPara>
                </a14:m>
                <a:endParaRPr kumimoji="1" lang="ja-JP" altLang="en-US" sz="2800"/>
              </a:p>
            </p:txBody>
          </p:sp>
        </mc:Choice>
        <mc:Fallback xmlns="">
          <p:sp>
            <p:nvSpPr>
              <p:cNvPr id="5" name="テキスト ボックス 4">
                <a:extLst>
                  <a:ext uri="{FF2B5EF4-FFF2-40B4-BE49-F238E27FC236}">
                    <a16:creationId xmlns:a16="http://schemas.microsoft.com/office/drawing/2014/main" id="{A9893E1C-AB20-3901-0EBB-7E4D4D451486}"/>
                  </a:ext>
                </a:extLst>
              </p:cNvPr>
              <p:cNvSpPr txBox="1">
                <a:spLocks noRot="1" noChangeAspect="1" noMove="1" noResize="1" noEditPoints="1" noAdjustHandles="1" noChangeArrowheads="1" noChangeShapeType="1" noTextEdit="1"/>
              </p:cNvSpPr>
              <p:nvPr/>
            </p:nvSpPr>
            <p:spPr>
              <a:xfrm>
                <a:off x="2248824" y="2040023"/>
                <a:ext cx="7694350" cy="523220"/>
              </a:xfrm>
              <a:prstGeom prst="rect">
                <a:avLst/>
              </a:prstGeom>
              <a:blipFill>
                <a:blip r:embed="rId3"/>
                <a:stretch>
                  <a:fillRect b="-19048"/>
                </a:stretch>
              </a:blipFill>
            </p:spPr>
            <p:txBody>
              <a:bodyPr/>
              <a:lstStyle/>
              <a:p>
                <a:r>
                  <a:rPr lang="ja-JP" altLang="en-US">
                    <a:noFill/>
                  </a:rPr>
                  <a:t> </a:t>
                </a:r>
              </a:p>
            </p:txBody>
          </p:sp>
        </mc:Fallback>
      </mc:AlternateContent>
      <p:sp>
        <p:nvSpPr>
          <p:cNvPr id="6" name="フローチャート: 代替処理 5">
            <a:extLst>
              <a:ext uri="{FF2B5EF4-FFF2-40B4-BE49-F238E27FC236}">
                <a16:creationId xmlns:a16="http://schemas.microsoft.com/office/drawing/2014/main" id="{8596A797-9E8D-1E19-16D4-63BB0C873382}"/>
              </a:ext>
            </a:extLst>
          </p:cNvPr>
          <p:cNvSpPr/>
          <p:nvPr/>
        </p:nvSpPr>
        <p:spPr>
          <a:xfrm>
            <a:off x="1387605" y="1980669"/>
            <a:ext cx="9230497" cy="712267"/>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819BD80-6401-A4BB-9CC3-C9D074A9E1B2}"/>
              </a:ext>
            </a:extLst>
          </p:cNvPr>
          <p:cNvSpPr txBox="1"/>
          <p:nvPr/>
        </p:nvSpPr>
        <p:spPr>
          <a:xfrm>
            <a:off x="476992" y="2952024"/>
            <a:ext cx="9308959" cy="1107996"/>
          </a:xfrm>
          <a:prstGeom prst="rect">
            <a:avLst/>
          </a:prstGeom>
          <a:noFill/>
        </p:spPr>
        <p:txBody>
          <a:bodyPr wrap="none" rtlCol="0">
            <a:spAutoFit/>
          </a:bodyPr>
          <a:lstStyle/>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Includes interactions between variables, trigonometric functions, </a:t>
            </a:r>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quadratic terms, and linear terms</a:t>
            </a:r>
          </a:p>
          <a:p>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333F824C-006A-C39F-28F1-F553D87E1BCE}"/>
                  </a:ext>
                </a:extLst>
              </p:cNvPr>
              <p:cNvSpPr txBox="1"/>
              <p:nvPr/>
            </p:nvSpPr>
            <p:spPr>
              <a:xfrm>
                <a:off x="3480004" y="5142688"/>
                <a:ext cx="3848555" cy="830997"/>
              </a:xfrm>
              <a:prstGeom prst="rect">
                <a:avLst/>
              </a:prstGeom>
              <a:noFill/>
            </p:spPr>
            <p:txBody>
              <a:bodyPr wrap="square" rtlCol="0">
                <a:sp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𝑓</m:t>
                        </m:r>
                      </m:e>
                      <m:sub>
                        <m:r>
                          <a:rPr kumimoji="1" lang="en-US" altLang="ja-JP" sz="2400" b="0" i="1" smtClean="0">
                            <a:latin typeface="Cambria Math" panose="02040503050406030204" pitchFamily="18" charset="0"/>
                          </a:rPr>
                          <m:t>1</m:t>
                        </m:r>
                      </m:sub>
                    </m:s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𝑇</m:t>
                        </m:r>
                      </m:e>
                    </m:d>
                  </m:oMath>
                </a14:m>
                <a:r>
                  <a:rPr kumimoji="1" lang="en-US" altLang="ja-JP" sz="2400" b="0" i="0" dirty="0">
                    <a:latin typeface="Cambria Math" panose="02040503050406030204" pitchFamily="18" charset="0"/>
                  </a:rPr>
                  <a:t> </a:t>
                </a:r>
                <a:r>
                  <a:rPr kumimoji="1" lang="en-US" altLang="ja-JP" sz="2400" b="0" i="0" dirty="0">
                    <a:latin typeface="Arial" panose="020B0604020202020204" pitchFamily="34" charset="0"/>
                    <a:cs typeface="Arial" panose="020B0604020202020204" pitchFamily="34" charset="0"/>
                  </a:rPr>
                  <a:t>:</a:t>
                </a:r>
                <a:r>
                  <a:rPr kumimoji="1" lang="en-US" altLang="ja-JP" sz="2400" b="0" i="0" dirty="0">
                    <a:latin typeface="Cambria Math" panose="02040503050406030204" pitchFamily="18" charset="0"/>
                  </a:rPr>
                  <a:t> </a:t>
                </a:r>
                <a:r>
                  <a:rPr kumimoji="1" lang="en-US" altLang="ja-JP" sz="2400" b="0" i="0" dirty="0">
                    <a:latin typeface="Arial" panose="020B0604020202020204" pitchFamily="34" charset="0"/>
                    <a:cs typeface="Arial" panose="020B0604020202020204" pitchFamily="34" charset="0"/>
                  </a:rPr>
                  <a:t>Normalized RMSE </a:t>
                </a:r>
                <a:br>
                  <a:rPr kumimoji="1" lang="en-US" altLang="ja-JP" sz="2400" b="0" i="0" dirty="0">
                    <a:latin typeface="Arial" panose="020B0604020202020204" pitchFamily="34" charset="0"/>
                    <a:cs typeface="Arial" panose="020B0604020202020204" pitchFamily="34" charset="0"/>
                  </a:rPr>
                </a:b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𝑓</m:t>
                        </m:r>
                      </m:e>
                      <m:sub>
                        <m:r>
                          <a:rPr kumimoji="1" lang="en-US" altLang="ja-JP" sz="2400" b="0" i="1" smtClean="0">
                            <a:latin typeface="Cambria Math" panose="02040503050406030204" pitchFamily="18" charset="0"/>
                          </a:rPr>
                          <m:t>2</m:t>
                        </m:r>
                      </m:sub>
                    </m:s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𝑇</m:t>
                        </m:r>
                      </m:e>
                    </m:d>
                    <m:r>
                      <a:rPr kumimoji="1" lang="en-US" altLang="ja-JP" sz="2400" b="0" i="0" smtClean="0">
                        <a:latin typeface="Cambria Math" panose="02040503050406030204" pitchFamily="18" charset="0"/>
                      </a:rPr>
                      <m:t> </m:t>
                    </m:r>
                  </m:oMath>
                </a14:m>
                <a:r>
                  <a:rPr lang="en-US" altLang="ja-JP" sz="2400" dirty="0">
                    <a:latin typeface="Arial" panose="020B0604020202020204" pitchFamily="34" charset="0"/>
                    <a:cs typeface="Arial" panose="020B0604020202020204" pitchFamily="34" charset="0"/>
                  </a:rPr>
                  <a:t>: Tree size</a:t>
                </a:r>
              </a:p>
            </p:txBody>
          </p:sp>
        </mc:Choice>
        <mc:Fallback xmlns="">
          <p:sp>
            <p:nvSpPr>
              <p:cNvPr id="8" name="テキスト ボックス 7">
                <a:extLst>
                  <a:ext uri="{FF2B5EF4-FFF2-40B4-BE49-F238E27FC236}">
                    <a16:creationId xmlns:a16="http://schemas.microsoft.com/office/drawing/2014/main" id="{333F824C-006A-C39F-28F1-F553D87E1BCE}"/>
                  </a:ext>
                </a:extLst>
              </p:cNvPr>
              <p:cNvSpPr txBox="1">
                <a:spLocks noRot="1" noChangeAspect="1" noMove="1" noResize="1" noEditPoints="1" noAdjustHandles="1" noChangeArrowheads="1" noChangeShapeType="1" noTextEdit="1"/>
              </p:cNvSpPr>
              <p:nvPr/>
            </p:nvSpPr>
            <p:spPr>
              <a:xfrm>
                <a:off x="3480004" y="5142688"/>
                <a:ext cx="3848555" cy="830997"/>
              </a:xfrm>
              <a:prstGeom prst="rect">
                <a:avLst/>
              </a:prstGeom>
              <a:blipFill>
                <a:blip r:embed="rId4"/>
                <a:stretch>
                  <a:fillRect l="-1650" t="-6061" b="-151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FFCE2D8-5F52-B020-0E63-3B469A637CB2}"/>
                  </a:ext>
                </a:extLst>
              </p:cNvPr>
              <p:cNvSpPr txBox="1"/>
              <p:nvPr/>
            </p:nvSpPr>
            <p:spPr>
              <a:xfrm>
                <a:off x="1648804" y="4583324"/>
                <a:ext cx="4778680" cy="558614"/>
              </a:xfrm>
              <a:prstGeom prst="rect">
                <a:avLst/>
              </a:prstGeom>
              <a:noFill/>
            </p:spPr>
            <p:txBody>
              <a:bodyPr wrap="none" lIns="0" tIns="0" rIns="0" bIns="0" rtlCol="0">
                <a:spAutoFit/>
              </a:bodyPr>
              <a:lstStyle/>
              <a:p>
                <a:r>
                  <a:rPr kumimoji="1" lang="en-US" altLang="ja-JP" sz="2800" b="1" dirty="0">
                    <a:latin typeface="Arial" panose="020B0604020202020204" pitchFamily="34" charset="0"/>
                    <a:cs typeface="Arial" panose="020B0604020202020204" pitchFamily="34" charset="0"/>
                  </a:rPr>
                  <a:t>Objective</a:t>
                </a:r>
                <a:r>
                  <a:rPr kumimoji="1" lang="en-US" altLang="ja-JP" sz="2800" dirty="0"/>
                  <a:t> :</a:t>
                </a:r>
                <a14:m>
                  <m:oMath xmlns:m="http://schemas.openxmlformats.org/officeDocument/2006/math">
                    <m:func>
                      <m:funcPr>
                        <m:ctrlPr>
                          <a:rPr kumimoji="1" lang="en-US" altLang="ja-JP" sz="2800" b="0" i="1" smtClean="0">
                            <a:latin typeface="Cambria Math" panose="02040503050406030204" pitchFamily="18" charset="0"/>
                          </a:rPr>
                        </m:ctrlPr>
                      </m:funcPr>
                      <m:fName>
                        <m:r>
                          <a:rPr kumimoji="1" lang="en-US" altLang="ja-JP" sz="2800" b="0" i="1" smtClean="0">
                            <a:latin typeface="Cambria Math" panose="02040503050406030204" pitchFamily="18" charset="0"/>
                          </a:rPr>
                          <m:t> </m:t>
                        </m:r>
                        <m:limLow>
                          <m:limLowPr>
                            <m:ctrlPr>
                              <a:rPr kumimoji="1" lang="en-US" altLang="ja-JP" sz="2800" i="0" smtClean="0">
                                <a:latin typeface="Cambria Math" panose="02040503050406030204" pitchFamily="18" charset="0"/>
                              </a:rPr>
                            </m:ctrlPr>
                          </m:limLowPr>
                          <m:e>
                            <m:r>
                              <m:rPr>
                                <m:sty m:val="p"/>
                              </m:rPr>
                              <a:rPr kumimoji="1" lang="en-US" altLang="ja-JP" sz="2800" i="0" smtClean="0">
                                <a:latin typeface="Cambria Math" panose="02040503050406030204" pitchFamily="18" charset="0"/>
                              </a:rPr>
                              <m:t>min</m:t>
                            </m:r>
                          </m:e>
                          <m:lim>
                            <m:r>
                              <a:rPr kumimoji="1" lang="en-US" altLang="ja-JP" sz="2800" b="0" i="1" smtClean="0">
                                <a:latin typeface="Cambria Math" panose="02040503050406030204" pitchFamily="18" charset="0"/>
                              </a:rPr>
                              <m:t>𝑇</m:t>
                            </m:r>
                          </m:lim>
                        </m:limLow>
                      </m:fName>
                      <m:e>
                        <m:r>
                          <a:rPr kumimoji="1" lang="en-US" altLang="ja-JP" sz="2800" b="0" i="1" smtClean="0">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𝑓</m:t>
                            </m:r>
                          </m:e>
                          <m:sub>
                            <m:r>
                              <a:rPr lang="en-US" altLang="ja-JP" sz="2800" i="1">
                                <a:latin typeface="Cambria Math" panose="02040503050406030204" pitchFamily="18" charset="0"/>
                              </a:rPr>
                              <m:t>1</m:t>
                            </m:r>
                          </m:sub>
                        </m:sSub>
                        <m:d>
                          <m:dPr>
                            <m:ctrlPr>
                              <a:rPr lang="en-US" altLang="ja-JP" sz="2800" i="1">
                                <a:latin typeface="Cambria Math" panose="02040503050406030204" pitchFamily="18" charset="0"/>
                              </a:rPr>
                            </m:ctrlPr>
                          </m:dPr>
                          <m:e>
                            <m:r>
                              <a:rPr lang="en-US" altLang="ja-JP" sz="2800" i="1">
                                <a:latin typeface="Cambria Math" panose="02040503050406030204" pitchFamily="18" charset="0"/>
                              </a:rPr>
                              <m:t>𝑇</m:t>
                            </m:r>
                          </m:e>
                        </m:d>
                        <m:r>
                          <a:rPr lang="en-US" altLang="ja-JP" sz="2800" b="0" i="0" smtClean="0">
                            <a:latin typeface="Cambria Math" panose="02040503050406030204" pitchFamily="18" charset="0"/>
                          </a:rPr>
                          <m:t> , </m:t>
                        </m:r>
                      </m:e>
                    </m:func>
                  </m:oMath>
                </a14:m>
                <a:r>
                  <a:rPr lang="en-US" altLang="ja-JP" sz="2800" dirty="0"/>
                  <a:t> </a:t>
                </a:r>
                <a14:m>
                  <m:oMath xmlns:m="http://schemas.openxmlformats.org/officeDocument/2006/math">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𝑓</m:t>
                        </m:r>
                      </m:e>
                      <m:sub>
                        <m:r>
                          <a:rPr lang="en-US" altLang="ja-JP" sz="2800" i="1">
                            <a:latin typeface="Cambria Math" panose="02040503050406030204" pitchFamily="18" charset="0"/>
                          </a:rPr>
                          <m:t>2</m:t>
                        </m:r>
                      </m:sub>
                    </m:sSub>
                    <m:d>
                      <m:dPr>
                        <m:ctrlPr>
                          <a:rPr lang="en-US" altLang="ja-JP" sz="2800" i="1">
                            <a:latin typeface="Cambria Math" panose="02040503050406030204" pitchFamily="18" charset="0"/>
                          </a:rPr>
                        </m:ctrlPr>
                      </m:dPr>
                      <m:e>
                        <m:r>
                          <a:rPr lang="en-US" altLang="ja-JP" sz="2800" i="1">
                            <a:latin typeface="Cambria Math" panose="02040503050406030204" pitchFamily="18" charset="0"/>
                          </a:rPr>
                          <m:t>𝑇</m:t>
                        </m:r>
                      </m:e>
                    </m:d>
                    <m:r>
                      <a:rPr lang="en-US" altLang="ja-JP" sz="2800" b="0" i="1" smtClean="0">
                        <a:latin typeface="Cambria Math" panose="02040503050406030204" pitchFamily="18" charset="0"/>
                      </a:rPr>
                      <m:t>)</m:t>
                    </m:r>
                  </m:oMath>
                </a14:m>
                <a:endParaRPr kumimoji="1" lang="ja-JP" altLang="en-US" sz="2800"/>
              </a:p>
            </p:txBody>
          </p:sp>
        </mc:Choice>
        <mc:Fallback xmlns="">
          <p:sp>
            <p:nvSpPr>
              <p:cNvPr id="10" name="テキスト ボックス 9">
                <a:extLst>
                  <a:ext uri="{FF2B5EF4-FFF2-40B4-BE49-F238E27FC236}">
                    <a16:creationId xmlns:a16="http://schemas.microsoft.com/office/drawing/2014/main" id="{0FFCE2D8-5F52-B020-0E63-3B469A637CB2}"/>
                  </a:ext>
                </a:extLst>
              </p:cNvPr>
              <p:cNvSpPr txBox="1">
                <a:spLocks noRot="1" noChangeAspect="1" noMove="1" noResize="1" noEditPoints="1" noAdjustHandles="1" noChangeArrowheads="1" noChangeShapeType="1" noTextEdit="1"/>
              </p:cNvSpPr>
              <p:nvPr/>
            </p:nvSpPr>
            <p:spPr>
              <a:xfrm>
                <a:off x="1648804" y="4583324"/>
                <a:ext cx="4778680" cy="558614"/>
              </a:xfrm>
              <a:prstGeom prst="rect">
                <a:avLst/>
              </a:prstGeom>
              <a:blipFill>
                <a:blip r:embed="rId5"/>
                <a:stretch>
                  <a:fillRect l="-4509" t="-17778" r="-2653" b="-20000"/>
                </a:stretch>
              </a:blipFill>
            </p:spPr>
            <p:txBody>
              <a:bodyPr/>
              <a:lstStyle/>
              <a:p>
                <a:r>
                  <a:rPr lang="ja-JP" altLang="en-US">
                    <a:noFill/>
                  </a:rPr>
                  <a:t> </a:t>
                </a:r>
              </a:p>
            </p:txBody>
          </p:sp>
        </mc:Fallback>
      </mc:AlternateContent>
      <p:sp>
        <p:nvSpPr>
          <p:cNvPr id="12" name="スライド番号プレースホルダー 2">
            <a:extLst>
              <a:ext uri="{FF2B5EF4-FFF2-40B4-BE49-F238E27FC236}">
                <a16:creationId xmlns:a16="http://schemas.microsoft.com/office/drawing/2014/main" id="{C1AC6FDB-5DFA-E5A0-0229-5BE451B636E8}"/>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10</a:t>
            </a:fld>
            <a:endParaRPr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4C9F1D9-5CFE-5095-D6DC-DD9775B65F31}"/>
                  </a:ext>
                </a:extLst>
              </p:cNvPr>
              <p:cNvSpPr txBox="1"/>
              <p:nvPr/>
            </p:nvSpPr>
            <p:spPr>
              <a:xfrm>
                <a:off x="7948775" y="5619288"/>
                <a:ext cx="2174250"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𝑇</m:t>
                    </m:r>
                    <m:r>
                      <a:rPr kumimoji="1" lang="en-US" altLang="ja-JP" b="0" i="1" smtClean="0">
                        <a:latin typeface="Cambria Math" panose="02040503050406030204" pitchFamily="18" charset="0"/>
                      </a:rPr>
                      <m:t>=</m:t>
                    </m:r>
                  </m:oMath>
                </a14:m>
                <a:r>
                  <a:rPr kumimoji="1" lang="en-US" altLang="ja-JP" dirty="0"/>
                  <a:t> </a:t>
                </a:r>
                <a:r>
                  <a:rPr kumimoji="1" lang="en-US" altLang="ja-JP" b="1" dirty="0"/>
                  <a:t>tree structure</a:t>
                </a:r>
                <a:endParaRPr kumimoji="1" lang="ja-JP" altLang="en-US" b="1"/>
              </a:p>
            </p:txBody>
          </p:sp>
        </mc:Choice>
        <mc:Fallback xmlns="">
          <p:sp>
            <p:nvSpPr>
              <p:cNvPr id="9" name="テキスト ボックス 8">
                <a:extLst>
                  <a:ext uri="{FF2B5EF4-FFF2-40B4-BE49-F238E27FC236}">
                    <a16:creationId xmlns:a16="http://schemas.microsoft.com/office/drawing/2014/main" id="{94C9F1D9-5CFE-5095-D6DC-DD9775B65F31}"/>
                  </a:ext>
                </a:extLst>
              </p:cNvPr>
              <p:cNvSpPr txBox="1">
                <a:spLocks noRot="1" noChangeAspect="1" noMove="1" noResize="1" noEditPoints="1" noAdjustHandles="1" noChangeArrowheads="1" noChangeShapeType="1" noTextEdit="1"/>
              </p:cNvSpPr>
              <p:nvPr/>
            </p:nvSpPr>
            <p:spPr>
              <a:xfrm>
                <a:off x="7948775" y="5619288"/>
                <a:ext cx="2174250" cy="369332"/>
              </a:xfrm>
              <a:prstGeom prst="rect">
                <a:avLst/>
              </a:prstGeom>
              <a:blipFill>
                <a:blip r:embed="rId6"/>
                <a:stretch>
                  <a:fillRect t="-6667" r="-1156" b="-2666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57771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EF8A8-F7BD-E13E-D2D6-0187088F15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4A182C-203F-865A-B804-EA5D0D005C87}"/>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Experiment</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9" name="表 48">
                <a:extLst>
                  <a:ext uri="{FF2B5EF4-FFF2-40B4-BE49-F238E27FC236}">
                    <a16:creationId xmlns:a16="http://schemas.microsoft.com/office/drawing/2014/main" id="{4023A5BF-1FAB-6C05-5148-F2CB9F49DAA7}"/>
                  </a:ext>
                </a:extLst>
              </p:cNvPr>
              <p:cNvGraphicFramePr>
                <a:graphicFrameLocks noGrp="1"/>
              </p:cNvGraphicFramePr>
              <p:nvPr>
                <p:extLst>
                  <p:ext uri="{D42A27DB-BD31-4B8C-83A1-F6EECF244321}">
                    <p14:modId xmlns:p14="http://schemas.microsoft.com/office/powerpoint/2010/main" val="60903586"/>
                  </p:ext>
                </p:extLst>
              </p:nvPr>
            </p:nvGraphicFramePr>
            <p:xfrm>
              <a:off x="785206" y="1436915"/>
              <a:ext cx="10615617" cy="272835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pPr algn="ctr"/>
                          <a:r>
                            <a:rPr kumimoji="1" lang="en-US" altLang="ja-JP" sz="2400" dirty="0"/>
                            <a:t>Crossover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𝒄</m:t>
                                  </m:r>
                                </m:sub>
                              </m:sSub>
                            </m:oMath>
                          </a14:m>
                          <a:endParaRPr kumimoji="1" lang="ja-JP" altLang="en-US" sz="2400"/>
                        </a:p>
                      </a:txBody>
                      <a:tcPr/>
                    </a:tc>
                    <a:tc>
                      <a:txBody>
                        <a:bodyPr/>
                        <a:lstStyle/>
                        <a:p>
                          <a:pPr algn="ctr"/>
                          <a:r>
                            <a:rPr kumimoji="1" lang="en-US" altLang="ja-JP" sz="2400" dirty="0"/>
                            <a:t>Mutation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𝒎</m:t>
                                  </m:r>
                                </m:sub>
                              </m:sSub>
                            </m:oMath>
                          </a14:m>
                          <a:endParaRPr kumimoji="1" lang="ja-JP" altLang="en-US" sz="2400"/>
                        </a:p>
                      </a:txBody>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crossover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0.90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47503153"/>
                      </a:ext>
                    </a:extLst>
                  </a:tr>
                </a:tbl>
              </a:graphicData>
            </a:graphic>
          </p:graphicFrame>
        </mc:Choice>
        <mc:Fallback xmlns="">
          <p:graphicFrame>
            <p:nvGraphicFramePr>
              <p:cNvPr id="49" name="表 48">
                <a:extLst>
                  <a:ext uri="{FF2B5EF4-FFF2-40B4-BE49-F238E27FC236}">
                    <a16:creationId xmlns:a16="http://schemas.microsoft.com/office/drawing/2014/main" id="{4023A5BF-1FAB-6C05-5148-F2CB9F49DAA7}"/>
                  </a:ext>
                </a:extLst>
              </p:cNvPr>
              <p:cNvGraphicFramePr>
                <a:graphicFrameLocks noGrp="1"/>
              </p:cNvGraphicFramePr>
              <p:nvPr>
                <p:extLst>
                  <p:ext uri="{D42A27DB-BD31-4B8C-83A1-F6EECF244321}">
                    <p14:modId xmlns:p14="http://schemas.microsoft.com/office/powerpoint/2010/main" val="60903586"/>
                  </p:ext>
                </p:extLst>
              </p:nvPr>
            </p:nvGraphicFramePr>
            <p:xfrm>
              <a:off x="785206" y="1436915"/>
              <a:ext cx="10615617" cy="272835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endParaRPr lang="ja-JP"/>
                        </a:p>
                      </a:txBody>
                      <a:tcPr>
                        <a:blipFill>
                          <a:blip r:embed="rId3"/>
                          <a:stretch>
                            <a:fillRect l="-100358" t="-9302" r="-101075" b="-409302"/>
                          </a:stretch>
                        </a:blipFill>
                      </a:tcPr>
                    </a:tc>
                    <a:tc>
                      <a:txBody>
                        <a:bodyPr/>
                        <a:lstStyle/>
                        <a:p>
                          <a:endParaRPr lang="ja-JP"/>
                        </a:p>
                      </a:txBody>
                      <a:tcPr>
                        <a:blipFill>
                          <a:blip r:embed="rId3"/>
                          <a:stretch>
                            <a:fillRect l="-200358" t="-9302" r="-1075" b="-409302"/>
                          </a:stretch>
                        </a:blipFill>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crossover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0.90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47503153"/>
                      </a:ext>
                    </a:extLst>
                  </a:tr>
                </a:tbl>
              </a:graphicData>
            </a:graphic>
          </p:graphicFrame>
        </mc:Fallback>
      </mc:AlternateContent>
      <p:sp>
        <p:nvSpPr>
          <p:cNvPr id="53" name="スライド番号プレースホルダー 2">
            <a:extLst>
              <a:ext uri="{FF2B5EF4-FFF2-40B4-BE49-F238E27FC236}">
                <a16:creationId xmlns:a16="http://schemas.microsoft.com/office/drawing/2014/main" id="{BA921769-1674-78B5-235F-7291BE69B5E7}"/>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11</a:t>
            </a:fld>
            <a:endParaRPr lang="ja-JP" altLang="en-US"/>
          </a:p>
        </p:txBody>
      </p:sp>
      <p:sp>
        <p:nvSpPr>
          <p:cNvPr id="5" name="テキスト ボックス 4">
            <a:extLst>
              <a:ext uri="{FF2B5EF4-FFF2-40B4-BE49-F238E27FC236}">
                <a16:creationId xmlns:a16="http://schemas.microsoft.com/office/drawing/2014/main" id="{0A7ABC0C-417D-5DE7-6ECE-B1C6253D5982}"/>
              </a:ext>
            </a:extLst>
          </p:cNvPr>
          <p:cNvSpPr txBox="1"/>
          <p:nvPr/>
        </p:nvSpPr>
        <p:spPr>
          <a:xfrm>
            <a:off x="476992" y="4524679"/>
            <a:ext cx="3659976" cy="523220"/>
          </a:xfrm>
          <a:prstGeom prst="rect">
            <a:avLst/>
          </a:prstGeom>
          <a:noFill/>
        </p:spPr>
        <p:txBody>
          <a:bodyPr wrap="none" rtlCol="0">
            <a:spAutoFit/>
          </a:bodyPr>
          <a:lstStyle/>
          <a:p>
            <a:r>
              <a:rPr lang="ja-JP" altLang="ja-JP" sz="2800" b="1">
                <a:latin typeface="Arial" panose="020B0604020202020204" pitchFamily="34" charset="0"/>
                <a:cs typeface="Arial" panose="020B0604020202020204" pitchFamily="34" charset="0"/>
              </a:rPr>
              <a:t>Experiment Settings</a:t>
            </a:r>
          </a:p>
        </p:txBody>
      </p:sp>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E82B46AA-0BBD-BF52-2724-6B120ED934C5}"/>
                  </a:ext>
                </a:extLst>
              </p:cNvPr>
              <p:cNvGraphicFramePr>
                <a:graphicFrameLocks noGrp="1"/>
              </p:cNvGraphicFramePr>
              <p:nvPr>
                <p:extLst>
                  <p:ext uri="{D42A27DB-BD31-4B8C-83A1-F6EECF244321}">
                    <p14:modId xmlns:p14="http://schemas.microsoft.com/office/powerpoint/2010/main" val="3563379647"/>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368612">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𝑐</m:t>
                                    </m:r>
                                  </m:sub>
                                </m:sSub>
                              </m:oMath>
                            </m:oMathPara>
                          </a14:m>
                          <a:endParaRPr kumimoji="1" lang="ja-JP" altLang="en-US" sz="2400" b="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𝑚</m:t>
                                    </m:r>
                                  </m:sub>
                                </m:sSub>
                              </m:oMath>
                            </m:oMathPara>
                          </a14:m>
                          <a:endParaRPr kumimoji="1" lang="ja-JP" altLang="en-US" sz="2400" b="0" i="1">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cs typeface="Arial" panose="020B0604020202020204" pitchFamily="34" charset="0"/>
                                      </a:rPr>
                                    </m:ctrlPr>
                                  </m:sSubPr>
                                  <m:e>
                                    <m:r>
                                      <a:rPr kumimoji="1" lang="en-US" altLang="ja-JP" sz="2400" b="0" i="1" smtClean="0">
                                        <a:latin typeface="Cambria Math" panose="02040503050406030204" pitchFamily="18" charset="0"/>
                                        <a:cs typeface="Arial" panose="020B0604020202020204" pitchFamily="34" charset="0"/>
                                      </a:rPr>
                                      <m:t>𝑘</m:t>
                                    </m:r>
                                  </m:e>
                                  <m:sub>
                                    <m:r>
                                      <a:rPr kumimoji="1" lang="en-US" altLang="ja-JP" sz="2400" b="0" i="1" smtClean="0">
                                        <a:latin typeface="Cambria Math" panose="02040503050406030204" pitchFamily="18" charset="0"/>
                                        <a:cs typeface="Arial" panose="020B0604020202020204" pitchFamily="34" charset="0"/>
                                      </a:rPr>
                                      <m:t>𝑙</m:t>
                                    </m:r>
                                  </m:sub>
                                </m:sSub>
                              </m:oMath>
                            </m:oMathPara>
                          </a14:m>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725584"/>
                      </a:ext>
                    </a:extLst>
                  </a:tr>
                  <a:tr h="37084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Choice>
        <mc:Fallback xmlns="">
          <p:graphicFrame>
            <p:nvGraphicFramePr>
              <p:cNvPr id="6" name="表 5">
                <a:extLst>
                  <a:ext uri="{FF2B5EF4-FFF2-40B4-BE49-F238E27FC236}">
                    <a16:creationId xmlns:a16="http://schemas.microsoft.com/office/drawing/2014/main" id="{E82B46AA-0BBD-BF52-2724-6B120ED934C5}"/>
                  </a:ext>
                </a:extLst>
              </p:cNvPr>
              <p:cNvGraphicFramePr>
                <a:graphicFrameLocks noGrp="1"/>
              </p:cNvGraphicFramePr>
              <p:nvPr>
                <p:extLst>
                  <p:ext uri="{D42A27DB-BD31-4B8C-83A1-F6EECF244321}">
                    <p14:modId xmlns:p14="http://schemas.microsoft.com/office/powerpoint/2010/main" val="3563379647"/>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457200">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endParaRPr lang="ja-JP"/>
                        </a:p>
                      </a:txBody>
                      <a:tcPr>
                        <a:blipFill>
                          <a:blip r:embed="rId4"/>
                          <a:stretch>
                            <a:fillRect l="-310000" t="-10811" r="-189286" b="-124324"/>
                          </a:stretch>
                        </a:blipFill>
                      </a:tcPr>
                    </a:tc>
                    <a:tc>
                      <a:txBody>
                        <a:bodyPr/>
                        <a:lstStyle/>
                        <a:p>
                          <a:endParaRPr lang="ja-JP"/>
                        </a:p>
                      </a:txBody>
                      <a:tcPr>
                        <a:blipFill>
                          <a:blip r:embed="rId4"/>
                          <a:stretch>
                            <a:fillRect l="-398611" t="-10811" r="-84028" b="-124324"/>
                          </a:stretch>
                        </a:blipFill>
                      </a:tcPr>
                    </a:tc>
                    <a:tc>
                      <a:txBody>
                        <a:bodyPr/>
                        <a:lstStyle/>
                        <a:p>
                          <a:endParaRPr lang="ja-JP"/>
                        </a:p>
                      </a:txBody>
                      <a:tcPr>
                        <a:blipFill>
                          <a:blip r:embed="rId4"/>
                          <a:stretch>
                            <a:fillRect l="-603361" t="-10811" r="-1681" b="-124324"/>
                          </a:stretch>
                        </a:blipFill>
                      </a:tcPr>
                    </a:tc>
                    <a:extLst>
                      <a:ext uri="{0D108BD9-81ED-4DB2-BD59-A6C34878D82A}">
                        <a16:rowId xmlns:a16="http://schemas.microsoft.com/office/drawing/2014/main" val="4147725584"/>
                      </a:ext>
                    </a:extLst>
                  </a:tr>
                  <a:tr h="45720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Fallback>
      </mc:AlternateContent>
    </p:spTree>
    <p:extLst>
      <p:ext uri="{BB962C8B-B14F-4D97-AF65-F5344CB8AC3E}">
        <p14:creationId xmlns:p14="http://schemas.microsoft.com/office/powerpoint/2010/main" val="1497236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C73FCA-F660-82CD-F90F-4A295DD53BF5}"/>
              </a:ext>
            </a:extLst>
          </p:cNvPr>
          <p:cNvSpPr>
            <a:spLocks noGrp="1"/>
          </p:cNvSpPr>
          <p:nvPr>
            <p:ph type="title"/>
          </p:nvPr>
        </p:nvSpPr>
        <p:spPr>
          <a:xfrm>
            <a:off x="476991" y="276874"/>
            <a:ext cx="9890327" cy="638485"/>
          </a:xfrm>
        </p:spPr>
        <p:txBody>
          <a:bodyPr>
            <a:normAutofit fontScale="90000"/>
          </a:bodyPr>
          <a:lstStyle/>
          <a:p>
            <a:r>
              <a:rPr kumimoji="1" lang="en-US" altLang="ja-JP" b="1" dirty="0">
                <a:latin typeface="Arial" panose="020B0604020202020204" pitchFamily="34" charset="0"/>
                <a:cs typeface="Arial" panose="020B0604020202020204" pitchFamily="34" charset="0"/>
              </a:rPr>
              <a:t>Result 1 : Final Archive HV</a:t>
            </a:r>
            <a:r>
              <a:rPr kumimoji="1" lang="ja-JP" altLang="en-US" b="1">
                <a:latin typeface="Arial" panose="020B0604020202020204" pitchFamily="34" charset="0"/>
                <a:cs typeface="Arial" panose="020B0604020202020204" pitchFamily="34" charset="0"/>
              </a:rPr>
              <a:t>・</a:t>
            </a:r>
            <a:r>
              <a:rPr kumimoji="1" lang="en-US" altLang="ja-JP" b="1" dirty="0">
                <a:latin typeface="Arial" panose="020B0604020202020204" pitchFamily="34" charset="0"/>
                <a:cs typeface="Arial" panose="020B0604020202020204" pitchFamily="34" charset="0"/>
              </a:rPr>
              <a:t>Diversity</a:t>
            </a:r>
            <a:endParaRPr kumimoji="1" lang="ja-JP" altLang="en-US" b="1">
              <a:latin typeface="Arial" panose="020B0604020202020204" pitchFamily="34" charset="0"/>
              <a:cs typeface="Arial" panose="020B0604020202020204" pitchFamily="34" charset="0"/>
            </a:endParaRPr>
          </a:p>
        </p:txBody>
      </p:sp>
      <p:sp>
        <p:nvSpPr>
          <p:cNvPr id="6" name="テキスト ボックス 5">
            <a:extLst>
              <a:ext uri="{FF2B5EF4-FFF2-40B4-BE49-F238E27FC236}">
                <a16:creationId xmlns:a16="http://schemas.microsoft.com/office/drawing/2014/main" id="{2C1CF740-23CC-7C86-9680-60F094F582B3}"/>
              </a:ext>
            </a:extLst>
          </p:cNvPr>
          <p:cNvSpPr txBox="1"/>
          <p:nvPr/>
        </p:nvSpPr>
        <p:spPr>
          <a:xfrm>
            <a:off x="7825099" y="2276745"/>
            <a:ext cx="4366901" cy="3693319"/>
          </a:xfrm>
          <a:prstGeom prst="rect">
            <a:avLst/>
          </a:prstGeom>
          <a:noFill/>
        </p:spPr>
        <p:txBody>
          <a:bodyPr wrap="non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Proposed method</a:t>
            </a:r>
            <a:r>
              <a:rPr lang="ja-JP" altLang="ja-JP" sz="2400">
                <a:latin typeface="Arial" panose="020B0604020202020204" pitchFamily="34" charset="0"/>
                <a:cs typeface="Arial" panose="020B0604020202020204" pitchFamily="34" charset="0"/>
              </a:rPr>
              <a:t> achieved </a:t>
            </a:r>
            <a:br>
              <a:rPr lang="en-US" altLang="ja-JP" sz="2400" dirty="0">
                <a:latin typeface="Arial" panose="020B0604020202020204" pitchFamily="34" charset="0"/>
                <a:cs typeface="Arial" panose="020B0604020202020204" pitchFamily="34" charset="0"/>
              </a:rPr>
            </a:br>
            <a:r>
              <a:rPr lang="ja-JP" altLang="ja-JP" sz="2400">
                <a:latin typeface="Arial" panose="020B0604020202020204" pitchFamily="34" charset="0"/>
                <a:cs typeface="Arial" panose="020B0604020202020204" pitchFamily="34" charset="0"/>
              </a:rPr>
              <a:t>better performance than </a:t>
            </a:r>
            <a:br>
              <a:rPr lang="en-US" altLang="ja-JP" sz="2400" dirty="0">
                <a:latin typeface="Arial" panose="020B0604020202020204" pitchFamily="34" charset="0"/>
                <a:cs typeface="Arial" panose="020B0604020202020204" pitchFamily="34" charset="0"/>
              </a:rPr>
            </a:br>
            <a:r>
              <a:rPr lang="en-US" altLang="ja-JP" sz="2400" dirty="0">
                <a:latin typeface="Arial" panose="020B0604020202020204" pitchFamily="34" charset="0"/>
                <a:cs typeface="Arial" panose="020B0604020202020204" pitchFamily="34" charset="0"/>
              </a:rPr>
              <a:t>standard method</a:t>
            </a:r>
          </a:p>
          <a:p>
            <a:endParaRPr lang="en-US" altLang="ja-JP" sz="2400" dirty="0">
              <a:latin typeface="Arial" panose="020B0604020202020204" pitchFamily="34" charset="0"/>
              <a:cs typeface="Arial" panose="020B0604020202020204" pitchFamily="34" charset="0"/>
            </a:endParaRPr>
          </a:p>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High mutation rate</a:t>
            </a:r>
            <a:r>
              <a:rPr lang="ja-JP" altLang="ja-JP" sz="2400">
                <a:latin typeface="Arial" panose="020B0604020202020204" pitchFamily="34" charset="0"/>
                <a:cs typeface="Arial" panose="020B0604020202020204" pitchFamily="34" charset="0"/>
              </a:rPr>
              <a:t> </a:t>
            </a:r>
            <a:br>
              <a:rPr lang="en-US" altLang="ja-JP" sz="2400" dirty="0">
                <a:latin typeface="Arial" panose="020B0604020202020204" pitchFamily="34" charset="0"/>
                <a:cs typeface="Arial" panose="020B0604020202020204" pitchFamily="34" charset="0"/>
              </a:rPr>
            </a:br>
            <a:r>
              <a:rPr lang="ja-JP" altLang="ja-JP" sz="2400">
                <a:latin typeface="Arial" panose="020B0604020202020204" pitchFamily="34" charset="0"/>
                <a:cs typeface="Arial" panose="020B0604020202020204" pitchFamily="34" charset="0"/>
              </a:rPr>
              <a:t>outperformed </a:t>
            </a:r>
            <a:r>
              <a:rPr lang="en-US" altLang="ja-JP" sz="2400" dirty="0">
                <a:latin typeface="Arial" panose="020B0604020202020204" pitchFamily="34" charset="0"/>
                <a:cs typeface="Arial" panose="020B0604020202020204" pitchFamily="34" charset="0"/>
              </a:rPr>
              <a:t>proposed</a:t>
            </a:r>
            <a:br>
              <a:rPr lang="en-US" altLang="ja-JP" sz="2400" dirty="0">
                <a:latin typeface="Arial" panose="020B0604020202020204" pitchFamily="34" charset="0"/>
                <a:cs typeface="Arial" panose="020B0604020202020204" pitchFamily="34" charset="0"/>
              </a:rPr>
            </a:br>
            <a:r>
              <a:rPr lang="en-US" altLang="ja-JP" sz="2400" dirty="0">
                <a:latin typeface="Arial" panose="020B0604020202020204" pitchFamily="34" charset="0"/>
                <a:cs typeface="Arial" panose="020B0604020202020204" pitchFamily="34" charset="0"/>
              </a:rPr>
              <a:t>method</a:t>
            </a:r>
            <a:r>
              <a:rPr lang="ja-JP" altLang="ja-JP" sz="2400">
                <a:latin typeface="Arial" panose="020B0604020202020204" pitchFamily="34" charset="0"/>
                <a:cs typeface="Arial" panose="020B0604020202020204" pitchFamily="34" charset="0"/>
              </a:rPr>
              <a:t> in terms of</a:t>
            </a:r>
            <a:r>
              <a:rPr lang="en-US" altLang="ja-JP" sz="2400" dirty="0">
                <a:latin typeface="Arial" panose="020B0604020202020204" pitchFamily="34" charset="0"/>
                <a:cs typeface="Arial" panose="020B0604020202020204" pitchFamily="34" charset="0"/>
              </a:rPr>
              <a:t> </a:t>
            </a:r>
            <a:br>
              <a:rPr lang="en-US" altLang="ja-JP" sz="2400" dirty="0">
                <a:latin typeface="Arial" panose="020B0604020202020204" pitchFamily="34" charset="0"/>
                <a:cs typeface="Arial" panose="020B0604020202020204" pitchFamily="34" charset="0"/>
              </a:rPr>
            </a:br>
            <a:r>
              <a:rPr lang="ja-JP" altLang="ja-JP" sz="2400">
                <a:latin typeface="Arial" panose="020B0604020202020204" pitchFamily="34" charset="0"/>
                <a:cs typeface="Arial" panose="020B0604020202020204" pitchFamily="34" charset="0"/>
              </a:rPr>
              <a:t>average HV</a:t>
            </a:r>
          </a:p>
          <a:p>
            <a:endParaRPr lang="ja-JP" altLang="ja-JP" sz="2400">
              <a:latin typeface="Arial" panose="020B0604020202020204" pitchFamily="34" charset="0"/>
              <a:cs typeface="Arial" panose="020B0604020202020204" pitchFamily="34" charset="0"/>
            </a:endParaRPr>
          </a:p>
          <a:p>
            <a:endParaRPr kumimoji="1" lang="ja-JP" altLang="en-US"/>
          </a:p>
        </p:txBody>
      </p:sp>
      <p:sp>
        <p:nvSpPr>
          <p:cNvPr id="7" name="スライド番号プレースホルダー 2">
            <a:extLst>
              <a:ext uri="{FF2B5EF4-FFF2-40B4-BE49-F238E27FC236}">
                <a16:creationId xmlns:a16="http://schemas.microsoft.com/office/drawing/2014/main" id="{48810A09-CC83-C358-29E4-CC3FBB3456C4}"/>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12</a:t>
            </a:fld>
            <a:endParaRPr lang="ja-JP" altLang="en-US"/>
          </a:p>
        </p:txBody>
      </p:sp>
      <p:pic>
        <p:nvPicPr>
          <p:cNvPr id="4" name="図 3">
            <a:extLst>
              <a:ext uri="{FF2B5EF4-FFF2-40B4-BE49-F238E27FC236}">
                <a16:creationId xmlns:a16="http://schemas.microsoft.com/office/drawing/2014/main" id="{F24AE80E-635E-D941-1604-D93DF956F705}"/>
              </a:ext>
            </a:extLst>
          </p:cNvPr>
          <p:cNvPicPr>
            <a:picLocks noChangeAspect="1"/>
          </p:cNvPicPr>
          <p:nvPr/>
        </p:nvPicPr>
        <p:blipFill>
          <a:blip r:embed="rId3"/>
          <a:stretch/>
        </p:blipFill>
        <p:spPr>
          <a:xfrm>
            <a:off x="0" y="1470454"/>
            <a:ext cx="7825099" cy="4904980"/>
          </a:xfrm>
          <a:prstGeom prst="rect">
            <a:avLst/>
          </a:prstGeom>
        </p:spPr>
      </p:pic>
      <p:sp>
        <p:nvSpPr>
          <p:cNvPr id="8" name="テキスト ボックス 7">
            <a:extLst>
              <a:ext uri="{FF2B5EF4-FFF2-40B4-BE49-F238E27FC236}">
                <a16:creationId xmlns:a16="http://schemas.microsoft.com/office/drawing/2014/main" id="{B0DA3AFF-AA91-EE98-76BC-652B4ABCFAB4}"/>
              </a:ext>
            </a:extLst>
          </p:cNvPr>
          <p:cNvSpPr txBox="1"/>
          <p:nvPr/>
        </p:nvSpPr>
        <p:spPr>
          <a:xfrm>
            <a:off x="7766926" y="1312985"/>
            <a:ext cx="3403496"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archive HV : </a:t>
            </a:r>
            <a:r>
              <a:rPr lang="en-US" altLang="ja-JP" dirty="0">
                <a:latin typeface="Arial" panose="020B0604020202020204" pitchFamily="34" charset="0"/>
                <a:cs typeface="Arial" panose="020B0604020202020204" pitchFamily="34" charset="0"/>
              </a:rPr>
              <a:t>s</a:t>
            </a:r>
            <a:r>
              <a:rPr lang="ja-JP" altLang="ja-JP">
                <a:latin typeface="Arial" panose="020B0604020202020204" pitchFamily="34" charset="0"/>
                <a:cs typeface="Arial" panose="020B0604020202020204" pitchFamily="34" charset="0"/>
              </a:rPr>
              <a:t>olution </a:t>
            </a:r>
            <a:r>
              <a:rPr lang="en-US" altLang="ja-JP" dirty="0">
                <a:latin typeface="Arial" panose="020B0604020202020204" pitchFamily="34" charset="0"/>
                <a:cs typeface="Arial" panose="020B0604020202020204" pitchFamily="34" charset="0"/>
              </a:rPr>
              <a:t>s</a:t>
            </a:r>
            <a:r>
              <a:rPr lang="ja-JP" altLang="ja-JP">
                <a:latin typeface="Arial" panose="020B0604020202020204" pitchFamily="34" charset="0"/>
                <a:cs typeface="Arial" panose="020B0604020202020204" pitchFamily="34" charset="0"/>
              </a:rPr>
              <a:t>et </a:t>
            </a:r>
            <a:r>
              <a:rPr lang="en-US" altLang="ja-JP" dirty="0">
                <a:latin typeface="Arial" panose="020B0604020202020204" pitchFamily="34" charset="0"/>
                <a:cs typeface="Arial" panose="020B0604020202020204" pitchFamily="34" charset="0"/>
              </a:rPr>
              <a:t>q</a:t>
            </a:r>
            <a:r>
              <a:rPr lang="ja-JP" altLang="ja-JP">
                <a:latin typeface="Arial" panose="020B0604020202020204" pitchFamily="34" charset="0"/>
                <a:cs typeface="Arial" panose="020B0604020202020204" pitchFamily="34" charset="0"/>
              </a:rPr>
              <a:t>uality</a:t>
            </a:r>
            <a:endParaRPr kumimoji="1" lang="ja-JP" altLang="en-US"/>
          </a:p>
        </p:txBody>
      </p:sp>
    </p:spTree>
    <p:extLst>
      <p:ext uri="{BB962C8B-B14F-4D97-AF65-F5344CB8AC3E}">
        <p14:creationId xmlns:p14="http://schemas.microsoft.com/office/powerpoint/2010/main" val="3284138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4D644-2F7D-0E6F-C896-89D5FA193B1B}"/>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 2 : Archive HV Progress</a:t>
            </a:r>
            <a:endParaRPr kumimoji="1" lang="ja-JP" altLang="en-US" b="1">
              <a:latin typeface="Arial" panose="020B0604020202020204" pitchFamily="34" charset="0"/>
              <a:cs typeface="Arial" panose="020B0604020202020204" pitchFamily="34" charset="0"/>
            </a:endParaRPr>
          </a:p>
        </p:txBody>
      </p:sp>
      <p:sp>
        <p:nvSpPr>
          <p:cNvPr id="5" name="スライド番号プレースホルダー 2">
            <a:extLst>
              <a:ext uri="{FF2B5EF4-FFF2-40B4-BE49-F238E27FC236}">
                <a16:creationId xmlns:a16="http://schemas.microsoft.com/office/drawing/2014/main" id="{860AD0DA-79EC-E503-6CB9-C77ED17DE506}"/>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13</a:t>
            </a:fld>
            <a:endParaRPr lang="ja-JP" altLang="en-US"/>
          </a:p>
        </p:txBody>
      </p:sp>
      <p:pic>
        <p:nvPicPr>
          <p:cNvPr id="6" name="図 5">
            <a:extLst>
              <a:ext uri="{FF2B5EF4-FFF2-40B4-BE49-F238E27FC236}">
                <a16:creationId xmlns:a16="http://schemas.microsoft.com/office/drawing/2014/main" id="{CEFC44BB-8BA8-0E3D-9968-19903D32368C}"/>
              </a:ext>
            </a:extLst>
          </p:cNvPr>
          <p:cNvPicPr>
            <a:picLocks noChangeAspect="1"/>
          </p:cNvPicPr>
          <p:nvPr/>
        </p:nvPicPr>
        <p:blipFill>
          <a:blip r:embed="rId3"/>
          <a:srcRect l="2351" t="4883"/>
          <a:stretch>
            <a:fillRect/>
          </a:stretch>
        </p:blipFill>
        <p:spPr>
          <a:xfrm>
            <a:off x="93785" y="1546125"/>
            <a:ext cx="8660967" cy="4621697"/>
          </a:xfrm>
          <a:prstGeom prst="rect">
            <a:avLst/>
          </a:prstGeom>
        </p:spPr>
      </p:pic>
      <p:cxnSp>
        <p:nvCxnSpPr>
          <p:cNvPr id="8" name="直線矢印コネクタ 7">
            <a:extLst>
              <a:ext uri="{FF2B5EF4-FFF2-40B4-BE49-F238E27FC236}">
                <a16:creationId xmlns:a16="http://schemas.microsoft.com/office/drawing/2014/main" id="{80150AC0-7BB0-19E5-9537-0C3CBCABA1F8}"/>
              </a:ext>
            </a:extLst>
          </p:cNvPr>
          <p:cNvCxnSpPr>
            <a:cxnSpLocks/>
          </p:cNvCxnSpPr>
          <p:nvPr/>
        </p:nvCxnSpPr>
        <p:spPr>
          <a:xfrm flipH="1" flipV="1">
            <a:off x="5931877" y="2438400"/>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2" name="フローチャート: 代替処理 11">
            <a:extLst>
              <a:ext uri="{FF2B5EF4-FFF2-40B4-BE49-F238E27FC236}">
                <a16:creationId xmlns:a16="http://schemas.microsoft.com/office/drawing/2014/main" id="{BA33DFAB-34F6-2DDD-8584-E7D13D5B8FFD}"/>
              </a:ext>
            </a:extLst>
          </p:cNvPr>
          <p:cNvSpPr/>
          <p:nvPr/>
        </p:nvSpPr>
        <p:spPr>
          <a:xfrm>
            <a:off x="4489785" y="3329354"/>
            <a:ext cx="4085918" cy="532932"/>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6533C861-FD19-8D5C-4E88-2ADD2C6175B0}"/>
                  </a:ext>
                </a:extLst>
              </p:cNvPr>
              <p:cNvSpPr txBox="1"/>
              <p:nvPr/>
            </p:nvSpPr>
            <p:spPr>
              <a:xfrm>
                <a:off x="4489785" y="3395765"/>
                <a:ext cx="4123245" cy="400110"/>
              </a:xfrm>
              <a:prstGeom prst="rect">
                <a:avLst/>
              </a:prstGeom>
              <a:noFill/>
            </p:spPr>
            <p:txBody>
              <a:bodyPr wrap="none" rtlCol="0">
                <a:spAutoFit/>
              </a:bodyPr>
              <a:lstStyle/>
              <a:p>
                <a:r>
                  <a:rPr kumimoji="1" lang="en-US" altLang="ja-JP" sz="2000" dirty="0">
                    <a:solidFill>
                      <a:srgbClr val="7BAF7F"/>
                    </a:solidFill>
                    <a:latin typeface="Arial" panose="020B0604020202020204" pitchFamily="34" charset="0"/>
                    <a:cs typeface="Arial" panose="020B0604020202020204" pitchFamily="34" charset="0"/>
                  </a:rPr>
                  <a:t>High mutation </a:t>
                </a:r>
                <a14:m>
                  <m:oMath xmlns:m="http://schemas.openxmlformats.org/officeDocument/2006/math">
                    <m:r>
                      <a:rPr kumimoji="1" lang="en-US" altLang="ja-JP" sz="2000" i="1" smtClean="0">
                        <a:latin typeface="Cambria Math" panose="02040503050406030204" pitchFamily="18" charset="0"/>
                        <a:ea typeface="Cambria Math" panose="02040503050406030204" pitchFamily="18" charset="0"/>
                        <a:cs typeface="Arial" panose="020B0604020202020204" pitchFamily="34" charset="0"/>
                      </a:rPr>
                      <m:t>&gt;</m:t>
                    </m:r>
                  </m:oMath>
                </a14:m>
                <a:r>
                  <a:rPr kumimoji="1" lang="en-US" altLang="ja-JP" sz="2000" dirty="0">
                    <a:latin typeface="Arial" panose="020B0604020202020204" pitchFamily="34" charset="0"/>
                    <a:cs typeface="Arial" panose="020B0604020202020204" pitchFamily="34" charset="0"/>
                  </a:rPr>
                  <a:t> </a:t>
                </a:r>
                <a:r>
                  <a:rPr lang="en-US" altLang="ja-JP" sz="2000" dirty="0">
                    <a:solidFill>
                      <a:srgbClr val="D95F5F"/>
                    </a:solidFill>
                    <a:latin typeface="Arial" panose="020B0604020202020204" pitchFamily="34" charset="0"/>
                    <a:cs typeface="Arial" panose="020B0604020202020204" pitchFamily="34" charset="0"/>
                  </a:rPr>
                  <a:t>Proposed method</a:t>
                </a:r>
                <a:endParaRPr kumimoji="1" lang="ja-JP" altLang="en-US" sz="2000">
                  <a:solidFill>
                    <a:srgbClr val="D95F5F"/>
                  </a:solidFill>
                  <a:latin typeface="Arial" panose="020B0604020202020204" pitchFamily="34" charset="0"/>
                  <a:cs typeface="Arial" panose="020B0604020202020204" pitchFamily="34" charset="0"/>
                </a:endParaRPr>
              </a:p>
            </p:txBody>
          </p:sp>
        </mc:Choice>
        <mc:Fallback xmlns="">
          <p:sp>
            <p:nvSpPr>
              <p:cNvPr id="13" name="テキスト ボックス 12">
                <a:extLst>
                  <a:ext uri="{FF2B5EF4-FFF2-40B4-BE49-F238E27FC236}">
                    <a16:creationId xmlns:a16="http://schemas.microsoft.com/office/drawing/2014/main" id="{6533C861-FD19-8D5C-4E88-2ADD2C6175B0}"/>
                  </a:ext>
                </a:extLst>
              </p:cNvPr>
              <p:cNvSpPr txBox="1">
                <a:spLocks noRot="1" noChangeAspect="1" noMove="1" noResize="1" noEditPoints="1" noAdjustHandles="1" noChangeArrowheads="1" noChangeShapeType="1" noTextEdit="1"/>
              </p:cNvSpPr>
              <p:nvPr/>
            </p:nvSpPr>
            <p:spPr>
              <a:xfrm>
                <a:off x="4489785" y="3395765"/>
                <a:ext cx="4123245" cy="400110"/>
              </a:xfrm>
              <a:prstGeom prst="rect">
                <a:avLst/>
              </a:prstGeom>
              <a:blipFill>
                <a:blip r:embed="rId4"/>
                <a:stretch>
                  <a:fillRect l="-1534" t="-9091" r="-613" b="-24242"/>
                </a:stretch>
              </a:blipFill>
            </p:spPr>
            <p:txBody>
              <a:bodyPr/>
              <a:lstStyle/>
              <a:p>
                <a:r>
                  <a:rPr lang="ja-JP" altLang="en-US">
                    <a:noFill/>
                  </a:rPr>
                  <a:t> </a:t>
                </a:r>
              </a:p>
            </p:txBody>
          </p:sp>
        </mc:Fallback>
      </mc:AlternateContent>
      <p:sp>
        <p:nvSpPr>
          <p:cNvPr id="15" name="円/楕円 14">
            <a:extLst>
              <a:ext uri="{FF2B5EF4-FFF2-40B4-BE49-F238E27FC236}">
                <a16:creationId xmlns:a16="http://schemas.microsoft.com/office/drawing/2014/main" id="{35594A8E-5938-9340-9FEB-949A4D23D045}"/>
              </a:ext>
            </a:extLst>
          </p:cNvPr>
          <p:cNvSpPr/>
          <p:nvPr/>
        </p:nvSpPr>
        <p:spPr>
          <a:xfrm>
            <a:off x="4520167" y="2215662"/>
            <a:ext cx="422030" cy="644770"/>
          </a:xfrm>
          <a:prstGeom prst="ellipse">
            <a:avLst/>
          </a:prstGeom>
          <a:noFill/>
          <a:ln w="444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7B8B8CDF-D30B-DCCF-0BCA-BC82B543A1BC}"/>
              </a:ext>
            </a:extLst>
          </p:cNvPr>
          <p:cNvCxnSpPr>
            <a:cxnSpLocks/>
            <a:endCxn id="15" idx="3"/>
          </p:cNvCxnSpPr>
          <p:nvPr/>
        </p:nvCxnSpPr>
        <p:spPr>
          <a:xfrm flipV="1">
            <a:off x="3715426" y="2766008"/>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9" name="フローチャート: 代替処理 18">
            <a:extLst>
              <a:ext uri="{FF2B5EF4-FFF2-40B4-BE49-F238E27FC236}">
                <a16:creationId xmlns:a16="http://schemas.microsoft.com/office/drawing/2014/main" id="{02774666-0FF3-E41D-8D34-DCBA2838DD12}"/>
              </a:ext>
            </a:extLst>
          </p:cNvPr>
          <p:cNvSpPr/>
          <p:nvPr/>
        </p:nvSpPr>
        <p:spPr>
          <a:xfrm>
            <a:off x="2899238" y="3997569"/>
            <a:ext cx="2042959" cy="532932"/>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5DB2AA68-ACDE-7E9F-3608-EFB200F747DB}"/>
              </a:ext>
            </a:extLst>
          </p:cNvPr>
          <p:cNvSpPr txBox="1"/>
          <p:nvPr/>
        </p:nvSpPr>
        <p:spPr>
          <a:xfrm>
            <a:off x="2958962" y="4066381"/>
            <a:ext cx="1983235" cy="400110"/>
          </a:xfrm>
          <a:prstGeom prst="rect">
            <a:avLst/>
          </a:prstGeom>
          <a:noFill/>
        </p:spPr>
        <p:txBody>
          <a:bodyPr wrap="none" rtlCol="0">
            <a:spAutoFit/>
          </a:bodyPr>
          <a:lstStyle/>
          <a:p>
            <a:r>
              <a:rPr kumimoji="1" lang="en-US" altLang="ja-JP" sz="2000" dirty="0">
                <a:solidFill>
                  <a:srgbClr val="D95F5F"/>
                </a:solidFill>
                <a:latin typeface="Arial" panose="020B0604020202020204" pitchFamily="34" charset="0"/>
                <a:cs typeface="Arial" panose="020B0604020202020204" pitchFamily="34" charset="0"/>
              </a:rPr>
              <a:t>less variabilities</a:t>
            </a:r>
            <a:endParaRPr kumimoji="1" lang="ja-JP" altLang="en-US" sz="2000">
              <a:solidFill>
                <a:srgbClr val="D95F5F"/>
              </a:solidFill>
              <a:latin typeface="Arial" panose="020B0604020202020204" pitchFamily="34" charset="0"/>
              <a:cs typeface="Arial" panose="020B0604020202020204" pitchFamily="34" charset="0"/>
            </a:endParaRPr>
          </a:p>
        </p:txBody>
      </p:sp>
      <p:sp>
        <p:nvSpPr>
          <p:cNvPr id="21" name="テキスト ボックス 20">
            <a:extLst>
              <a:ext uri="{FF2B5EF4-FFF2-40B4-BE49-F238E27FC236}">
                <a16:creationId xmlns:a16="http://schemas.microsoft.com/office/drawing/2014/main" id="{4185B4DD-9D74-08F9-C9C0-68ACB58A4FF3}"/>
              </a:ext>
            </a:extLst>
          </p:cNvPr>
          <p:cNvSpPr txBox="1"/>
          <p:nvPr/>
        </p:nvSpPr>
        <p:spPr>
          <a:xfrm>
            <a:off x="8756885" y="4014686"/>
            <a:ext cx="3200054" cy="1846659"/>
          </a:xfrm>
          <a:prstGeom prst="rect">
            <a:avLst/>
          </a:prstGeom>
          <a:noFill/>
        </p:spPr>
        <p:txBody>
          <a:bodyPr wrap="squar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C</a:t>
            </a:r>
            <a:r>
              <a:rPr lang="ja-JP" altLang="ja-JP" sz="2400">
                <a:latin typeface="Arial" panose="020B0604020202020204" pitchFamily="34" charset="0"/>
                <a:cs typeface="Arial" panose="020B0604020202020204" pitchFamily="34" charset="0"/>
              </a:rPr>
              <a:t>losed-loop control may contribute to more stable performance</a:t>
            </a:r>
          </a:p>
          <a:p>
            <a:endParaRPr kumimoji="1" lang="ja-JP" altLang="en-US"/>
          </a:p>
        </p:txBody>
      </p:sp>
      <p:sp>
        <p:nvSpPr>
          <p:cNvPr id="23" name="テキスト ボックス 22">
            <a:extLst>
              <a:ext uri="{FF2B5EF4-FFF2-40B4-BE49-F238E27FC236}">
                <a16:creationId xmlns:a16="http://schemas.microsoft.com/office/drawing/2014/main" id="{D7FB3FE6-5F7F-D75B-A496-FEC45AEBCEAA}"/>
              </a:ext>
            </a:extLst>
          </p:cNvPr>
          <p:cNvSpPr txBox="1"/>
          <p:nvPr/>
        </p:nvSpPr>
        <p:spPr>
          <a:xfrm>
            <a:off x="8756885" y="1960746"/>
            <a:ext cx="3200054" cy="1846659"/>
          </a:xfrm>
          <a:prstGeom prst="rect">
            <a:avLst/>
          </a:prstGeom>
          <a:noFill/>
        </p:spPr>
        <p:txBody>
          <a:bodyPr wrap="squar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ustained a higher performance level than</a:t>
            </a:r>
            <a:r>
              <a:rPr lang="en-US" altLang="ja-JP" sz="2400" dirty="0">
                <a:latin typeface="Arial" panose="020B0604020202020204" pitchFamily="34" charset="0"/>
                <a:cs typeface="Arial" panose="020B0604020202020204" pitchFamily="34" charset="0"/>
              </a:rPr>
              <a:t> standard method</a:t>
            </a:r>
          </a:p>
          <a:p>
            <a:endParaRPr kumimoji="1" lang="ja-JP" altLang="en-US"/>
          </a:p>
        </p:txBody>
      </p:sp>
    </p:spTree>
    <p:extLst>
      <p:ext uri="{BB962C8B-B14F-4D97-AF65-F5344CB8AC3E}">
        <p14:creationId xmlns:p14="http://schemas.microsoft.com/office/powerpoint/2010/main" val="216371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982414-7E8F-7AB0-797A-C77861691E34}"/>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a:t>
            </a:r>
            <a:r>
              <a:rPr lang="en-US" altLang="ja-JP" b="1" dirty="0">
                <a:latin typeface="Arial" panose="020B0604020202020204" pitchFamily="34" charset="0"/>
                <a:cs typeface="Arial" panose="020B0604020202020204" pitchFamily="34" charset="0"/>
              </a:rPr>
              <a:t> 3 : Update timing</a:t>
            </a:r>
            <a:endParaRPr kumimoji="1" lang="ja-JP" altLang="en-US" b="1">
              <a:latin typeface="Arial" panose="020B0604020202020204" pitchFamily="34" charset="0"/>
              <a:cs typeface="Arial" panose="020B0604020202020204" pitchFamily="34" charset="0"/>
            </a:endParaRPr>
          </a:p>
        </p:txBody>
      </p:sp>
      <p:pic>
        <p:nvPicPr>
          <p:cNvPr id="5" name="図 4">
            <a:extLst>
              <a:ext uri="{FF2B5EF4-FFF2-40B4-BE49-F238E27FC236}">
                <a16:creationId xmlns:a16="http://schemas.microsoft.com/office/drawing/2014/main" id="{38127EB2-E094-9AA3-81C3-147689706947}"/>
              </a:ext>
            </a:extLst>
          </p:cNvPr>
          <p:cNvPicPr>
            <a:picLocks noChangeAspect="1"/>
          </p:cNvPicPr>
          <p:nvPr/>
        </p:nvPicPr>
        <p:blipFill>
          <a:blip r:embed="rId3"/>
          <a:stretch/>
        </p:blipFill>
        <p:spPr>
          <a:xfrm>
            <a:off x="123566" y="1193580"/>
            <a:ext cx="8365525" cy="5228453"/>
          </a:xfrm>
          <a:prstGeom prst="rect">
            <a:avLst/>
          </a:prstGeom>
        </p:spPr>
      </p:pic>
      <p:sp>
        <p:nvSpPr>
          <p:cNvPr id="6" name="スライド番号プレースホルダー 2">
            <a:extLst>
              <a:ext uri="{FF2B5EF4-FFF2-40B4-BE49-F238E27FC236}">
                <a16:creationId xmlns:a16="http://schemas.microsoft.com/office/drawing/2014/main" id="{E5A64406-44DE-ABC5-3E9D-7FF3D36D25B8}"/>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14</a:t>
            </a:fld>
            <a:endParaRPr lang="ja-JP" altLang="en-US"/>
          </a:p>
        </p:txBody>
      </p:sp>
      <p:sp>
        <p:nvSpPr>
          <p:cNvPr id="8" name="フローチャート: 代替処理 7">
            <a:extLst>
              <a:ext uri="{FF2B5EF4-FFF2-40B4-BE49-F238E27FC236}">
                <a16:creationId xmlns:a16="http://schemas.microsoft.com/office/drawing/2014/main" id="{AF8071A2-A481-C5ED-76EF-523E6D0F8193}"/>
              </a:ext>
            </a:extLst>
          </p:cNvPr>
          <p:cNvSpPr/>
          <p:nvPr/>
        </p:nvSpPr>
        <p:spPr>
          <a:xfrm>
            <a:off x="6096000" y="4026712"/>
            <a:ext cx="2393091" cy="532932"/>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82E7130C-F16D-8CD6-DFFB-B4996911C6F4}"/>
              </a:ext>
            </a:extLst>
          </p:cNvPr>
          <p:cNvCxnSpPr>
            <a:cxnSpLocks/>
            <a:stCxn id="8" idx="1"/>
          </p:cNvCxnSpPr>
          <p:nvPr/>
        </p:nvCxnSpPr>
        <p:spPr>
          <a:xfrm flipH="1" flipV="1">
            <a:off x="5572897" y="3867665"/>
            <a:ext cx="523103" cy="425513"/>
          </a:xfrm>
          <a:prstGeom prst="straightConnector1">
            <a:avLst/>
          </a:prstGeom>
          <a:ln w="3175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5E939DAC-AFDA-36C0-796B-671ED852A68A}"/>
              </a:ext>
            </a:extLst>
          </p:cNvPr>
          <p:cNvSpPr txBox="1"/>
          <p:nvPr/>
        </p:nvSpPr>
        <p:spPr>
          <a:xfrm>
            <a:off x="6096000" y="4093123"/>
            <a:ext cx="2436886" cy="400110"/>
          </a:xfrm>
          <a:prstGeom prst="rect">
            <a:avLst/>
          </a:prstGeom>
          <a:noFill/>
        </p:spPr>
        <p:txBody>
          <a:bodyPr wrap="none" rtlCol="0">
            <a:spAutoFit/>
          </a:bodyPr>
          <a:lstStyle/>
          <a:p>
            <a:r>
              <a:rPr kumimoji="1" lang="en-US" altLang="ja-JP" sz="2000" dirty="0">
                <a:latin typeface="Arial" panose="020B0604020202020204" pitchFamily="34" charset="0"/>
                <a:cs typeface="Arial" panose="020B0604020202020204" pitchFamily="34" charset="0"/>
              </a:rPr>
              <a:t>Show improvement</a:t>
            </a:r>
            <a:endParaRPr kumimoji="1" lang="ja-JP" altLang="en-US" sz="2000">
              <a:latin typeface="Arial" panose="020B0604020202020204" pitchFamily="34" charset="0"/>
              <a:cs typeface="Arial" panose="020B0604020202020204" pitchFamily="34" charset="0"/>
            </a:endParaRPr>
          </a:p>
        </p:txBody>
      </p:sp>
      <p:sp>
        <p:nvSpPr>
          <p:cNvPr id="17" name="テキスト ボックス 16">
            <a:extLst>
              <a:ext uri="{FF2B5EF4-FFF2-40B4-BE49-F238E27FC236}">
                <a16:creationId xmlns:a16="http://schemas.microsoft.com/office/drawing/2014/main" id="{0B69EE24-5563-6F38-B44E-0C6733148769}"/>
              </a:ext>
            </a:extLst>
          </p:cNvPr>
          <p:cNvSpPr txBox="1"/>
          <p:nvPr/>
        </p:nvSpPr>
        <p:spPr>
          <a:xfrm>
            <a:off x="8532886" y="4026712"/>
            <a:ext cx="3416803" cy="1938992"/>
          </a:xfrm>
          <a:prstGeom prst="rect">
            <a:avLst/>
          </a:prstGeom>
          <a:noFill/>
        </p:spPr>
        <p:txBody>
          <a:bodyPr wrap="squar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earch state become small,</a:t>
            </a:r>
            <a:r>
              <a:rPr lang="en-US" altLang="ja-JP" sz="2400" dirty="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the controller may still try to re</a:t>
            </a:r>
            <a:r>
              <a:rPr lang="en-US" altLang="ja-JP" sz="2400" dirty="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observe the state at short intervals</a:t>
            </a:r>
          </a:p>
        </p:txBody>
      </p:sp>
      <p:sp>
        <p:nvSpPr>
          <p:cNvPr id="18" name="テキスト ボックス 17">
            <a:extLst>
              <a:ext uri="{FF2B5EF4-FFF2-40B4-BE49-F238E27FC236}">
                <a16:creationId xmlns:a16="http://schemas.microsoft.com/office/drawing/2014/main" id="{B65760A6-3A88-8759-F247-211F493C209C}"/>
              </a:ext>
            </a:extLst>
          </p:cNvPr>
          <p:cNvSpPr txBox="1"/>
          <p:nvPr/>
        </p:nvSpPr>
        <p:spPr>
          <a:xfrm>
            <a:off x="8532886" y="1705543"/>
            <a:ext cx="3416803" cy="1938992"/>
          </a:xfrm>
          <a:prstGeom prst="rect">
            <a:avLst/>
          </a:prstGeom>
          <a:noFill/>
        </p:spPr>
        <p:txBody>
          <a:bodyPr wrap="square" rtlCol="0">
            <a:spAutoFit/>
          </a:bodyPr>
          <a:lstStyle/>
          <a:p>
            <a:pPr marL="342900" indent="-342900">
              <a:buFont typeface="Wingdings" pitchFamily="2" charset="2"/>
              <a:buChar char="Ø"/>
            </a:pPr>
            <a:r>
              <a:rPr lang="ja-JP" altLang="ja-JP" sz="2400">
                <a:latin typeface="Arial" panose="020B0604020202020204" pitchFamily="34" charset="0"/>
                <a:cs typeface="Arial" panose="020B0604020202020204" pitchFamily="34" charset="0"/>
              </a:rPr>
              <a:t>This confirms that the parameters are adaptively changed depending on the state</a:t>
            </a:r>
          </a:p>
        </p:txBody>
      </p:sp>
    </p:spTree>
    <p:extLst>
      <p:ext uri="{BB962C8B-B14F-4D97-AF65-F5344CB8AC3E}">
        <p14:creationId xmlns:p14="http://schemas.microsoft.com/office/powerpoint/2010/main" val="431159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フローチャート: 代替処理 19">
            <a:extLst>
              <a:ext uri="{FF2B5EF4-FFF2-40B4-BE49-F238E27FC236}">
                <a16:creationId xmlns:a16="http://schemas.microsoft.com/office/drawing/2014/main" id="{90862686-4739-64F9-34C1-CCB44F842807}"/>
              </a:ext>
            </a:extLst>
          </p:cNvPr>
          <p:cNvSpPr/>
          <p:nvPr/>
        </p:nvSpPr>
        <p:spPr>
          <a:xfrm>
            <a:off x="476992" y="4139053"/>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ローチャート: 代替処理 18">
            <a:extLst>
              <a:ext uri="{FF2B5EF4-FFF2-40B4-BE49-F238E27FC236}">
                <a16:creationId xmlns:a16="http://schemas.microsoft.com/office/drawing/2014/main" id="{3F3A34DA-FAC7-8ED0-6E89-479E0B7BC4BA}"/>
              </a:ext>
            </a:extLst>
          </p:cNvPr>
          <p:cNvSpPr/>
          <p:nvPr/>
        </p:nvSpPr>
        <p:spPr>
          <a:xfrm>
            <a:off x="476992" y="3152112"/>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フローチャート: 代替処理 17">
            <a:extLst>
              <a:ext uri="{FF2B5EF4-FFF2-40B4-BE49-F238E27FC236}">
                <a16:creationId xmlns:a16="http://schemas.microsoft.com/office/drawing/2014/main" id="{945F8AAA-C9D5-4644-6304-2A06B0F706C7}"/>
              </a:ext>
            </a:extLst>
          </p:cNvPr>
          <p:cNvSpPr/>
          <p:nvPr/>
        </p:nvSpPr>
        <p:spPr>
          <a:xfrm>
            <a:off x="476992" y="2188314"/>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フローチャート: 代替処理 8">
            <a:extLst>
              <a:ext uri="{FF2B5EF4-FFF2-40B4-BE49-F238E27FC236}">
                <a16:creationId xmlns:a16="http://schemas.microsoft.com/office/drawing/2014/main" id="{BD2B2B76-F990-98DD-381B-24DDC94A5A06}"/>
              </a:ext>
            </a:extLst>
          </p:cNvPr>
          <p:cNvSpPr/>
          <p:nvPr/>
        </p:nvSpPr>
        <p:spPr>
          <a:xfrm>
            <a:off x="476992" y="1248093"/>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73B7800-8A3A-716D-4320-52F0345A4F53}"/>
              </a:ext>
            </a:extLst>
          </p:cNvPr>
          <p:cNvSpPr>
            <a:spLocks noGrp="1"/>
          </p:cNvSpPr>
          <p:nvPr>
            <p:ph type="title"/>
          </p:nvPr>
        </p:nvSpPr>
        <p:spPr/>
        <p:txBody>
          <a:bodyPr>
            <a:normAutofit fontScale="90000"/>
          </a:bodyPr>
          <a:lstStyle/>
          <a:p>
            <a:r>
              <a:rPr lang="en-US" altLang="ja-JP" b="1" dirty="0">
                <a:latin typeface="Arial" panose="020B0604020202020204" pitchFamily="34" charset="0"/>
                <a:cs typeface="Arial" panose="020B0604020202020204" pitchFamily="34" charset="0"/>
              </a:rPr>
              <a:t>Conclusion &amp; Summary</a:t>
            </a:r>
            <a:endParaRPr kumimoji="1" lang="ja-JP" altLang="en-US" b="1">
              <a:latin typeface="Arial" panose="020B0604020202020204" pitchFamily="34" charset="0"/>
              <a:cs typeface="Arial" panose="020B0604020202020204" pitchFamily="34" charset="0"/>
            </a:endParaRPr>
          </a:p>
        </p:txBody>
      </p:sp>
      <p:sp>
        <p:nvSpPr>
          <p:cNvPr id="3" name="スライド番号プレースホルダー 2">
            <a:extLst>
              <a:ext uri="{FF2B5EF4-FFF2-40B4-BE49-F238E27FC236}">
                <a16:creationId xmlns:a16="http://schemas.microsoft.com/office/drawing/2014/main" id="{06E3AFFC-D7D5-7FF8-902C-DFF805DE4495}"/>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15</a:t>
            </a:fld>
            <a:endParaRPr lang="ja-JP" altLang="en-US"/>
          </a:p>
        </p:txBody>
      </p:sp>
      <p:sp>
        <p:nvSpPr>
          <p:cNvPr id="4" name="テキスト ボックス 3">
            <a:extLst>
              <a:ext uri="{FF2B5EF4-FFF2-40B4-BE49-F238E27FC236}">
                <a16:creationId xmlns:a16="http://schemas.microsoft.com/office/drawing/2014/main" id="{B4787855-556B-994B-67D5-90E2EC4F4CE5}"/>
              </a:ext>
            </a:extLst>
          </p:cNvPr>
          <p:cNvSpPr txBox="1"/>
          <p:nvPr/>
        </p:nvSpPr>
        <p:spPr>
          <a:xfrm>
            <a:off x="687847" y="1190600"/>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Objective</a:t>
            </a:r>
            <a:r>
              <a:rPr lang="en-US" altLang="ja-JP" sz="2800" dirty="0">
                <a:latin typeface="Arial" panose="020B0604020202020204" pitchFamily="34" charset="0"/>
                <a:cs typeface="Arial" panose="020B0604020202020204" pitchFamily="34" charset="0"/>
              </a:rPr>
              <a:t> : </a:t>
            </a:r>
            <a:r>
              <a:rPr lang="ja-JP" altLang="ja-JP" sz="2800">
                <a:latin typeface="Arial" panose="020B0604020202020204" pitchFamily="34" charset="0"/>
                <a:cs typeface="Arial" panose="020B0604020202020204" pitchFamily="34" charset="0"/>
              </a:rPr>
              <a:t>Improvi</a:t>
            </a:r>
            <a:r>
              <a:rPr lang="en-US" altLang="ja-JP" sz="2800" dirty="0">
                <a:latin typeface="Arial" panose="020B0604020202020204" pitchFamily="34" charset="0"/>
                <a:cs typeface="Arial" panose="020B0604020202020204" pitchFamily="34" charset="0"/>
              </a:rPr>
              <a:t>ng</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d</a:t>
            </a:r>
            <a:r>
              <a:rPr lang="ja-JP" altLang="ja-JP" sz="2800">
                <a:latin typeface="Arial" panose="020B0604020202020204" pitchFamily="34" charset="0"/>
                <a:cs typeface="Arial" panose="020B0604020202020204" pitchFamily="34" charset="0"/>
              </a:rPr>
              <a:t>iversity </a:t>
            </a:r>
            <a:r>
              <a:rPr lang="en-US" altLang="ja-JP" sz="2800" dirty="0">
                <a:latin typeface="Arial" panose="020B0604020202020204" pitchFamily="34" charset="0"/>
                <a:cs typeface="Arial" panose="020B0604020202020204" pitchFamily="34" charset="0"/>
              </a:rPr>
              <a:t>&amp;</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c</a:t>
            </a:r>
            <a:r>
              <a:rPr lang="ja-JP" altLang="ja-JP" sz="2800">
                <a:latin typeface="Arial" panose="020B0604020202020204" pitchFamily="34" charset="0"/>
                <a:cs typeface="Arial" panose="020B0604020202020204" pitchFamily="34" charset="0"/>
              </a:rPr>
              <a:t>onvergenc</a:t>
            </a:r>
            <a:r>
              <a:rPr lang="en-US" altLang="ja-JP" sz="2800" dirty="0">
                <a:latin typeface="Arial" panose="020B0604020202020204" pitchFamily="34" charset="0"/>
                <a:cs typeface="Arial" panose="020B0604020202020204" pitchFamily="34" charset="0"/>
              </a:rPr>
              <a:t>y</a:t>
            </a:r>
            <a:r>
              <a:rPr lang="ja-JP" altLang="ja-JP" sz="2800">
                <a:latin typeface="Arial" panose="020B0604020202020204" pitchFamily="34" charset="0"/>
                <a:cs typeface="Arial" panose="020B0604020202020204" pitchFamily="34" charset="0"/>
              </a:rPr>
              <a:t> throug</a:t>
            </a:r>
            <a:r>
              <a:rPr lang="en-US" altLang="ja-JP" sz="2800" dirty="0">
                <a:latin typeface="Arial" panose="020B0604020202020204" pitchFamily="34" charset="0"/>
                <a:cs typeface="Arial" panose="020B0604020202020204" pitchFamily="34" charset="0"/>
              </a:rPr>
              <a:t>h </a:t>
            </a:r>
          </a:p>
          <a:p>
            <a:r>
              <a:rPr lang="en-US" altLang="ja-JP" sz="2800" dirty="0">
                <a:solidFill>
                  <a:srgbClr val="FF0000"/>
                </a:solidFill>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 dynamic a</a:t>
            </a:r>
            <a:r>
              <a:rPr lang="ja-JP" altLang="ja-JP" sz="2800">
                <a:latin typeface="Arial" panose="020B0604020202020204" pitchFamily="34" charset="0"/>
                <a:cs typeface="Arial" panose="020B0604020202020204" pitchFamily="34" charset="0"/>
              </a:rPr>
              <a:t>djustment of </a:t>
            </a:r>
            <a:r>
              <a:rPr lang="en-US" altLang="ja-JP" sz="2800" dirty="0">
                <a:latin typeface="Arial" panose="020B0604020202020204" pitchFamily="34" charset="0"/>
                <a:cs typeface="Arial" panose="020B0604020202020204" pitchFamily="34" charset="0"/>
              </a:rPr>
              <a:t>c</a:t>
            </a:r>
            <a:r>
              <a:rPr lang="ja-JP" altLang="ja-JP" sz="2800">
                <a:latin typeface="Arial" panose="020B0604020202020204" pitchFamily="34" charset="0"/>
                <a:cs typeface="Arial" panose="020B0604020202020204" pitchFamily="34" charset="0"/>
              </a:rPr>
              <a:t>ro</a:t>
            </a:r>
            <a:r>
              <a:rPr lang="en-US" altLang="ja-JP" sz="2800" dirty="0">
                <a:latin typeface="Arial" panose="020B0604020202020204" pitchFamily="34" charset="0"/>
                <a:cs typeface="Arial" panose="020B0604020202020204" pitchFamily="34" charset="0"/>
              </a:rPr>
              <a:t>a</a:t>
            </a:r>
            <a:r>
              <a:rPr lang="ja-JP" altLang="ja-JP" sz="2800">
                <a:latin typeface="Arial" panose="020B0604020202020204" pitchFamily="34" charset="0"/>
                <a:cs typeface="Arial" panose="020B0604020202020204" pitchFamily="34" charset="0"/>
              </a:rPr>
              <a:t>ssover </a:t>
            </a:r>
            <a:r>
              <a:rPr lang="en-US" altLang="ja-JP" sz="2800" dirty="0">
                <a:latin typeface="Arial" panose="020B0604020202020204" pitchFamily="34" charset="0"/>
                <a:cs typeface="Arial" panose="020B0604020202020204" pitchFamily="34" charset="0"/>
              </a:rPr>
              <a:t>&amp;</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m</a:t>
            </a:r>
            <a:r>
              <a:rPr lang="ja-JP" altLang="ja-JP" sz="2800">
                <a:latin typeface="Arial" panose="020B0604020202020204" pitchFamily="34" charset="0"/>
                <a:cs typeface="Arial" panose="020B0604020202020204" pitchFamily="34" charset="0"/>
              </a:rPr>
              <a:t>utation </a:t>
            </a:r>
            <a:r>
              <a:rPr lang="en-US" altLang="ja-JP" sz="2800" dirty="0">
                <a:latin typeface="Arial" panose="020B0604020202020204" pitchFamily="34" charset="0"/>
                <a:cs typeface="Arial" panose="020B0604020202020204" pitchFamily="34" charset="0"/>
              </a:rPr>
              <a:t>r</a:t>
            </a:r>
            <a:r>
              <a:rPr lang="ja-JP" altLang="ja-JP" sz="2800">
                <a:latin typeface="Arial" panose="020B0604020202020204" pitchFamily="34" charset="0"/>
                <a:cs typeface="Arial" panose="020B0604020202020204" pitchFamily="34" charset="0"/>
              </a:rPr>
              <a:t>ates</a:t>
            </a:r>
          </a:p>
        </p:txBody>
      </p:sp>
      <p:sp>
        <p:nvSpPr>
          <p:cNvPr id="12" name="テキスト ボックス 11">
            <a:extLst>
              <a:ext uri="{FF2B5EF4-FFF2-40B4-BE49-F238E27FC236}">
                <a16:creationId xmlns:a16="http://schemas.microsoft.com/office/drawing/2014/main" id="{0F31BE11-0C11-F7BF-223C-378AD4D86AAD}"/>
              </a:ext>
            </a:extLst>
          </p:cNvPr>
          <p:cNvSpPr txBox="1"/>
          <p:nvPr/>
        </p:nvSpPr>
        <p:spPr>
          <a:xfrm>
            <a:off x="687847" y="2142285"/>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Proposal</a:t>
            </a:r>
            <a:r>
              <a:rPr lang="en-US" altLang="ja-JP" sz="2800" dirty="0">
                <a:latin typeface="Arial" panose="020B0604020202020204" pitchFamily="34" charset="0"/>
                <a:cs typeface="Arial" panose="020B0604020202020204" pitchFamily="34" charset="0"/>
              </a:rPr>
              <a:t> : View as a closed loop control problem</a:t>
            </a:r>
            <a:br>
              <a:rPr lang="en-US" altLang="ja-JP" sz="2800" dirty="0">
                <a:latin typeface="Arial" panose="020B0604020202020204" pitchFamily="34" charset="0"/>
                <a:cs typeface="Arial" panose="020B0604020202020204" pitchFamily="34" charset="0"/>
              </a:rPr>
            </a:br>
            <a:r>
              <a:rPr lang="en-US" altLang="ja-JP" sz="2800" dirty="0">
                <a:latin typeface="Arial" panose="020B0604020202020204" pitchFamily="34" charset="0"/>
                <a:cs typeface="Arial" panose="020B0604020202020204" pitchFamily="34" charset="0"/>
              </a:rPr>
              <a:t>                   Adjust c</a:t>
            </a:r>
            <a:r>
              <a:rPr lang="ja-JP" altLang="ja-JP" sz="2800">
                <a:latin typeface="Arial" panose="020B0604020202020204" pitchFamily="34" charset="0"/>
                <a:cs typeface="Arial" panose="020B0604020202020204" pitchFamily="34" charset="0"/>
              </a:rPr>
              <a:t>rossover</a:t>
            </a:r>
            <a:r>
              <a:rPr lang="en-US" altLang="ja-JP" sz="2800" dirty="0">
                <a:latin typeface="Arial" panose="020B0604020202020204" pitchFamily="34" charset="0"/>
                <a:cs typeface="Arial" panose="020B0604020202020204" pitchFamily="34" charset="0"/>
              </a:rPr>
              <a:t> &amp; m</a:t>
            </a:r>
            <a:r>
              <a:rPr lang="ja-JP" altLang="ja-JP" sz="2800">
                <a:latin typeface="Arial" panose="020B0604020202020204" pitchFamily="34" charset="0"/>
                <a:cs typeface="Arial" panose="020B0604020202020204" pitchFamily="34" charset="0"/>
              </a:rPr>
              <a:t>utation </a:t>
            </a:r>
            <a:r>
              <a:rPr lang="en-US" altLang="ja-JP" sz="2800" dirty="0">
                <a:latin typeface="Arial" panose="020B0604020202020204" pitchFamily="34" charset="0"/>
                <a:cs typeface="Arial" panose="020B0604020202020204" pitchFamily="34" charset="0"/>
              </a:rPr>
              <a:t>r</a:t>
            </a:r>
            <a:r>
              <a:rPr lang="ja-JP" altLang="ja-JP" sz="2800">
                <a:latin typeface="Arial" panose="020B0604020202020204" pitchFamily="34" charset="0"/>
                <a:cs typeface="Arial" panose="020B0604020202020204" pitchFamily="34" charset="0"/>
              </a:rPr>
              <a:t>ates</a:t>
            </a:r>
            <a:r>
              <a:rPr lang="en-US" altLang="ja-JP" sz="2800" dirty="0">
                <a:latin typeface="Arial" panose="020B0604020202020204" pitchFamily="34" charset="0"/>
                <a:cs typeface="Arial" panose="020B0604020202020204" pitchFamily="34" charset="0"/>
              </a:rPr>
              <a:t>, update-timing</a:t>
            </a:r>
            <a:endParaRPr lang="ja-JP" altLang="ja-JP" sz="2800">
              <a:latin typeface="Arial" panose="020B0604020202020204" pitchFamily="34" charset="0"/>
              <a:cs typeface="Arial" panose="020B0604020202020204" pitchFamily="34" charset="0"/>
            </a:endParaRPr>
          </a:p>
        </p:txBody>
      </p:sp>
      <p:sp>
        <p:nvSpPr>
          <p:cNvPr id="14" name="テキスト ボックス 13">
            <a:extLst>
              <a:ext uri="{FF2B5EF4-FFF2-40B4-BE49-F238E27FC236}">
                <a16:creationId xmlns:a16="http://schemas.microsoft.com/office/drawing/2014/main" id="{E02E6C66-7AF4-1D25-E0DC-38610B8D58A4}"/>
              </a:ext>
            </a:extLst>
          </p:cNvPr>
          <p:cNvSpPr txBox="1"/>
          <p:nvPr/>
        </p:nvSpPr>
        <p:spPr>
          <a:xfrm>
            <a:off x="687847" y="3095641"/>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Result</a:t>
            </a:r>
            <a:r>
              <a:rPr lang="en-US" altLang="ja-JP" sz="2800" dirty="0">
                <a:latin typeface="Arial" panose="020B0604020202020204" pitchFamily="34" charset="0"/>
                <a:cs typeface="Arial" panose="020B0604020202020204" pitchFamily="34" charset="0"/>
              </a:rPr>
              <a:t> : Improvement trend compared to fixed parameters </a:t>
            </a:r>
          </a:p>
          <a:p>
            <a:r>
              <a:rPr lang="en-US" altLang="ja-JP" sz="2800" dirty="0">
                <a:solidFill>
                  <a:srgbClr val="FF0000"/>
                </a:solidFill>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High mutation wins proposed method</a:t>
            </a:r>
            <a:endParaRPr lang="ja-JP" altLang="ja-JP" sz="2800">
              <a:latin typeface="Arial" panose="020B0604020202020204" pitchFamily="34" charset="0"/>
              <a:cs typeface="Arial" panose="020B0604020202020204" pitchFamily="34" charset="0"/>
            </a:endParaRPr>
          </a:p>
        </p:txBody>
      </p:sp>
      <p:sp>
        <p:nvSpPr>
          <p:cNvPr id="16" name="テキスト ボックス 15">
            <a:extLst>
              <a:ext uri="{FF2B5EF4-FFF2-40B4-BE49-F238E27FC236}">
                <a16:creationId xmlns:a16="http://schemas.microsoft.com/office/drawing/2014/main" id="{833DD05F-9377-1C87-946D-BA7C26EF19EE}"/>
              </a:ext>
            </a:extLst>
          </p:cNvPr>
          <p:cNvSpPr txBox="1"/>
          <p:nvPr/>
        </p:nvSpPr>
        <p:spPr>
          <a:xfrm>
            <a:off x="687847" y="4097540"/>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Conclusion</a:t>
            </a:r>
            <a:r>
              <a:rPr lang="en-US" altLang="ja-JP" sz="2800" dirty="0">
                <a:latin typeface="Arial" panose="020B0604020202020204" pitchFamily="34" charset="0"/>
                <a:cs typeface="Arial" panose="020B0604020202020204" pitchFamily="34" charset="0"/>
              </a:rPr>
              <a:t> : Indicates </a:t>
            </a:r>
            <a:r>
              <a:rPr lang="ja-JP" altLang="ja-JP" sz="2800">
                <a:latin typeface="Arial" panose="020B0604020202020204" pitchFamily="34" charset="0"/>
                <a:cs typeface="Arial" panose="020B0604020202020204" pitchFamily="34" charset="0"/>
              </a:rPr>
              <a:t>that closed-loop control can potentially</a:t>
            </a:r>
            <a:endParaRPr lang="en-US" altLang="ja-JP" sz="2800" dirty="0">
              <a:latin typeface="Arial" panose="020B0604020202020204" pitchFamily="34" charset="0"/>
              <a:cs typeface="Arial" panose="020B0604020202020204" pitchFamily="34" charset="0"/>
            </a:endParaRPr>
          </a:p>
          <a:p>
            <a:r>
              <a:rPr lang="ja-JP" altLang="en-US"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 balance diversity &amp; convergency preservation</a:t>
            </a:r>
            <a:endParaRPr lang="ja-JP" altLang="ja-JP" sz="2800">
              <a:latin typeface="Arial" panose="020B0604020202020204" pitchFamily="34" charset="0"/>
              <a:cs typeface="Arial" panose="020B0604020202020204" pitchFamily="34" charset="0"/>
            </a:endParaRPr>
          </a:p>
        </p:txBody>
      </p:sp>
      <p:sp>
        <p:nvSpPr>
          <p:cNvPr id="17" name="テキスト ボックス 16">
            <a:extLst>
              <a:ext uri="{FF2B5EF4-FFF2-40B4-BE49-F238E27FC236}">
                <a16:creationId xmlns:a16="http://schemas.microsoft.com/office/drawing/2014/main" id="{A7B56798-4B28-56DA-20B5-3D6CDC94F78C}"/>
              </a:ext>
            </a:extLst>
          </p:cNvPr>
          <p:cNvSpPr txBox="1"/>
          <p:nvPr/>
        </p:nvSpPr>
        <p:spPr>
          <a:xfrm>
            <a:off x="8349154" y="6169244"/>
            <a:ext cx="3365500" cy="400110"/>
          </a:xfrm>
          <a:prstGeom prst="rect">
            <a:avLst/>
          </a:prstGeom>
          <a:noFill/>
        </p:spPr>
        <p:txBody>
          <a:bodyPr wrap="square" rtlCol="0">
            <a:spAutoFit/>
          </a:bodyPr>
          <a:lstStyle/>
          <a:p>
            <a:r>
              <a:rPr lang="en-US" altLang="ja-JP" sz="2000" dirty="0">
                <a:latin typeface="Arial" panose="020B0604020202020204" pitchFamily="34" charset="0"/>
                <a:cs typeface="Arial" panose="020B0604020202020204" pitchFamily="34" charset="0"/>
              </a:rPr>
              <a:t>Thank you for your attention</a:t>
            </a:r>
            <a:r>
              <a:rPr kumimoji="1" lang="en-US" altLang="ja-JP" sz="2000" dirty="0">
                <a:latin typeface="Arial" panose="020B0604020202020204" pitchFamily="34" charset="0"/>
                <a:cs typeface="Arial" panose="020B0604020202020204" pitchFamily="34" charset="0"/>
              </a:rPr>
              <a:t>.</a:t>
            </a:r>
            <a:endParaRPr kumimoji="1" lang="ja-JP" altLang="en-US" sz="2000">
              <a:latin typeface="Arial" panose="020B0604020202020204" pitchFamily="34" charset="0"/>
              <a:cs typeface="Arial" panose="020B0604020202020204" pitchFamily="34" charset="0"/>
            </a:endParaRPr>
          </a:p>
        </p:txBody>
      </p:sp>
      <p:sp>
        <p:nvSpPr>
          <p:cNvPr id="21" name="フローチャート: 代替処理 20">
            <a:extLst>
              <a:ext uri="{FF2B5EF4-FFF2-40B4-BE49-F238E27FC236}">
                <a16:creationId xmlns:a16="http://schemas.microsoft.com/office/drawing/2014/main" id="{80366FE6-74C8-E6A7-3F74-21242A3EBB29}"/>
              </a:ext>
            </a:extLst>
          </p:cNvPr>
          <p:cNvSpPr/>
          <p:nvPr/>
        </p:nvSpPr>
        <p:spPr>
          <a:xfrm>
            <a:off x="476992" y="5130766"/>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ED96ADC-1C2F-56C1-238D-F9313B375272}"/>
              </a:ext>
            </a:extLst>
          </p:cNvPr>
          <p:cNvSpPr txBox="1"/>
          <p:nvPr/>
        </p:nvSpPr>
        <p:spPr>
          <a:xfrm>
            <a:off x="687847" y="5089253"/>
            <a:ext cx="10815951" cy="1384995"/>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Future work</a:t>
            </a:r>
            <a:r>
              <a:rPr lang="en-US" altLang="ja-JP" sz="2800" dirty="0">
                <a:latin typeface="Arial" panose="020B0604020202020204" pitchFamily="34" charset="0"/>
                <a:cs typeface="Arial" panose="020B0604020202020204" pitchFamily="34" charset="0"/>
              </a:rPr>
              <a:t> : Redesign reward, Compare with other situation</a:t>
            </a:r>
            <a:br>
              <a:rPr lang="en-US" altLang="ja-JP" sz="2800" dirty="0">
                <a:latin typeface="Arial" panose="020B0604020202020204" pitchFamily="34" charset="0"/>
                <a:cs typeface="Arial" panose="020B0604020202020204" pitchFamily="34" charset="0"/>
              </a:rPr>
            </a:br>
            <a:r>
              <a:rPr lang="ja-JP" altLang="en-US"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  Test with other problem                        etc.</a:t>
            </a:r>
          </a:p>
          <a:p>
            <a:r>
              <a:rPr lang="en-US" altLang="ja-JP" sz="2800" dirty="0">
                <a:solidFill>
                  <a:srgbClr val="FF0000"/>
                </a:solidFill>
                <a:latin typeface="Arial" panose="020B0604020202020204" pitchFamily="34" charset="0"/>
                <a:cs typeface="Arial" panose="020B0604020202020204" pitchFamily="34" charset="0"/>
              </a:rPr>
              <a:t>                   </a:t>
            </a:r>
            <a:endParaRPr lang="ja-JP" altLang="ja-JP"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2965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フローチャート: 代替処理 8">
            <a:extLst>
              <a:ext uri="{FF2B5EF4-FFF2-40B4-BE49-F238E27FC236}">
                <a16:creationId xmlns:a16="http://schemas.microsoft.com/office/drawing/2014/main" id="{EC11E00C-8053-8158-4A33-4DF118EC8D59}"/>
              </a:ext>
            </a:extLst>
          </p:cNvPr>
          <p:cNvSpPr>
            <a:spLocks noGrp="1"/>
          </p:cNvSpPr>
          <p:nvPr/>
        </p:nvSpPr>
        <p:spPr>
          <a:xfrm>
            <a:off x="616084" y="1481961"/>
            <a:ext cx="10959831" cy="1785995"/>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スライド番号プレースホルダー 2">
            <a:extLst>
              <a:ext uri="{FF2B5EF4-FFF2-40B4-BE49-F238E27FC236}">
                <a16:creationId xmlns:a16="http://schemas.microsoft.com/office/drawing/2014/main" id="{E4FD9948-659C-1478-A9B0-6CD3EFC89DB4}"/>
              </a:ext>
            </a:extLst>
          </p:cNvPr>
          <p:cNvSpPr>
            <a:spLocks noGrp="1"/>
          </p:cNvSpPr>
          <p:nvPr>
            <p:ph type="sldNum" idx="12"/>
          </p:nvPr>
        </p:nvSpPr>
        <p:spPr>
          <a:xfrm>
            <a:off x="9202121" y="368959"/>
            <a:ext cx="1841809" cy="546400"/>
          </a:xfrm>
        </p:spPr>
        <p:txBody>
          <a:bodyPr/>
          <a:lstStyle/>
          <a:p>
            <a:fld id="{A9AD3F58-349D-3A41-BFFC-DA89322664A4}" type="slidenum">
              <a:rPr/>
              <a:t>16</a:t>
            </a:fld>
            <a:endParaRPr/>
          </a:p>
        </p:txBody>
      </p:sp>
      <p:sp>
        <p:nvSpPr>
          <p:cNvPr id="3" name="テキスト ボックス 2">
            <a:extLst>
              <a:ext uri="{FF2B5EF4-FFF2-40B4-BE49-F238E27FC236}">
                <a16:creationId xmlns:a16="http://schemas.microsoft.com/office/drawing/2014/main" id="{9DA7C9A0-DBFE-C472-09DD-436AFC10B4BC}"/>
              </a:ext>
            </a:extLst>
          </p:cNvPr>
          <p:cNvSpPr>
            <a:spLocks noGrp="1"/>
          </p:cNvSpPr>
          <p:nvPr/>
        </p:nvSpPr>
        <p:spPr>
          <a:xfrm>
            <a:off x="762573" y="1682460"/>
            <a:ext cx="10522507" cy="1384995"/>
          </a:xfrm>
          <a:prstGeom prst="rect">
            <a:avLst/>
          </a:prstGeom>
          <a:noFill/>
        </p:spPr>
        <p:txBody>
          <a:bodyPr wrap="square" lIns="190500" tIns="76200" rIns="190500" bIns="76200" anchor="ctr">
            <a:normAutofit/>
          </a:bodyPr>
          <a:lstStyle/>
          <a:p>
            <a:pPr>
              <a:defRPr sz="2550" b="1">
                <a:solidFill>
                  <a:srgbClr val="17365D"/>
                </a:solidFill>
                <a:latin typeface="Arial"/>
                <a:ea typeface="Arial"/>
                <a:cs typeface="Arial"/>
              </a:defRPr>
            </a:pPr>
            <a:r>
              <a:rPr sz="2800" b="1" dirty="0">
                <a:latin typeface="Arial"/>
                <a:ea typeface="Arial"/>
                <a:cs typeface="Arial"/>
              </a:rPr>
              <a:t>Does the proposed method's quality gain justify its additional computation time?</a:t>
            </a:r>
          </a:p>
        </p:txBody>
      </p:sp>
      <p:sp>
        <p:nvSpPr>
          <p:cNvPr id="5" name="タイトル 4">
            <a:extLst>
              <a:ext uri="{FF2B5EF4-FFF2-40B4-BE49-F238E27FC236}">
                <a16:creationId xmlns:a16="http://schemas.microsoft.com/office/drawing/2014/main" id="{6F05AD6F-E85B-4785-A8E1-539C69F01A94}"/>
              </a:ext>
            </a:extLst>
          </p:cNvPr>
          <p:cNvSpPr>
            <a:spLocks noGrp="1"/>
          </p:cNvSpPr>
          <p:nvPr>
            <p:ph type="title"/>
          </p:nvPr>
        </p:nvSpPr>
        <p:spPr/>
        <p:txBody>
          <a:bodyPr>
            <a:normAutofit fontScale="90000"/>
          </a:bodyPr>
          <a:lstStyle/>
          <a:p>
            <a:r>
              <a:rPr lang="en" altLang="ja-JP" b="1" dirty="0">
                <a:solidFill>
                  <a:srgbClr val="000000"/>
                </a:solidFill>
                <a:latin typeface="Arial"/>
                <a:ea typeface="Arial"/>
                <a:cs typeface="Arial"/>
              </a:rPr>
              <a:t>Computation-Cost Experiment</a:t>
            </a:r>
            <a:endParaRPr lang="ja-JP" altLang="en-US"/>
          </a:p>
        </p:txBody>
      </p:sp>
      <p:sp>
        <p:nvSpPr>
          <p:cNvPr id="12" name="テキスト ボックス 11">
            <a:extLst>
              <a:ext uri="{FF2B5EF4-FFF2-40B4-BE49-F238E27FC236}">
                <a16:creationId xmlns:a16="http://schemas.microsoft.com/office/drawing/2014/main" id="{7F5F75A8-D289-009D-EC51-76312C8DE0C9}"/>
              </a:ext>
            </a:extLst>
          </p:cNvPr>
          <p:cNvSpPr txBox="1"/>
          <p:nvPr/>
        </p:nvSpPr>
        <p:spPr>
          <a:xfrm>
            <a:off x="762573" y="3678046"/>
            <a:ext cx="3684022" cy="523220"/>
          </a:xfrm>
          <a:prstGeom prst="rect">
            <a:avLst/>
          </a:prstGeom>
          <a:noFill/>
        </p:spPr>
        <p:txBody>
          <a:bodyPr wrap="none" rtlCol="0">
            <a:spAutoFit/>
          </a:bodyPr>
          <a:lstStyle/>
          <a:p>
            <a:r>
              <a:rPr lang="en-US" altLang="ja-JP" sz="2800" dirty="0">
                <a:latin typeface="Arial" panose="020B0604020202020204" pitchFamily="34" charset="0"/>
                <a:cs typeface="Arial" panose="020B0604020202020204" pitchFamily="34" charset="0"/>
              </a:rPr>
              <a:t>Additional </a:t>
            </a:r>
            <a:r>
              <a:rPr kumimoji="1" lang="en-US" altLang="ja-JP" sz="2800" dirty="0">
                <a:latin typeface="Arial" panose="020B0604020202020204" pitchFamily="34" charset="0"/>
                <a:cs typeface="Arial" panose="020B0604020202020204" pitchFamily="34" charset="0"/>
              </a:rPr>
              <a:t>Experiment</a:t>
            </a:r>
            <a:endParaRPr kumimoji="1" lang="ja-JP" altLang="en-US" sz="2800">
              <a:latin typeface="Arial" panose="020B0604020202020204" pitchFamily="34" charset="0"/>
              <a:cs typeface="Arial" panose="020B0604020202020204" pitchFamily="34" charset="0"/>
            </a:endParaRPr>
          </a:p>
        </p:txBody>
      </p:sp>
      <p:sp>
        <p:nvSpPr>
          <p:cNvPr id="14" name="テキスト ボックス 13">
            <a:extLst>
              <a:ext uri="{FF2B5EF4-FFF2-40B4-BE49-F238E27FC236}">
                <a16:creationId xmlns:a16="http://schemas.microsoft.com/office/drawing/2014/main" id="{DA49A591-9602-0091-3095-87DEC98E6CFC}"/>
              </a:ext>
            </a:extLst>
          </p:cNvPr>
          <p:cNvSpPr txBox="1"/>
          <p:nvPr/>
        </p:nvSpPr>
        <p:spPr>
          <a:xfrm>
            <a:off x="1262743" y="4349746"/>
            <a:ext cx="4201791"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1. Overall time for search</a:t>
            </a:r>
            <a:endParaRPr kumimoji="1" lang="ja-JP" altLang="en-US" sz="2800">
              <a:latin typeface="Arial" panose="020B0604020202020204" pitchFamily="34" charset="0"/>
              <a:cs typeface="Arial" panose="020B0604020202020204" pitchFamily="34" charset="0"/>
            </a:endParaRPr>
          </a:p>
        </p:txBody>
      </p:sp>
      <p:sp>
        <p:nvSpPr>
          <p:cNvPr id="19" name="テキスト ボックス 18">
            <a:extLst>
              <a:ext uri="{FF2B5EF4-FFF2-40B4-BE49-F238E27FC236}">
                <a16:creationId xmlns:a16="http://schemas.microsoft.com/office/drawing/2014/main" id="{32279434-C9CC-EF0C-6962-2B03A8D0502A}"/>
              </a:ext>
            </a:extLst>
          </p:cNvPr>
          <p:cNvSpPr txBox="1"/>
          <p:nvPr/>
        </p:nvSpPr>
        <p:spPr>
          <a:xfrm>
            <a:off x="1262743" y="5104489"/>
            <a:ext cx="4482317" cy="523220"/>
          </a:xfrm>
          <a:prstGeom prst="rect">
            <a:avLst/>
          </a:prstGeom>
          <a:noFill/>
        </p:spPr>
        <p:txBody>
          <a:bodyPr wrap="none" rtlCol="0">
            <a:spAutoFit/>
          </a:bodyPr>
          <a:lstStyle/>
          <a:p>
            <a:r>
              <a:rPr lang="en-US" altLang="ja-JP" sz="2800" dirty="0">
                <a:latin typeface="Arial" panose="020B0604020202020204" pitchFamily="34" charset="0"/>
                <a:cs typeface="Arial" panose="020B0604020202020204" pitchFamily="34" charset="0"/>
              </a:rPr>
              <a:t>2</a:t>
            </a:r>
            <a:r>
              <a:rPr kumimoji="1" lang="en-US" altLang="ja-JP" sz="2800" dirty="0">
                <a:latin typeface="Arial" panose="020B0604020202020204" pitchFamily="34" charset="0"/>
                <a:cs typeface="Arial" panose="020B0604020202020204" pitchFamily="34" charset="0"/>
              </a:rPr>
              <a:t>. Quality under same time</a:t>
            </a:r>
            <a:endParaRPr kumimoji="1" lang="ja-JP" alt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3077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4A182C-203F-865A-B804-EA5D0D005C87}"/>
              </a:ext>
            </a:extLst>
          </p:cNvPr>
          <p:cNvSpPr>
            <a:spLocks noGrp="1"/>
          </p:cNvSpPr>
          <p:nvPr>
            <p:ph type="title"/>
          </p:nvPr>
        </p:nvSpPr>
        <p:spPr/>
        <p:txBody>
          <a:bodyPr wrap="square" lIns="0" tIns="0" rIns="19050" bIns="0" anchor="ctr">
            <a:normAutofit/>
          </a:bodyPr>
          <a:lstStyle/>
          <a:p>
            <a:pPr>
              <a:defRPr sz="3450" b="1">
                <a:solidFill>
                  <a:srgbClr val="000000"/>
                </a:solidFill>
                <a:latin typeface="Arial"/>
                <a:ea typeface="Arial"/>
                <a:cs typeface="Arial"/>
              </a:defRPr>
            </a:pPr>
            <a:r>
              <a:rPr sz="4000" b="1" dirty="0">
                <a:solidFill>
                  <a:srgbClr val="000000"/>
                </a:solidFill>
                <a:latin typeface="Arial"/>
                <a:ea typeface="Arial"/>
                <a:cs typeface="Arial"/>
              </a:rPr>
              <a:t>Computation-Cost Experiment</a:t>
            </a:r>
          </a:p>
        </p:txBody>
      </p:sp>
      <p:sp>
        <p:nvSpPr>
          <p:cNvPr id="53" name="スライド番号プレースホルダー 2">
            <a:extLst>
              <a:ext uri="{FF2B5EF4-FFF2-40B4-BE49-F238E27FC236}">
                <a16:creationId xmlns:a16="http://schemas.microsoft.com/office/drawing/2014/main" id="{BA921769-1674-78B5-235F-7291BE69B5E7}"/>
              </a:ext>
            </a:extLst>
          </p:cNvPr>
          <p:cNvSpPr>
            <a:spLocks noGrp="1"/>
          </p:cNvSpPr>
          <p:nvPr>
            <p:ph type="sldNum" idx="12"/>
          </p:nvPr>
        </p:nvSpPr>
        <p:spPr>
          <a:xfrm>
            <a:off x="9202121" y="368959"/>
            <a:ext cx="1841809" cy="546400"/>
          </a:xfrm>
        </p:spPr>
        <p:txBody>
          <a:bodyPr/>
          <a:lstStyle/>
          <a:p>
            <a:fld id="{A9AD3F58-349D-3A41-BFFC-DA89322664A4}" type="slidenum">
              <a:rPr/>
              <a:t>17</a:t>
            </a:fld>
            <a:endParaRPr/>
          </a:p>
        </p:txBody>
      </p:sp>
      <mc:AlternateContent xmlns:mc="http://schemas.openxmlformats.org/markup-compatibility/2006">
        <mc:Choice xmlns:a14="http://schemas.microsoft.com/office/drawing/2010/main" Requires="a14">
          <p:graphicFrame>
            <p:nvGraphicFramePr>
              <p:cNvPr id="4" name="表 3">
                <a:extLst>
                  <a:ext uri="{FF2B5EF4-FFF2-40B4-BE49-F238E27FC236}">
                    <a16:creationId xmlns:a16="http://schemas.microsoft.com/office/drawing/2014/main" id="{B77FEB62-3A5E-0632-8A7B-4E8B630CD8F2}"/>
                  </a:ext>
                </a:extLst>
              </p:cNvPr>
              <p:cNvGraphicFramePr>
                <a:graphicFrameLocks noGrp="1"/>
              </p:cNvGraphicFramePr>
              <p:nvPr>
                <p:extLst>
                  <p:ext uri="{D42A27DB-BD31-4B8C-83A1-F6EECF244321}">
                    <p14:modId xmlns:p14="http://schemas.microsoft.com/office/powerpoint/2010/main" val="3309964818"/>
                  </p:ext>
                </p:extLst>
              </p:nvPr>
            </p:nvGraphicFramePr>
            <p:xfrm>
              <a:off x="785206" y="1436915"/>
              <a:ext cx="10615617" cy="218268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pPr algn="ctr"/>
                          <a:r>
                            <a:rPr kumimoji="1" lang="en-US" altLang="ja-JP" sz="2400" dirty="0"/>
                            <a:t>Crossover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𝒄</m:t>
                                  </m:r>
                                </m:sub>
                              </m:sSub>
                            </m:oMath>
                          </a14:m>
                          <a:endParaRPr kumimoji="1" lang="ja-JP" altLang="en-US" sz="2400"/>
                        </a:p>
                      </a:txBody>
                      <a:tcPr/>
                    </a:tc>
                    <a:tc>
                      <a:txBody>
                        <a:bodyPr/>
                        <a:lstStyle/>
                        <a:p>
                          <a:pPr algn="ctr"/>
                          <a:r>
                            <a:rPr kumimoji="1" lang="en-US" altLang="ja-JP" sz="2400" dirty="0"/>
                            <a:t>Mutation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𝒎</m:t>
                                  </m:r>
                                </m:sub>
                              </m:sSub>
                            </m:oMath>
                          </a14:m>
                          <a:endParaRPr kumimoji="1" lang="ja-JP" altLang="en-US" sz="2400"/>
                        </a:p>
                      </a:txBody>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bl>
              </a:graphicData>
            </a:graphic>
          </p:graphicFrame>
        </mc:Choice>
        <mc:Fallback>
          <p:graphicFrame>
            <p:nvGraphicFramePr>
              <p:cNvPr id="4" name="表 3">
                <a:extLst>
                  <a:ext uri="{FF2B5EF4-FFF2-40B4-BE49-F238E27FC236}">
                    <a16:creationId xmlns:a16="http://schemas.microsoft.com/office/drawing/2014/main" id="{B77FEB62-3A5E-0632-8A7B-4E8B630CD8F2}"/>
                  </a:ext>
                </a:extLst>
              </p:cNvPr>
              <p:cNvGraphicFramePr>
                <a:graphicFrameLocks noGrp="1"/>
              </p:cNvGraphicFramePr>
              <p:nvPr>
                <p:extLst>
                  <p:ext uri="{D42A27DB-BD31-4B8C-83A1-F6EECF244321}">
                    <p14:modId xmlns:p14="http://schemas.microsoft.com/office/powerpoint/2010/main" val="3309964818"/>
                  </p:ext>
                </p:extLst>
              </p:nvPr>
            </p:nvGraphicFramePr>
            <p:xfrm>
              <a:off x="785206" y="1436915"/>
              <a:ext cx="10615617" cy="218268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endParaRPr lang="ja-JP"/>
                        </a:p>
                      </a:txBody>
                      <a:tcPr>
                        <a:blipFill>
                          <a:blip r:embed="rId3"/>
                          <a:stretch>
                            <a:fillRect l="-100358" t="-9302" r="-101075" b="-309302"/>
                          </a:stretch>
                        </a:blipFill>
                      </a:tcPr>
                    </a:tc>
                    <a:tc>
                      <a:txBody>
                        <a:bodyPr/>
                        <a:lstStyle/>
                        <a:p>
                          <a:endParaRPr lang="ja-JP"/>
                        </a:p>
                      </a:txBody>
                      <a:tcPr>
                        <a:blipFill>
                          <a:blip r:embed="rId3"/>
                          <a:stretch>
                            <a:fillRect l="-200358" t="-9302" r="-1075" b="-309302"/>
                          </a:stretch>
                        </a:blipFill>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bl>
              </a:graphicData>
            </a:graphic>
          </p:graphicFrame>
        </mc:Fallback>
      </mc:AlternateContent>
      <p:sp>
        <p:nvSpPr>
          <p:cNvPr id="6" name="テキスト ボックス 5">
            <a:extLst>
              <a:ext uri="{FF2B5EF4-FFF2-40B4-BE49-F238E27FC236}">
                <a16:creationId xmlns:a16="http://schemas.microsoft.com/office/drawing/2014/main" id="{79672F2E-2E34-B0A0-3FA4-C368C1B45581}"/>
              </a:ext>
            </a:extLst>
          </p:cNvPr>
          <p:cNvSpPr txBox="1"/>
          <p:nvPr/>
        </p:nvSpPr>
        <p:spPr>
          <a:xfrm>
            <a:off x="476992" y="4524679"/>
            <a:ext cx="3659976" cy="523220"/>
          </a:xfrm>
          <a:prstGeom prst="rect">
            <a:avLst/>
          </a:prstGeom>
          <a:noFill/>
        </p:spPr>
        <p:txBody>
          <a:bodyPr wrap="none" rtlCol="0">
            <a:spAutoFit/>
          </a:bodyPr>
          <a:lstStyle/>
          <a:p>
            <a:r>
              <a:rPr lang="ja-JP" altLang="ja-JP" sz="2800" b="1">
                <a:latin typeface="Arial" panose="020B0604020202020204" pitchFamily="34" charset="0"/>
                <a:cs typeface="Arial" panose="020B0604020202020204" pitchFamily="34" charset="0"/>
              </a:rPr>
              <a:t>Experiment Settings</a:t>
            </a:r>
          </a:p>
        </p:txBody>
      </p:sp>
      <mc:AlternateContent xmlns:mc="http://schemas.openxmlformats.org/markup-compatibility/2006">
        <mc:Choice xmlns:a14="http://schemas.microsoft.com/office/drawing/2010/main" Requires="a14">
          <p:graphicFrame>
            <p:nvGraphicFramePr>
              <p:cNvPr id="7" name="表 6">
                <a:extLst>
                  <a:ext uri="{FF2B5EF4-FFF2-40B4-BE49-F238E27FC236}">
                    <a16:creationId xmlns:a16="http://schemas.microsoft.com/office/drawing/2014/main" id="{BD5FF66D-BE6F-5A2C-92D2-B369AB554916}"/>
                  </a:ext>
                </a:extLst>
              </p:cNvPr>
              <p:cNvGraphicFramePr>
                <a:graphicFrameLocks noGrp="1"/>
              </p:cNvGraphicFramePr>
              <p:nvPr>
                <p:extLst>
                  <p:ext uri="{D42A27DB-BD31-4B8C-83A1-F6EECF244321}">
                    <p14:modId xmlns:p14="http://schemas.microsoft.com/office/powerpoint/2010/main" val="3282678611"/>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368612">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𝑐</m:t>
                                    </m:r>
                                  </m:sub>
                                </m:sSub>
                              </m:oMath>
                            </m:oMathPara>
                          </a14:m>
                          <a:endParaRPr kumimoji="1" lang="ja-JP" altLang="en-US" sz="2400" b="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𝑚</m:t>
                                    </m:r>
                                  </m:sub>
                                </m:sSub>
                              </m:oMath>
                            </m:oMathPara>
                          </a14:m>
                          <a:endParaRPr kumimoji="1" lang="ja-JP" altLang="en-US" sz="2400" b="0" i="1">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cs typeface="Arial" panose="020B0604020202020204" pitchFamily="34" charset="0"/>
                                      </a:rPr>
                                    </m:ctrlPr>
                                  </m:sSubPr>
                                  <m:e>
                                    <m:r>
                                      <a:rPr kumimoji="1" lang="en-US" altLang="ja-JP" sz="2400" b="0" i="1" smtClean="0">
                                        <a:latin typeface="Cambria Math" panose="02040503050406030204" pitchFamily="18" charset="0"/>
                                        <a:cs typeface="Arial" panose="020B0604020202020204" pitchFamily="34" charset="0"/>
                                      </a:rPr>
                                      <m:t>𝑘</m:t>
                                    </m:r>
                                  </m:e>
                                  <m:sub>
                                    <m:r>
                                      <a:rPr kumimoji="1" lang="en-US" altLang="ja-JP" sz="2400" b="0" i="1" smtClean="0">
                                        <a:latin typeface="Cambria Math" panose="02040503050406030204" pitchFamily="18" charset="0"/>
                                        <a:cs typeface="Arial" panose="020B0604020202020204" pitchFamily="34" charset="0"/>
                                      </a:rPr>
                                      <m:t>𝑙</m:t>
                                    </m:r>
                                  </m:sub>
                                </m:sSub>
                              </m:oMath>
                            </m:oMathPara>
                          </a14:m>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725584"/>
                      </a:ext>
                    </a:extLst>
                  </a:tr>
                  <a:tr h="37084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Choice>
        <mc:Fallback>
          <p:graphicFrame>
            <p:nvGraphicFramePr>
              <p:cNvPr id="7" name="表 6">
                <a:extLst>
                  <a:ext uri="{FF2B5EF4-FFF2-40B4-BE49-F238E27FC236}">
                    <a16:creationId xmlns:a16="http://schemas.microsoft.com/office/drawing/2014/main" id="{BD5FF66D-BE6F-5A2C-92D2-B369AB554916}"/>
                  </a:ext>
                </a:extLst>
              </p:cNvPr>
              <p:cNvGraphicFramePr>
                <a:graphicFrameLocks noGrp="1"/>
              </p:cNvGraphicFramePr>
              <p:nvPr>
                <p:extLst>
                  <p:ext uri="{D42A27DB-BD31-4B8C-83A1-F6EECF244321}">
                    <p14:modId xmlns:p14="http://schemas.microsoft.com/office/powerpoint/2010/main" val="3282678611"/>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457200">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endParaRPr lang="ja-JP"/>
                        </a:p>
                      </a:txBody>
                      <a:tcPr>
                        <a:blipFill>
                          <a:blip r:embed="rId4"/>
                          <a:stretch>
                            <a:fillRect l="-310000" t="-10811" r="-189286" b="-124324"/>
                          </a:stretch>
                        </a:blipFill>
                      </a:tcPr>
                    </a:tc>
                    <a:tc>
                      <a:txBody>
                        <a:bodyPr/>
                        <a:lstStyle/>
                        <a:p>
                          <a:endParaRPr lang="ja-JP"/>
                        </a:p>
                      </a:txBody>
                      <a:tcPr>
                        <a:blipFill>
                          <a:blip r:embed="rId4"/>
                          <a:stretch>
                            <a:fillRect l="-398611" t="-10811" r="-84028" b="-124324"/>
                          </a:stretch>
                        </a:blipFill>
                      </a:tcPr>
                    </a:tc>
                    <a:tc>
                      <a:txBody>
                        <a:bodyPr/>
                        <a:lstStyle/>
                        <a:p>
                          <a:endParaRPr lang="ja-JP"/>
                        </a:p>
                      </a:txBody>
                      <a:tcPr>
                        <a:blipFill>
                          <a:blip r:embed="rId4"/>
                          <a:stretch>
                            <a:fillRect l="-603361" t="-10811" r="-1681" b="-124324"/>
                          </a:stretch>
                        </a:blipFill>
                      </a:tcPr>
                    </a:tc>
                    <a:extLst>
                      <a:ext uri="{0D108BD9-81ED-4DB2-BD59-A6C34878D82A}">
                        <a16:rowId xmlns:a16="http://schemas.microsoft.com/office/drawing/2014/main" val="4147725584"/>
                      </a:ext>
                    </a:extLst>
                  </a:tr>
                  <a:tr h="45720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Fallback>
      </mc:AlternateContent>
    </p:spTree>
    <p:extLst>
      <p:ext uri="{BB962C8B-B14F-4D97-AF65-F5344CB8AC3E}">
        <p14:creationId xmlns:p14="http://schemas.microsoft.com/office/powerpoint/2010/main" val="1497236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2FCA-AD2A-2F3C-B187-0F67CED04D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379891-B0FF-3A21-CBFA-5D707CDB1046}"/>
              </a:ext>
            </a:extLst>
          </p:cNvPr>
          <p:cNvSpPr>
            <a:spLocks noGrp="1"/>
          </p:cNvSpPr>
          <p:nvPr>
            <p:ph type="title"/>
          </p:nvPr>
        </p:nvSpPr>
        <p:spPr>
          <a:xfrm>
            <a:off x="568484" y="1308579"/>
            <a:ext cx="11113646" cy="638485"/>
          </a:xfrm>
        </p:spPr>
        <p:txBody>
          <a:bodyPr wrap="square" lIns="0" tIns="0" rIns="19050" bIns="0" anchor="ctr">
            <a:noAutofit/>
          </a:bodyPr>
          <a:lstStyle/>
          <a:p>
            <a:pPr>
              <a:defRPr sz="2100" b="1">
                <a:solidFill>
                  <a:srgbClr val="000000"/>
                </a:solidFill>
                <a:latin typeface="Arial"/>
                <a:ea typeface="Arial"/>
                <a:cs typeface="Arial"/>
              </a:defRPr>
            </a:pPr>
            <a:r>
              <a:rPr sz="2800" b="1" dirty="0">
                <a:solidFill>
                  <a:srgbClr val="000000"/>
                </a:solidFill>
                <a:latin typeface="Arial"/>
                <a:ea typeface="Arial"/>
                <a:cs typeface="Arial"/>
              </a:rPr>
              <a:t>The </a:t>
            </a:r>
            <a:r>
              <a:rPr lang="en-US" sz="2800" b="1" dirty="0">
                <a:solidFill>
                  <a:srgbClr val="000000"/>
                </a:solidFill>
                <a:latin typeface="Arial"/>
                <a:ea typeface="Arial"/>
                <a:cs typeface="Arial"/>
              </a:rPr>
              <a:t>p</a:t>
            </a:r>
            <a:r>
              <a:rPr sz="2800" b="1" dirty="0">
                <a:solidFill>
                  <a:srgbClr val="000000"/>
                </a:solidFill>
                <a:latin typeface="Arial"/>
                <a:ea typeface="Arial"/>
                <a:cs typeface="Arial"/>
              </a:rPr>
              <a:t>roposed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ethod </a:t>
            </a:r>
            <a:r>
              <a:rPr lang="en-US" sz="2800" b="1" dirty="0">
                <a:solidFill>
                  <a:srgbClr val="000000"/>
                </a:solidFill>
                <a:latin typeface="Arial"/>
                <a:ea typeface="Arial"/>
                <a:cs typeface="Arial"/>
              </a:rPr>
              <a:t>i</a:t>
            </a:r>
            <a:r>
              <a:rPr sz="2800" b="1" dirty="0">
                <a:solidFill>
                  <a:srgbClr val="000000"/>
                </a:solidFill>
                <a:latin typeface="Arial"/>
                <a:ea typeface="Arial"/>
                <a:cs typeface="Arial"/>
              </a:rPr>
              <a:t>mproves on </a:t>
            </a:r>
            <a:r>
              <a:rPr lang="en-US" sz="2800" b="1" dirty="0">
                <a:solidFill>
                  <a:srgbClr val="000000"/>
                </a:solidFill>
                <a:latin typeface="Arial"/>
                <a:ea typeface="Arial"/>
                <a:cs typeface="Arial"/>
              </a:rPr>
              <a:t>f</a:t>
            </a:r>
            <a:r>
              <a:rPr sz="2800" b="1" dirty="0">
                <a:solidFill>
                  <a:srgbClr val="000000"/>
                </a:solidFill>
                <a:latin typeface="Arial"/>
                <a:ea typeface="Arial"/>
                <a:cs typeface="Arial"/>
              </a:rPr>
              <a:t>ixed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tandard,</a:t>
            </a:r>
          </a:p>
          <a:p>
            <a:pPr>
              <a:defRPr sz="2100" b="1">
                <a:solidFill>
                  <a:srgbClr val="000000"/>
                </a:solidFill>
                <a:latin typeface="Arial"/>
                <a:ea typeface="Arial"/>
                <a:cs typeface="Arial"/>
              </a:defRPr>
            </a:pPr>
            <a:r>
              <a:rPr sz="2800" b="1" dirty="0">
                <a:solidFill>
                  <a:srgbClr val="000000"/>
                </a:solidFill>
                <a:latin typeface="Arial"/>
                <a:ea typeface="Arial"/>
                <a:cs typeface="Arial"/>
              </a:rPr>
              <a:t>but </a:t>
            </a:r>
            <a:r>
              <a:rPr lang="en-US" sz="2800" b="1" dirty="0">
                <a:solidFill>
                  <a:srgbClr val="000000"/>
                </a:solidFill>
                <a:latin typeface="Arial"/>
                <a:ea typeface="Arial"/>
                <a:cs typeface="Arial"/>
              </a:rPr>
              <a:t>r</a:t>
            </a:r>
            <a:r>
              <a:rPr sz="2800" b="1" dirty="0">
                <a:solidFill>
                  <a:srgbClr val="000000"/>
                </a:solidFill>
                <a:latin typeface="Arial"/>
                <a:ea typeface="Arial"/>
                <a:cs typeface="Arial"/>
              </a:rPr>
              <a:t>equires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ore </a:t>
            </a:r>
            <a:r>
              <a:rPr lang="en-US" sz="2800" b="1" dirty="0">
                <a:solidFill>
                  <a:srgbClr val="000000"/>
                </a:solidFill>
                <a:latin typeface="Arial"/>
                <a:ea typeface="Arial"/>
                <a:cs typeface="Arial"/>
              </a:rPr>
              <a:t>t</a:t>
            </a:r>
            <a:r>
              <a:rPr sz="2800" b="1" dirty="0">
                <a:solidFill>
                  <a:srgbClr val="000000"/>
                </a:solidFill>
                <a:latin typeface="Arial"/>
                <a:ea typeface="Arial"/>
                <a:cs typeface="Arial"/>
              </a:rPr>
              <a:t>ime</a:t>
            </a:r>
          </a:p>
        </p:txBody>
      </p:sp>
      <p:sp>
        <p:nvSpPr>
          <p:cNvPr id="5" name="スライド番号プレースホルダー 2">
            <a:extLst>
              <a:ext uri="{FF2B5EF4-FFF2-40B4-BE49-F238E27FC236}">
                <a16:creationId xmlns:a16="http://schemas.microsoft.com/office/drawing/2014/main" id="{4DDAA076-CE7A-E033-20CF-7CCA0F1EF26D}"/>
              </a:ext>
            </a:extLst>
          </p:cNvPr>
          <p:cNvSpPr>
            <a:spLocks noGrp="1"/>
          </p:cNvSpPr>
          <p:nvPr>
            <p:ph type="sldNum" idx="12"/>
          </p:nvPr>
        </p:nvSpPr>
        <p:spPr>
          <a:xfrm>
            <a:off x="9202121" y="368959"/>
            <a:ext cx="1841809" cy="546400"/>
          </a:xfrm>
        </p:spPr>
        <p:txBody>
          <a:bodyPr/>
          <a:lstStyle/>
          <a:p>
            <a:fld id="{A9AD3F58-349D-3A41-BFFC-DA89322664A4}" type="slidenum">
              <a:rPr/>
              <a:t>18</a:t>
            </a:fld>
            <a:endParaRPr/>
          </a:p>
        </p:txBody>
      </p:sp>
      <p:cxnSp>
        <p:nvCxnSpPr>
          <p:cNvPr id="48" name="直線矢印コネクタ 7">
            <a:extLst>
              <a:ext uri="{FF2B5EF4-FFF2-40B4-BE49-F238E27FC236}">
                <a16:creationId xmlns:a16="http://schemas.microsoft.com/office/drawing/2014/main" id="{FB1380CC-9131-D7CB-FB54-5B49C384DDDA}"/>
              </a:ext>
            </a:extLst>
          </p:cNvPr>
          <p:cNvCxnSpPr/>
          <p:nvPr/>
        </p:nvCxnSpPr>
        <p:spPr>
          <a:xfrm flipH="1" flipV="1">
            <a:off x="5931877" y="3066096"/>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15">
            <a:extLst>
              <a:ext uri="{FF2B5EF4-FFF2-40B4-BE49-F238E27FC236}">
                <a16:creationId xmlns:a16="http://schemas.microsoft.com/office/drawing/2014/main" id="{AD6D04DC-C451-5872-07E7-3DF458B940F8}"/>
              </a:ext>
            </a:extLst>
          </p:cNvPr>
          <p:cNvCxnSpPr>
            <a:cxnSpLocks/>
          </p:cNvCxnSpPr>
          <p:nvPr/>
        </p:nvCxnSpPr>
        <p:spPr>
          <a:xfrm flipV="1">
            <a:off x="3715426" y="3393704"/>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5F234B42-7C3E-A982-9C5C-D7CAD84AD42F}"/>
              </a:ext>
            </a:extLst>
          </p:cNvPr>
          <p:cNvSpPr>
            <a:spLocks noGrp="1"/>
          </p:cNvSpPr>
          <p:nvPr/>
        </p:nvSpPr>
        <p:spPr>
          <a:xfrm>
            <a:off x="8756885" y="4415624"/>
            <a:ext cx="3200054" cy="1846659"/>
          </a:xfrm>
          <a:prstGeom prst="rect">
            <a:avLst/>
          </a:prstGeom>
          <a:noFill/>
        </p:spPr>
        <p:txBody>
          <a:bodyPr wrap="square" lIns="76200" tIns="76200" rIns="76200" bIns="76200" anchor="ctr">
            <a:noAutofit/>
          </a:bodyPr>
          <a:lstStyle/>
          <a:p>
            <a:pPr>
              <a:defRPr sz="1575">
                <a:solidFill>
                  <a:srgbClr val="1F1F1F"/>
                </a:solidFill>
                <a:latin typeface="Arial"/>
                <a:ea typeface="Arial"/>
                <a:cs typeface="Arial"/>
              </a:defRPr>
            </a:pPr>
            <a:r>
              <a:rPr lang="en-US" sz="2000" b="1" dirty="0">
                <a:solidFill>
                  <a:srgbClr val="1F1F1F"/>
                </a:solidFill>
                <a:latin typeface="Arial"/>
                <a:ea typeface="Arial"/>
                <a:cs typeface="Arial"/>
              </a:rPr>
              <a:t>vs. </a:t>
            </a:r>
            <a:r>
              <a:rPr sz="2000" b="1" dirty="0">
                <a:solidFill>
                  <a:srgbClr val="1F1F1F"/>
                </a:solidFill>
                <a:latin typeface="Arial"/>
                <a:ea typeface="Arial"/>
                <a:cs typeface="Arial"/>
              </a:rPr>
              <a:t>High mutation</a:t>
            </a:r>
            <a:endParaRPr lang="en-US" sz="2000" b="1" dirty="0">
              <a:solidFill>
                <a:srgbClr val="1F1F1F"/>
              </a:solidFill>
              <a:latin typeface="Arial"/>
              <a:ea typeface="Arial"/>
              <a:cs typeface="Arial"/>
            </a:endParaRPr>
          </a:p>
          <a:p>
            <a:pPr>
              <a:defRPr sz="1575">
                <a:solidFill>
                  <a:srgbClr val="1F1F1F"/>
                </a:solidFill>
                <a:latin typeface="Arial"/>
                <a:ea typeface="Arial"/>
                <a:cs typeface="Arial"/>
              </a:defRPr>
            </a:pPr>
            <a:r>
              <a:rPr lang="en" altLang="ja-JP" sz="2000" b="1" dirty="0">
                <a:solidFill>
                  <a:srgbClr val="1F1F1F"/>
                </a:solidFill>
                <a:latin typeface="Arial"/>
                <a:ea typeface="Arial"/>
                <a:cs typeface="Arial"/>
              </a:rPr>
              <a:t>+0.006 HV</a:t>
            </a:r>
          </a:p>
          <a:p>
            <a:endParaRPr sz="2000" dirty="0">
              <a:solidFill>
                <a:srgbClr val="1F1F1F"/>
              </a:solidFill>
              <a:latin typeface="Arial"/>
              <a:ea typeface="Arial"/>
              <a:cs typeface="Arial"/>
            </a:endParaRPr>
          </a:p>
          <a:p>
            <a:pPr>
              <a:defRPr sz="1650">
                <a:solidFill>
                  <a:srgbClr val="1F1F1F"/>
                </a:solidFill>
                <a:latin typeface="Arial"/>
                <a:ea typeface="Arial"/>
                <a:cs typeface="Arial"/>
              </a:defRPr>
            </a:pPr>
            <a:r>
              <a:rPr lang="en" altLang="ja-JP" sz="2000" dirty="0">
                <a:solidFill>
                  <a:srgbClr val="1F1F1F"/>
                </a:solidFill>
                <a:latin typeface="Arial"/>
                <a:ea typeface="Arial"/>
                <a:cs typeface="Arial"/>
              </a:rPr>
              <a:t>Time  3.36 → 7.60 s</a:t>
            </a:r>
          </a:p>
          <a:p>
            <a:pPr>
              <a:defRPr sz="1650">
                <a:solidFill>
                  <a:srgbClr val="1F1F1F"/>
                </a:solidFill>
                <a:latin typeface="Arial"/>
                <a:ea typeface="Arial"/>
                <a:cs typeface="Arial"/>
              </a:defRPr>
            </a:pPr>
            <a:r>
              <a:rPr lang="en" altLang="ja-JP" sz="2000" b="1" dirty="0">
                <a:solidFill>
                  <a:srgbClr val="1F1F1F"/>
                </a:solidFill>
                <a:latin typeface="Arial"/>
                <a:ea typeface="Arial"/>
                <a:cs typeface="Arial"/>
              </a:rPr>
              <a:t>≈ ×2.27</a:t>
            </a:r>
          </a:p>
        </p:txBody>
      </p:sp>
      <p:sp>
        <p:nvSpPr>
          <p:cNvPr id="23" name="テキスト ボックス 22">
            <a:extLst>
              <a:ext uri="{FF2B5EF4-FFF2-40B4-BE49-F238E27FC236}">
                <a16:creationId xmlns:a16="http://schemas.microsoft.com/office/drawing/2014/main" id="{F6454DA7-74A8-96CA-EEDB-C97BADCCEAB7}"/>
              </a:ext>
            </a:extLst>
          </p:cNvPr>
          <p:cNvSpPr>
            <a:spLocks noGrp="1"/>
          </p:cNvSpPr>
          <p:nvPr/>
        </p:nvSpPr>
        <p:spPr>
          <a:xfrm>
            <a:off x="8756885" y="2233832"/>
            <a:ext cx="3200054" cy="1846659"/>
          </a:xfrm>
          <a:prstGeom prst="rect">
            <a:avLst/>
          </a:prstGeom>
          <a:noFill/>
        </p:spPr>
        <p:txBody>
          <a:bodyPr wrap="square" lIns="76200" tIns="76200" rIns="76200" bIns="76200" anchor="ctr">
            <a:noAutofit/>
          </a:bodyPr>
          <a:lstStyle/>
          <a:p>
            <a:pPr>
              <a:defRPr sz="1650">
                <a:solidFill>
                  <a:srgbClr val="1F1F1F"/>
                </a:solidFill>
                <a:latin typeface="Arial"/>
                <a:ea typeface="Arial"/>
                <a:cs typeface="Arial"/>
              </a:defRPr>
            </a:pPr>
            <a:r>
              <a:rPr sz="2000" b="1" dirty="0">
                <a:solidFill>
                  <a:srgbClr val="1F1F1F"/>
                </a:solidFill>
                <a:latin typeface="Arial"/>
                <a:ea typeface="Arial"/>
                <a:cs typeface="Arial"/>
              </a:rPr>
              <a:t>vs. Fixed standard</a:t>
            </a:r>
          </a:p>
          <a:p>
            <a:pPr>
              <a:defRPr sz="1650">
                <a:solidFill>
                  <a:srgbClr val="1F1F1F"/>
                </a:solidFill>
                <a:latin typeface="Arial"/>
                <a:ea typeface="Arial"/>
                <a:cs typeface="Arial"/>
              </a:defRPr>
            </a:pPr>
            <a:r>
              <a:rPr sz="2000" b="1" dirty="0">
                <a:solidFill>
                  <a:srgbClr val="1F1F1F"/>
                </a:solidFill>
                <a:latin typeface="Arial"/>
                <a:ea typeface="Arial"/>
                <a:cs typeface="Arial"/>
              </a:rPr>
              <a:t>+0.019 HV</a:t>
            </a:r>
            <a:endParaRPr lang="en-US" sz="2000" b="1" dirty="0">
              <a:solidFill>
                <a:srgbClr val="1F1F1F"/>
              </a:solidFill>
              <a:latin typeface="Arial"/>
              <a:ea typeface="Arial"/>
              <a:cs typeface="Arial"/>
            </a:endParaRPr>
          </a:p>
          <a:p>
            <a:pPr>
              <a:defRPr sz="1650">
                <a:solidFill>
                  <a:srgbClr val="1F1F1F"/>
                </a:solidFill>
                <a:latin typeface="Arial"/>
                <a:ea typeface="Arial"/>
                <a:cs typeface="Arial"/>
              </a:defRPr>
            </a:pPr>
            <a:endParaRPr sz="2000" b="1" dirty="0">
              <a:solidFill>
                <a:srgbClr val="1F1F1F"/>
              </a:solidFill>
              <a:latin typeface="Arial"/>
              <a:ea typeface="Arial"/>
              <a:cs typeface="Arial"/>
            </a:endParaRPr>
          </a:p>
          <a:p>
            <a:pPr>
              <a:defRPr sz="1650">
                <a:solidFill>
                  <a:srgbClr val="1F1F1F"/>
                </a:solidFill>
                <a:latin typeface="Arial"/>
                <a:ea typeface="Arial"/>
                <a:cs typeface="Arial"/>
              </a:defRPr>
            </a:pPr>
            <a:r>
              <a:rPr sz="2000" dirty="0">
                <a:solidFill>
                  <a:srgbClr val="1F1F1F"/>
                </a:solidFill>
                <a:latin typeface="Arial"/>
                <a:ea typeface="Arial"/>
                <a:cs typeface="Arial"/>
              </a:rPr>
              <a:t>Time  3.97 → 7.60 s</a:t>
            </a:r>
          </a:p>
          <a:p>
            <a:pPr>
              <a:defRPr sz="1650">
                <a:solidFill>
                  <a:srgbClr val="1F1F1F"/>
                </a:solidFill>
                <a:latin typeface="Arial"/>
                <a:ea typeface="Arial"/>
                <a:cs typeface="Arial"/>
              </a:defRPr>
            </a:pPr>
            <a:r>
              <a:rPr sz="2000" b="1" dirty="0">
                <a:solidFill>
                  <a:srgbClr val="1F1F1F"/>
                </a:solidFill>
                <a:latin typeface="Arial"/>
                <a:ea typeface="Arial"/>
                <a:cs typeface="Arial"/>
              </a:rPr>
              <a:t>≈ </a:t>
            </a:r>
            <a:r>
              <a:rPr lang="en-US" altLang="ja-JP" sz="2000" b="1" dirty="0">
                <a:solidFill>
                  <a:srgbClr val="1F1F1F"/>
                </a:solidFill>
                <a:latin typeface="Arial"/>
                <a:ea typeface="Arial"/>
                <a:cs typeface="Arial"/>
              </a:rPr>
              <a:t>×</a:t>
            </a:r>
            <a:r>
              <a:rPr sz="2000" b="1" dirty="0">
                <a:solidFill>
                  <a:srgbClr val="1F1F1F"/>
                </a:solidFill>
                <a:latin typeface="Arial"/>
                <a:ea typeface="Arial"/>
                <a:cs typeface="Arial"/>
              </a:rPr>
              <a:t>2.02</a:t>
            </a:r>
          </a:p>
        </p:txBody>
      </p:sp>
      <p:graphicFrame>
        <p:nvGraphicFramePr>
          <p:cNvPr id="52" name="Chart">
            <a:extLst>
              <a:ext uri="{FF2B5EF4-FFF2-40B4-BE49-F238E27FC236}">
                <a16:creationId xmlns:a16="http://schemas.microsoft.com/office/drawing/2014/main" id="{177E16F9-FD49-0D5D-CCBA-DDAF00EF8485}"/>
              </a:ext>
            </a:extLst>
          </p:cNvPr>
          <p:cNvGraphicFramePr/>
          <p:nvPr/>
        </p:nvGraphicFramePr>
        <p:xfrm>
          <a:off x="93785" y="2173821"/>
          <a:ext cx="8660967" cy="4621697"/>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20C0EAFE-40F7-1B80-2963-54DE53354613}"/>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Overall Time</a:t>
            </a:r>
          </a:p>
        </p:txBody>
      </p:sp>
    </p:spTree>
    <p:extLst>
      <p:ext uri="{BB962C8B-B14F-4D97-AF65-F5344CB8AC3E}">
        <p14:creationId xmlns:p14="http://schemas.microsoft.com/office/powerpoint/2010/main" val="2439956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C73FCA-F660-82CD-F90F-4A295DD53BF5}"/>
              </a:ext>
            </a:extLst>
          </p:cNvPr>
          <p:cNvSpPr>
            <a:spLocks noGrp="1"/>
          </p:cNvSpPr>
          <p:nvPr>
            <p:ph type="title"/>
          </p:nvPr>
        </p:nvSpPr>
        <p:spPr>
          <a:xfrm>
            <a:off x="477012" y="1314559"/>
            <a:ext cx="8572500" cy="638461"/>
          </a:xfrm>
        </p:spPr>
        <p:txBody>
          <a:bodyPr wrap="square" lIns="0" tIns="0" rIns="19050" bIns="0" anchor="ctr">
            <a:normAutofit/>
          </a:bodyPr>
          <a:lstStyle/>
          <a:p>
            <a:pPr>
              <a:defRPr sz="2325" b="1">
                <a:solidFill>
                  <a:srgbClr val="000000"/>
                </a:solidFill>
                <a:latin typeface="Arial"/>
                <a:ea typeface="Arial"/>
                <a:cs typeface="Arial"/>
              </a:defRPr>
            </a:pPr>
            <a:r>
              <a:rPr sz="2800" b="1" dirty="0">
                <a:solidFill>
                  <a:srgbClr val="000000"/>
                </a:solidFill>
                <a:latin typeface="Arial"/>
                <a:ea typeface="Arial"/>
                <a:cs typeface="Arial"/>
              </a:rPr>
              <a:t>Under the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ame </a:t>
            </a:r>
            <a:r>
              <a:rPr lang="en-US" sz="2800" b="1" dirty="0">
                <a:solidFill>
                  <a:srgbClr val="000000"/>
                </a:solidFill>
                <a:latin typeface="Arial"/>
                <a:ea typeface="Arial"/>
                <a:cs typeface="Arial"/>
              </a:rPr>
              <a:t>d</a:t>
            </a:r>
            <a:r>
              <a:rPr sz="2800" b="1" dirty="0">
                <a:solidFill>
                  <a:srgbClr val="000000"/>
                </a:solidFill>
                <a:latin typeface="Arial"/>
                <a:ea typeface="Arial"/>
                <a:cs typeface="Arial"/>
              </a:rPr>
              <a:t>eadline,</a:t>
            </a:r>
            <a:r>
              <a:rPr lang="en-US" sz="2800" b="1" dirty="0">
                <a:solidFill>
                  <a:srgbClr val="000000"/>
                </a:solidFill>
                <a:latin typeface="Arial"/>
                <a:ea typeface="Arial"/>
                <a:cs typeface="Arial"/>
              </a:rPr>
              <a:t> h</a:t>
            </a:r>
            <a:r>
              <a:rPr sz="2800" b="1" dirty="0">
                <a:solidFill>
                  <a:srgbClr val="000000"/>
                </a:solidFill>
                <a:latin typeface="Arial"/>
                <a:ea typeface="Arial"/>
                <a:cs typeface="Arial"/>
              </a:rPr>
              <a:t>igh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utation </a:t>
            </a:r>
            <a:r>
              <a:rPr lang="en-US" sz="2800" b="1" dirty="0">
                <a:solidFill>
                  <a:srgbClr val="000000"/>
                </a:solidFill>
                <a:latin typeface="Arial"/>
                <a:ea typeface="Arial"/>
                <a:cs typeface="Arial"/>
              </a:rPr>
              <a:t>l</a:t>
            </a:r>
            <a:r>
              <a:rPr sz="2800" b="1" dirty="0">
                <a:solidFill>
                  <a:srgbClr val="000000"/>
                </a:solidFill>
                <a:latin typeface="Arial"/>
                <a:ea typeface="Arial"/>
                <a:cs typeface="Arial"/>
              </a:rPr>
              <a:t>eads</a:t>
            </a:r>
          </a:p>
        </p:txBody>
      </p:sp>
      <p:sp>
        <p:nvSpPr>
          <p:cNvPr id="6" name="テキスト ボックス 5">
            <a:extLst>
              <a:ext uri="{FF2B5EF4-FFF2-40B4-BE49-F238E27FC236}">
                <a16:creationId xmlns:a16="http://schemas.microsoft.com/office/drawing/2014/main" id="{2C1CF740-23CC-7C86-9680-60F094F582B3}"/>
              </a:ext>
            </a:extLst>
          </p:cNvPr>
          <p:cNvSpPr>
            <a:spLocks noGrp="1"/>
          </p:cNvSpPr>
          <p:nvPr/>
        </p:nvSpPr>
        <p:spPr>
          <a:xfrm>
            <a:off x="7825099" y="2558850"/>
            <a:ext cx="4366901" cy="3693319"/>
          </a:xfrm>
          <a:prstGeom prst="rect">
            <a:avLst/>
          </a:prstGeom>
          <a:noFill/>
        </p:spPr>
        <p:txBody>
          <a:bodyPr wrap="square" lIns="152400" tIns="76200" rIns="152400" bIns="76200" anchor="ctr">
            <a:normAutofit/>
          </a:bodyPr>
          <a:lstStyle/>
          <a:p>
            <a:pPr>
              <a:defRPr sz="1425">
                <a:solidFill>
                  <a:srgbClr val="1F1F1F"/>
                </a:solidFill>
                <a:latin typeface="Arial"/>
                <a:ea typeface="Arial"/>
                <a:cs typeface="Arial"/>
              </a:defRPr>
            </a:pPr>
            <a:r>
              <a:rPr sz="2000" b="1" dirty="0">
                <a:solidFill>
                  <a:srgbClr val="1F1F1F"/>
                </a:solidFill>
                <a:latin typeface="Arial"/>
                <a:ea typeface="Arial"/>
                <a:cs typeface="Arial"/>
              </a:rPr>
              <a:t>Mean </a:t>
            </a:r>
            <a:r>
              <a:rPr lang="en" altLang="ja-JP" sz="2000" b="1" dirty="0">
                <a:solidFill>
                  <a:srgbClr val="1F1F1F"/>
                </a:solidFill>
                <a:latin typeface="Arial"/>
                <a:ea typeface="Arial"/>
                <a:cs typeface="Arial"/>
              </a:rPr>
              <a:t>reached </a:t>
            </a:r>
            <a:r>
              <a:rPr sz="2000" b="1" dirty="0">
                <a:solidFill>
                  <a:srgbClr val="1F1F1F"/>
                </a:solidFill>
                <a:latin typeface="Arial"/>
                <a:ea typeface="Arial"/>
                <a:cs typeface="Arial"/>
              </a:rPr>
              <a:t>generation</a:t>
            </a:r>
            <a:endParaRPr lang="en-US" sz="2000" b="1" dirty="0">
              <a:solidFill>
                <a:srgbClr val="1F1F1F"/>
              </a:solidFill>
              <a:latin typeface="Arial"/>
              <a:ea typeface="Arial"/>
              <a:cs typeface="Arial"/>
            </a:endParaRPr>
          </a:p>
          <a:p>
            <a:pPr>
              <a:defRPr sz="1425">
                <a:solidFill>
                  <a:srgbClr val="1F1F1F"/>
                </a:solidFill>
                <a:latin typeface="Arial"/>
                <a:ea typeface="Arial"/>
                <a:cs typeface="Arial"/>
              </a:defRPr>
            </a:pPr>
            <a:r>
              <a:rPr sz="2000" dirty="0">
                <a:solidFill>
                  <a:srgbClr val="1F1F1F"/>
                </a:solidFill>
                <a:latin typeface="Arial"/>
                <a:ea typeface="Arial"/>
                <a:cs typeface="Arial"/>
              </a:rPr>
              <a:t>Fixed standard        69.8</a:t>
            </a:r>
          </a:p>
          <a:p>
            <a:pPr>
              <a:defRPr sz="1425">
                <a:solidFill>
                  <a:srgbClr val="1F1F1F"/>
                </a:solidFill>
                <a:latin typeface="Arial"/>
                <a:ea typeface="Arial"/>
                <a:cs typeface="Arial"/>
              </a:defRPr>
            </a:pPr>
            <a:r>
              <a:rPr sz="2000" dirty="0">
                <a:solidFill>
                  <a:srgbClr val="1F1F1F"/>
                </a:solidFill>
                <a:latin typeface="Arial"/>
                <a:ea typeface="Arial"/>
                <a:cs typeface="Arial"/>
              </a:rPr>
              <a:t>High mutation         73.5</a:t>
            </a:r>
          </a:p>
          <a:p>
            <a:pPr>
              <a:defRPr sz="1425">
                <a:solidFill>
                  <a:srgbClr val="1F1F1F"/>
                </a:solidFill>
                <a:latin typeface="Arial"/>
                <a:ea typeface="Arial"/>
                <a:cs typeface="Arial"/>
              </a:defRPr>
            </a:pPr>
            <a:r>
              <a:rPr sz="2000" dirty="0">
                <a:solidFill>
                  <a:srgbClr val="1F1F1F"/>
                </a:solidFill>
                <a:latin typeface="Arial"/>
                <a:ea typeface="Arial"/>
                <a:cs typeface="Arial"/>
              </a:rPr>
              <a:t>Proposed method   49.6</a:t>
            </a:r>
          </a:p>
          <a:p>
            <a:endParaRPr sz="2000" dirty="0">
              <a:solidFill>
                <a:srgbClr val="1F1F1F"/>
              </a:solidFill>
              <a:latin typeface="Arial"/>
              <a:ea typeface="Arial"/>
              <a:cs typeface="Arial"/>
            </a:endParaRPr>
          </a:p>
          <a:p>
            <a:pPr>
              <a:defRPr sz="1425">
                <a:solidFill>
                  <a:srgbClr val="1F1F1F"/>
                </a:solidFill>
                <a:latin typeface="Arial"/>
                <a:ea typeface="Arial"/>
                <a:cs typeface="Arial"/>
              </a:defRPr>
            </a:pPr>
            <a:r>
              <a:rPr sz="2000" b="1" dirty="0">
                <a:solidFill>
                  <a:srgbClr val="1F1F1F"/>
                </a:solidFill>
                <a:latin typeface="Arial"/>
                <a:ea typeface="Arial"/>
                <a:cs typeface="Arial"/>
              </a:rPr>
              <a:t>High mutation − Proposed method</a:t>
            </a:r>
          </a:p>
          <a:p>
            <a:pPr>
              <a:defRPr sz="1425">
                <a:solidFill>
                  <a:srgbClr val="1F1F1F"/>
                </a:solidFill>
                <a:latin typeface="Arial"/>
                <a:ea typeface="Arial"/>
                <a:cs typeface="Arial"/>
              </a:defRPr>
            </a:pPr>
            <a:r>
              <a:rPr sz="2000" b="1" dirty="0">
                <a:solidFill>
                  <a:srgbClr val="1F1F1F"/>
                </a:solidFill>
                <a:latin typeface="Arial"/>
                <a:ea typeface="Arial"/>
                <a:cs typeface="Arial"/>
              </a:rPr>
              <a:t>+0.0127 HV</a:t>
            </a:r>
            <a:endParaRPr lang="ja-JP" altLang="en-US" sz="2000" b="1">
              <a:solidFill>
                <a:srgbClr val="1F1F1F"/>
              </a:solidFill>
              <a:latin typeface="Arial"/>
              <a:ea typeface="Arial"/>
              <a:cs typeface="Arial"/>
            </a:endParaRPr>
          </a:p>
        </p:txBody>
      </p:sp>
      <p:sp>
        <p:nvSpPr>
          <p:cNvPr id="7" name="スライド番号プレースホルダー 2">
            <a:extLst>
              <a:ext uri="{FF2B5EF4-FFF2-40B4-BE49-F238E27FC236}">
                <a16:creationId xmlns:a16="http://schemas.microsoft.com/office/drawing/2014/main" id="{48810A09-CC83-C358-29E4-CC3FBB3456C4}"/>
              </a:ext>
            </a:extLst>
          </p:cNvPr>
          <p:cNvSpPr>
            <a:spLocks noGrp="1"/>
          </p:cNvSpPr>
          <p:nvPr>
            <p:ph type="sldNum" idx="12"/>
          </p:nvPr>
        </p:nvSpPr>
        <p:spPr>
          <a:xfrm>
            <a:off x="9202121" y="368959"/>
            <a:ext cx="1841809" cy="546400"/>
          </a:xfrm>
        </p:spPr>
        <p:txBody>
          <a:bodyPr/>
          <a:lstStyle/>
          <a:p>
            <a:fld id="{A9AD3F58-349D-3A41-BFFC-DA89322664A4}" type="slidenum">
              <a:rPr/>
              <a:t>19</a:t>
            </a:fld>
            <a:endParaRPr/>
          </a:p>
        </p:txBody>
      </p:sp>
      <p:sp>
        <p:nvSpPr>
          <p:cNvPr id="8" name="テキスト ボックス 7">
            <a:extLst>
              <a:ext uri="{FF2B5EF4-FFF2-40B4-BE49-F238E27FC236}">
                <a16:creationId xmlns:a16="http://schemas.microsoft.com/office/drawing/2014/main" id="{B0DA3AFF-AA91-EE98-76BC-652B4ABCFAB4}"/>
              </a:ext>
            </a:extLst>
          </p:cNvPr>
          <p:cNvSpPr>
            <a:spLocks noGrp="1"/>
          </p:cNvSpPr>
          <p:nvPr/>
        </p:nvSpPr>
        <p:spPr>
          <a:xfrm>
            <a:off x="7825099" y="2222149"/>
            <a:ext cx="3403496" cy="369332"/>
          </a:xfrm>
          <a:prstGeom prst="rect">
            <a:avLst/>
          </a:prstGeom>
          <a:noFill/>
        </p:spPr>
        <p:txBody>
          <a:bodyPr wrap="square">
            <a:noAutofit/>
          </a:bodyPr>
          <a:lstStyle/>
          <a:p>
            <a:pPr algn="ctr">
              <a:defRPr sz="1575" b="1">
                <a:solidFill>
                  <a:srgbClr val="17365D"/>
                </a:solidFill>
                <a:latin typeface="Arial"/>
                <a:ea typeface="Arial"/>
                <a:cs typeface="Arial"/>
              </a:defRPr>
            </a:pPr>
            <a:r>
              <a:rPr sz="2000" b="1" dirty="0">
                <a:latin typeface="Arial"/>
                <a:ea typeface="Arial"/>
                <a:cs typeface="Arial"/>
              </a:rPr>
              <a:t>Common deadline: 3.470 s</a:t>
            </a:r>
          </a:p>
        </p:txBody>
      </p:sp>
      <p:graphicFrame>
        <p:nvGraphicFramePr>
          <p:cNvPr id="14" name="Chart"/>
          <p:cNvGraphicFramePr/>
          <p:nvPr>
            <p:extLst>
              <p:ext uri="{D42A27DB-BD31-4B8C-83A1-F6EECF244321}">
                <p14:modId xmlns:p14="http://schemas.microsoft.com/office/powerpoint/2010/main" val="430681883"/>
              </p:ext>
            </p:extLst>
          </p:nvPr>
        </p:nvGraphicFramePr>
        <p:xfrm>
          <a:off x="0" y="1953020"/>
          <a:ext cx="7825099" cy="4904980"/>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21BF9638-FD6D-86EF-4BD0-8A15CCC7362A}"/>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Same Time</a:t>
            </a:r>
          </a:p>
        </p:txBody>
      </p:sp>
    </p:spTree>
    <p:extLst>
      <p:ext uri="{BB962C8B-B14F-4D97-AF65-F5344CB8AC3E}">
        <p14:creationId xmlns:p14="http://schemas.microsoft.com/office/powerpoint/2010/main" val="3284138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フローチャート: 代替処理 17">
            <a:extLst>
              <a:ext uri="{FF2B5EF4-FFF2-40B4-BE49-F238E27FC236}">
                <a16:creationId xmlns:a16="http://schemas.microsoft.com/office/drawing/2014/main" id="{945F8AAA-C9D5-4644-6304-2A06B0F706C7}"/>
              </a:ext>
            </a:extLst>
          </p:cNvPr>
          <p:cNvSpPr>
            <a:spLocks noGrp="1"/>
          </p:cNvSpPr>
          <p:nvPr/>
        </p:nvSpPr>
        <p:spPr>
          <a:xfrm>
            <a:off x="933539" y="2546309"/>
            <a:ext cx="10401258"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フローチャート: 代替処理 8">
            <a:extLst>
              <a:ext uri="{FF2B5EF4-FFF2-40B4-BE49-F238E27FC236}">
                <a16:creationId xmlns:a16="http://schemas.microsoft.com/office/drawing/2014/main" id="{BD2B2B76-F990-98DD-381B-24DDC94A5A06}"/>
              </a:ext>
            </a:extLst>
          </p:cNvPr>
          <p:cNvSpPr>
            <a:spLocks noGrp="1"/>
          </p:cNvSpPr>
          <p:nvPr/>
        </p:nvSpPr>
        <p:spPr>
          <a:xfrm>
            <a:off x="933539" y="1508851"/>
            <a:ext cx="10401258"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673B7800-8A3A-716D-4320-52F0345A4F53}"/>
              </a:ext>
            </a:extLst>
          </p:cNvPr>
          <p:cNvSpPr>
            <a:spLocks noGrp="1"/>
          </p:cNvSpPr>
          <p:nvPr>
            <p:ph type="title"/>
          </p:nvPr>
        </p:nvSpPr>
        <p:spPr/>
        <p:txBody>
          <a:bodyPr wrap="square" lIns="0" tIns="0" rIns="19050" bIns="0" anchor="ctr">
            <a:normAutofit/>
          </a:bodyPr>
          <a:lstStyle/>
          <a:p>
            <a:pPr>
              <a:defRPr sz="3300" b="1">
                <a:solidFill>
                  <a:srgbClr val="000000"/>
                </a:solidFill>
                <a:latin typeface="Arial"/>
                <a:ea typeface="Arial"/>
                <a:cs typeface="Arial"/>
              </a:defRPr>
            </a:pPr>
            <a:r>
              <a:rPr lang="en-US" sz="3300" b="1" dirty="0">
                <a:solidFill>
                  <a:srgbClr val="000000"/>
                </a:solidFill>
                <a:latin typeface="Arial"/>
                <a:ea typeface="Arial"/>
                <a:cs typeface="Arial"/>
              </a:rPr>
              <a:t>Conclusion</a:t>
            </a:r>
            <a:endParaRPr sz="3300" b="1" dirty="0">
              <a:solidFill>
                <a:srgbClr val="000000"/>
              </a:solidFill>
              <a:latin typeface="Arial"/>
              <a:ea typeface="Arial"/>
              <a:cs typeface="Arial"/>
            </a:endParaRPr>
          </a:p>
        </p:txBody>
      </p:sp>
      <p:sp>
        <p:nvSpPr>
          <p:cNvPr id="3" name="スライド番号プレースホルダー 2">
            <a:extLst>
              <a:ext uri="{FF2B5EF4-FFF2-40B4-BE49-F238E27FC236}">
                <a16:creationId xmlns:a16="http://schemas.microsoft.com/office/drawing/2014/main" id="{06E3AFFC-D7D5-7FF8-902C-DFF805DE4495}"/>
              </a:ext>
            </a:extLst>
          </p:cNvPr>
          <p:cNvSpPr>
            <a:spLocks noGrp="1"/>
          </p:cNvSpPr>
          <p:nvPr>
            <p:ph type="sldNum" idx="12"/>
          </p:nvPr>
        </p:nvSpPr>
        <p:spPr>
          <a:xfrm>
            <a:off x="9202121" y="368959"/>
            <a:ext cx="1841809" cy="546400"/>
          </a:xfrm>
        </p:spPr>
        <p:txBody>
          <a:bodyPr/>
          <a:lstStyle/>
          <a:p>
            <a:fld id="{A9AD3F58-349D-3A41-BFFC-DA89322664A4}" type="slidenum">
              <a:rPr/>
              <a:t>20</a:t>
            </a:fld>
            <a:endParaRPr/>
          </a:p>
        </p:txBody>
      </p:sp>
      <p:sp>
        <p:nvSpPr>
          <p:cNvPr id="4" name="テキスト ボックス 3">
            <a:extLst>
              <a:ext uri="{FF2B5EF4-FFF2-40B4-BE49-F238E27FC236}">
                <a16:creationId xmlns:a16="http://schemas.microsoft.com/office/drawing/2014/main" id="{B4787855-556B-994B-67D5-90E2EC4F4CE5}"/>
              </a:ext>
            </a:extLst>
          </p:cNvPr>
          <p:cNvSpPr>
            <a:spLocks noGrp="1"/>
          </p:cNvSpPr>
          <p:nvPr/>
        </p:nvSpPr>
        <p:spPr>
          <a:xfrm>
            <a:off x="1144394" y="1451358"/>
            <a:ext cx="10815951" cy="954107"/>
          </a:xfrm>
          <a:prstGeom prst="rect">
            <a:avLst/>
          </a:prstGeom>
          <a:noFill/>
        </p:spPr>
        <p:txBody>
          <a:bodyPr wrap="square" anchor="ctr">
            <a:normAutofit/>
          </a:bodyPr>
          <a:lstStyle/>
          <a:p>
            <a:pPr>
              <a:defRPr sz="1800">
                <a:solidFill>
                  <a:srgbClr val="1F1F1F"/>
                </a:solidFill>
                <a:latin typeface="Arial"/>
                <a:ea typeface="Arial"/>
                <a:cs typeface="Arial"/>
              </a:defRPr>
            </a:pPr>
            <a:r>
              <a:rPr sz="2800" b="1" dirty="0">
                <a:solidFill>
                  <a:srgbClr val="1F1F1F"/>
                </a:solidFill>
                <a:latin typeface="Arial"/>
                <a:ea typeface="Arial"/>
                <a:cs typeface="Arial"/>
              </a:rPr>
              <a:t>Same generations</a:t>
            </a:r>
          </a:p>
          <a:p>
            <a:pPr>
              <a:defRPr sz="1800">
                <a:solidFill>
                  <a:srgbClr val="1F1F1F"/>
                </a:solidFill>
                <a:latin typeface="Arial"/>
                <a:ea typeface="Arial"/>
                <a:cs typeface="Arial"/>
              </a:defRPr>
            </a:pPr>
            <a:r>
              <a:rPr sz="2800" dirty="0">
                <a:solidFill>
                  <a:srgbClr val="1F1F1F"/>
                </a:solidFill>
                <a:latin typeface="Arial"/>
                <a:ea typeface="Arial"/>
                <a:cs typeface="Arial"/>
              </a:rPr>
              <a:t>The proposed method improves Fixed standard</a:t>
            </a:r>
          </a:p>
        </p:txBody>
      </p:sp>
      <p:sp>
        <p:nvSpPr>
          <p:cNvPr id="12" name="テキスト ボックス 11">
            <a:extLst>
              <a:ext uri="{FF2B5EF4-FFF2-40B4-BE49-F238E27FC236}">
                <a16:creationId xmlns:a16="http://schemas.microsoft.com/office/drawing/2014/main" id="{0F31BE11-0C11-F7BF-223C-378AD4D86AAD}"/>
              </a:ext>
            </a:extLst>
          </p:cNvPr>
          <p:cNvSpPr>
            <a:spLocks noGrp="1"/>
          </p:cNvSpPr>
          <p:nvPr/>
        </p:nvSpPr>
        <p:spPr>
          <a:xfrm>
            <a:off x="1144394" y="2500280"/>
            <a:ext cx="10815951" cy="954107"/>
          </a:xfrm>
          <a:prstGeom prst="rect">
            <a:avLst/>
          </a:prstGeom>
          <a:noFill/>
        </p:spPr>
        <p:txBody>
          <a:bodyPr wrap="square" anchor="ctr">
            <a:normAutofit/>
          </a:bodyPr>
          <a:lstStyle/>
          <a:p>
            <a:pPr>
              <a:defRPr sz="1800">
                <a:solidFill>
                  <a:srgbClr val="1F1F1F"/>
                </a:solidFill>
                <a:latin typeface="Arial"/>
                <a:ea typeface="Arial"/>
                <a:cs typeface="Arial"/>
              </a:defRPr>
            </a:pPr>
            <a:r>
              <a:rPr sz="2800" b="1" dirty="0">
                <a:solidFill>
                  <a:srgbClr val="1F1F1F"/>
                </a:solidFill>
                <a:latin typeface="Arial"/>
                <a:ea typeface="Arial"/>
                <a:cs typeface="Arial"/>
              </a:rPr>
              <a:t>Same deadline</a:t>
            </a:r>
          </a:p>
          <a:p>
            <a:pPr>
              <a:defRPr sz="1800">
                <a:solidFill>
                  <a:srgbClr val="1F1F1F"/>
                </a:solidFill>
                <a:latin typeface="Arial"/>
                <a:ea typeface="Arial"/>
                <a:cs typeface="Arial"/>
              </a:defRPr>
            </a:pPr>
            <a:r>
              <a:rPr sz="2800" dirty="0">
                <a:solidFill>
                  <a:srgbClr val="1F1F1F"/>
                </a:solidFill>
                <a:latin typeface="Arial"/>
                <a:ea typeface="Arial"/>
                <a:cs typeface="Arial"/>
              </a:rPr>
              <a:t>High mutation achieves higher HV</a:t>
            </a:r>
          </a:p>
        </p:txBody>
      </p:sp>
      <p:sp>
        <p:nvSpPr>
          <p:cNvPr id="5" name="フローチャート: 代替処理 4">
            <a:extLst>
              <a:ext uri="{FF2B5EF4-FFF2-40B4-BE49-F238E27FC236}">
                <a16:creationId xmlns:a16="http://schemas.microsoft.com/office/drawing/2014/main" id="{12D17EF5-9D07-2EA9-08AB-72D7EA1A5608}"/>
              </a:ext>
            </a:extLst>
          </p:cNvPr>
          <p:cNvSpPr/>
          <p:nvPr/>
        </p:nvSpPr>
        <p:spPr>
          <a:xfrm>
            <a:off x="933539" y="3596834"/>
            <a:ext cx="10401258" cy="1257300"/>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sp>
        <p:nvSpPr>
          <p:cNvPr id="6" name="テキスト ボックス 5">
            <a:extLst>
              <a:ext uri="{FF2B5EF4-FFF2-40B4-BE49-F238E27FC236}">
                <a16:creationId xmlns:a16="http://schemas.microsoft.com/office/drawing/2014/main" id="{23A0B3B1-E165-EE98-337B-6B7892C0AB16}"/>
              </a:ext>
            </a:extLst>
          </p:cNvPr>
          <p:cNvSpPr txBox="1"/>
          <p:nvPr/>
        </p:nvSpPr>
        <p:spPr>
          <a:xfrm>
            <a:off x="1144394" y="3748430"/>
            <a:ext cx="7822975" cy="954107"/>
          </a:xfrm>
          <a:prstGeom prst="rect">
            <a:avLst/>
          </a:prstGeom>
          <a:noFill/>
        </p:spPr>
        <p:txBody>
          <a:bodyPr wrap="none" rtlCol="0">
            <a:spAutoFit/>
          </a:bodyPr>
          <a:lstStyle/>
          <a:p>
            <a:pPr>
              <a:defRPr sz="1650" b="1">
                <a:solidFill>
                  <a:srgbClr val="17365D"/>
                </a:solidFill>
                <a:latin typeface="Arial"/>
                <a:ea typeface="Arial"/>
                <a:cs typeface="Arial"/>
              </a:defRPr>
            </a:pPr>
            <a:r>
              <a:rPr lang="en" altLang="ja-JP" sz="2800" b="1" dirty="0">
                <a:solidFill>
                  <a:srgbClr val="17365D"/>
                </a:solidFill>
                <a:latin typeface="Arial"/>
                <a:ea typeface="Arial"/>
                <a:cs typeface="Arial"/>
              </a:rPr>
              <a:t>Did not show a cost-effectiveness advantage</a:t>
            </a:r>
          </a:p>
          <a:p>
            <a:pPr>
              <a:defRPr sz="1650" b="1">
                <a:solidFill>
                  <a:srgbClr val="17365D"/>
                </a:solidFill>
                <a:latin typeface="Arial"/>
                <a:ea typeface="Arial"/>
                <a:cs typeface="Arial"/>
              </a:defRPr>
            </a:pPr>
            <a:r>
              <a:rPr lang="en" altLang="ja-JP" sz="2800" b="1" dirty="0">
                <a:solidFill>
                  <a:srgbClr val="17365D"/>
                </a:solidFill>
                <a:latin typeface="Arial"/>
                <a:ea typeface="Arial"/>
                <a:cs typeface="Arial"/>
              </a:rPr>
              <a:t>over High mutation on Friedman-II</a:t>
            </a:r>
            <a:endParaRPr kumimoji="1" lang="ja-JP" altLang="en-US" sz="2800"/>
          </a:p>
        </p:txBody>
      </p:sp>
      <p:sp>
        <p:nvSpPr>
          <p:cNvPr id="7" name="フローチャート: 代替処理 6">
            <a:extLst>
              <a:ext uri="{FF2B5EF4-FFF2-40B4-BE49-F238E27FC236}">
                <a16:creationId xmlns:a16="http://schemas.microsoft.com/office/drawing/2014/main" id="{8DF2B84E-450F-E10D-089D-079B8C39554D}"/>
              </a:ext>
            </a:extLst>
          </p:cNvPr>
          <p:cNvSpPr/>
          <p:nvPr/>
        </p:nvSpPr>
        <p:spPr>
          <a:xfrm>
            <a:off x="933539" y="5002052"/>
            <a:ext cx="10401258" cy="1384234"/>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7F26771-99FA-5E85-98B0-3A40DE69CDA0}"/>
              </a:ext>
            </a:extLst>
          </p:cNvPr>
          <p:cNvSpPr txBox="1"/>
          <p:nvPr/>
        </p:nvSpPr>
        <p:spPr>
          <a:xfrm>
            <a:off x="1144395" y="4960539"/>
            <a:ext cx="10010934" cy="1815882"/>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Future work</a:t>
            </a:r>
            <a:endParaRPr lang="en-US" altLang="ja-JP" sz="2800" dirty="0">
              <a:latin typeface="Arial" panose="020B0604020202020204" pitchFamily="34" charset="0"/>
              <a:cs typeface="Arial" panose="020B0604020202020204" pitchFamily="34" charset="0"/>
            </a:endParaRPr>
          </a:p>
          <a:p>
            <a:r>
              <a:rPr lang="en-US" altLang="ja-JP" sz="2800" dirty="0">
                <a:latin typeface="Arial" panose="020B0604020202020204" pitchFamily="34" charset="0"/>
                <a:cs typeface="Arial" panose="020B0604020202020204" pitchFamily="34" charset="0"/>
              </a:rPr>
              <a:t>Test with other problem, Redesign reward,</a:t>
            </a:r>
          </a:p>
          <a:p>
            <a:r>
              <a:rPr lang="en-US" altLang="ja-JP" sz="2800" dirty="0">
                <a:latin typeface="Arial" panose="020B0604020202020204" pitchFamily="34" charset="0"/>
                <a:cs typeface="Arial" panose="020B0604020202020204" pitchFamily="34" charset="0"/>
              </a:rPr>
              <a:t>Compare with other situation                                               etc.</a:t>
            </a:r>
          </a:p>
          <a:p>
            <a:r>
              <a:rPr lang="en-US" altLang="ja-JP" sz="2800" dirty="0">
                <a:solidFill>
                  <a:srgbClr val="FF0000"/>
                </a:solidFill>
                <a:latin typeface="Arial" panose="020B0604020202020204" pitchFamily="34" charset="0"/>
                <a:cs typeface="Arial" panose="020B0604020202020204" pitchFamily="34" charset="0"/>
              </a:rPr>
              <a:t>                   </a:t>
            </a:r>
            <a:endParaRPr lang="ja-JP" altLang="ja-JP"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2965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フローチャート: 代替処理 5">
            <a:extLst>
              <a:ext uri="{FF2B5EF4-FFF2-40B4-BE49-F238E27FC236}">
                <a16:creationId xmlns:a16="http://schemas.microsoft.com/office/drawing/2014/main" id="{A20C9FE5-89D1-4829-215F-E85DF697ABDB}"/>
              </a:ext>
            </a:extLst>
          </p:cNvPr>
          <p:cNvSpPr>
            <a:spLocks noGrp="1"/>
          </p:cNvSpPr>
          <p:nvPr/>
        </p:nvSpPr>
        <p:spPr>
          <a:xfrm>
            <a:off x="477012" y="2266950"/>
            <a:ext cx="9773031" cy="1333500"/>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092FD763-5542-2371-057E-86DEB8D41919}"/>
              </a:ext>
            </a:extLst>
          </p:cNvPr>
          <p:cNvSpPr>
            <a:spLocks noGrp="1"/>
          </p:cNvSpPr>
          <p:nvPr>
            <p:ph type="title"/>
          </p:nvPr>
        </p:nvSpPr>
        <p:spPr/>
        <p:txBody>
          <a:bodyPr wrap="square" lIns="0" tIns="0" rIns="19050" bIns="0" anchor="ctr">
            <a:normAutofit/>
          </a:bodyPr>
          <a:lstStyle/>
          <a:p>
            <a:pPr>
              <a:defRPr sz="3000" b="1">
                <a:solidFill>
                  <a:srgbClr val="000000"/>
                </a:solidFill>
                <a:latin typeface="Arial"/>
                <a:ea typeface="Arial"/>
                <a:cs typeface="Arial"/>
              </a:defRPr>
            </a:pPr>
            <a:r>
              <a:rPr sz="3000" b="1">
                <a:solidFill>
                  <a:srgbClr val="000000"/>
                </a:solidFill>
                <a:latin typeface="Arial"/>
                <a:ea typeface="Arial"/>
                <a:cs typeface="Arial"/>
              </a:rPr>
              <a:t>Current Takeaway and Next Validation</a:t>
            </a:r>
          </a:p>
        </p:txBody>
      </p:sp>
      <p:sp>
        <p:nvSpPr>
          <p:cNvPr id="3" name="スライド番号プレースホルダー 2">
            <a:extLst>
              <a:ext uri="{FF2B5EF4-FFF2-40B4-BE49-F238E27FC236}">
                <a16:creationId xmlns:a16="http://schemas.microsoft.com/office/drawing/2014/main" id="{DFA49645-F478-8652-43FF-68E443BE4A04}"/>
              </a:ext>
            </a:extLst>
          </p:cNvPr>
          <p:cNvSpPr>
            <a:spLocks noGrp="1"/>
          </p:cNvSpPr>
          <p:nvPr>
            <p:ph type="sldNum" idx="12"/>
          </p:nvPr>
        </p:nvSpPr>
        <p:spPr>
          <a:xfrm>
            <a:off x="9202121" y="368959"/>
            <a:ext cx="1841809" cy="546400"/>
          </a:xfrm>
        </p:spPr>
        <p:txBody>
          <a:bodyPr/>
          <a:lstStyle/>
          <a:p>
            <a:fld id="{A9AD3F58-349D-3A41-BFFC-DA89322664A4}" type="slidenum">
              <a:rPr/>
              <a:t>21</a:t>
            </a:fld>
            <a:endParaRPr/>
          </a:p>
        </p:txBody>
      </p:sp>
      <p:sp>
        <p:nvSpPr>
          <p:cNvPr id="4" name="テキスト ボックス 3">
            <a:extLst>
              <a:ext uri="{FF2B5EF4-FFF2-40B4-BE49-F238E27FC236}">
                <a16:creationId xmlns:a16="http://schemas.microsoft.com/office/drawing/2014/main" id="{AC465180-E89C-49E3-C95F-45C38E11C96C}"/>
              </a:ext>
            </a:extLst>
          </p:cNvPr>
          <p:cNvSpPr>
            <a:spLocks noGrp="1"/>
          </p:cNvSpPr>
          <p:nvPr/>
        </p:nvSpPr>
        <p:spPr>
          <a:xfrm>
            <a:off x="477346" y="1092026"/>
            <a:ext cx="10815951" cy="1384995"/>
          </a:xfrm>
          <a:prstGeom prst="rect">
            <a:avLst/>
          </a:prstGeom>
          <a:noFill/>
        </p:spPr>
        <p:txBody>
          <a:bodyPr wrap="square" anchor="ctr">
            <a:normAutofit/>
          </a:bodyPr>
          <a:lstStyle/>
          <a:p>
            <a:pPr>
              <a:defRPr sz="1875" b="1">
                <a:solidFill>
                  <a:srgbClr val="17365D"/>
                </a:solidFill>
                <a:latin typeface="Arial"/>
                <a:ea typeface="Arial"/>
                <a:cs typeface="Arial"/>
              </a:defRPr>
            </a:pPr>
            <a:r>
              <a:rPr sz="1875" b="1">
                <a:solidFill>
                  <a:srgbClr val="17365D"/>
                </a:solidFill>
                <a:latin typeface="Arial"/>
                <a:ea typeface="Arial"/>
                <a:cs typeface="Arial"/>
              </a:rPr>
              <a:t>Current evidence</a:t>
            </a:r>
          </a:p>
        </p:txBody>
      </p:sp>
      <p:sp>
        <p:nvSpPr>
          <p:cNvPr id="5" name="テキスト ボックス 4">
            <a:extLst>
              <a:ext uri="{FF2B5EF4-FFF2-40B4-BE49-F238E27FC236}">
                <a16:creationId xmlns:a16="http://schemas.microsoft.com/office/drawing/2014/main" id="{0462ADC4-5E76-EAC3-B717-3D5DE49246E5}"/>
              </a:ext>
            </a:extLst>
          </p:cNvPr>
          <p:cNvSpPr>
            <a:spLocks noGrp="1"/>
          </p:cNvSpPr>
          <p:nvPr/>
        </p:nvSpPr>
        <p:spPr>
          <a:xfrm>
            <a:off x="790575" y="2352675"/>
            <a:ext cx="9163050" cy="1371600"/>
          </a:xfrm>
          <a:prstGeom prst="rect">
            <a:avLst/>
          </a:prstGeom>
          <a:noFill/>
        </p:spPr>
        <p:txBody>
          <a:bodyPr wrap="square" lIns="95250" tIns="38100" rIns="95250" bIns="38100" anchor="ctr">
            <a:normAutofit/>
          </a:bodyPr>
          <a:lstStyle/>
          <a:p>
            <a:pPr algn="ctr">
              <a:defRPr sz="1650" b="1">
                <a:solidFill>
                  <a:srgbClr val="17365D"/>
                </a:solidFill>
                <a:latin typeface="Arial"/>
                <a:ea typeface="Arial"/>
                <a:cs typeface="Arial"/>
              </a:defRPr>
            </a:pPr>
            <a:r>
              <a:rPr sz="1650" b="1" dirty="0">
                <a:solidFill>
                  <a:srgbClr val="17365D"/>
                </a:solidFill>
                <a:latin typeface="Arial"/>
                <a:ea typeface="Arial"/>
                <a:cs typeface="Arial"/>
              </a:rPr>
              <a:t>The proposed method improved over Fixed standard,</a:t>
            </a:r>
          </a:p>
          <a:p>
            <a:pPr algn="ctr">
              <a:defRPr sz="1650" b="1">
                <a:solidFill>
                  <a:srgbClr val="17365D"/>
                </a:solidFill>
                <a:latin typeface="Arial"/>
                <a:ea typeface="Arial"/>
                <a:cs typeface="Arial"/>
              </a:defRPr>
            </a:pPr>
            <a:r>
              <a:rPr sz="1650" b="1" dirty="0">
                <a:solidFill>
                  <a:srgbClr val="17365D"/>
                </a:solidFill>
                <a:latin typeface="Arial"/>
                <a:ea typeface="Arial"/>
                <a:cs typeface="Arial"/>
              </a:rPr>
              <a:t>but did not show a cost-effectiveness advantage</a:t>
            </a:r>
          </a:p>
          <a:p>
            <a:pPr algn="ctr">
              <a:defRPr sz="1650" b="1">
                <a:solidFill>
                  <a:srgbClr val="17365D"/>
                </a:solidFill>
                <a:latin typeface="Arial"/>
                <a:ea typeface="Arial"/>
                <a:cs typeface="Arial"/>
              </a:defRPr>
            </a:pPr>
            <a:r>
              <a:rPr sz="1650" b="1" dirty="0">
                <a:solidFill>
                  <a:srgbClr val="17365D"/>
                </a:solidFill>
                <a:latin typeface="Arial"/>
                <a:ea typeface="Arial"/>
                <a:cs typeface="Arial"/>
              </a:rPr>
              <a:t>over High mutation on Friedman-II.</a:t>
            </a:r>
          </a:p>
        </p:txBody>
      </p:sp>
      <p:sp>
        <p:nvSpPr>
          <p:cNvPr id="7" name="テキスト ボックス 6">
            <a:extLst>
              <a:ext uri="{FF2B5EF4-FFF2-40B4-BE49-F238E27FC236}">
                <a16:creationId xmlns:a16="http://schemas.microsoft.com/office/drawing/2014/main" id="{B04D21A1-512A-863F-769B-1F8E9D11EE94}"/>
              </a:ext>
            </a:extLst>
          </p:cNvPr>
          <p:cNvSpPr>
            <a:spLocks noGrp="1"/>
          </p:cNvSpPr>
          <p:nvPr/>
        </p:nvSpPr>
        <p:spPr>
          <a:xfrm>
            <a:off x="476992" y="3720324"/>
            <a:ext cx="4546437" cy="523220"/>
          </a:xfrm>
          <a:prstGeom prst="rect">
            <a:avLst/>
          </a:prstGeom>
          <a:noFill/>
        </p:spPr>
        <p:txBody>
          <a:bodyPr wrap="square">
            <a:normAutofit/>
          </a:bodyPr>
          <a:lstStyle/>
          <a:p>
            <a:pPr>
              <a:defRPr sz="2175" b="1">
                <a:solidFill>
                  <a:srgbClr val="000000"/>
                </a:solidFill>
                <a:latin typeface="Arial"/>
                <a:ea typeface="Arial"/>
                <a:cs typeface="Arial"/>
              </a:defRPr>
            </a:pPr>
            <a:r>
              <a:rPr sz="2175" b="1">
                <a:solidFill>
                  <a:srgbClr val="000000"/>
                </a:solidFill>
                <a:latin typeface="Arial"/>
                <a:ea typeface="Arial"/>
                <a:cs typeface="Arial"/>
              </a:rPr>
              <a:t>Next validation</a:t>
            </a:r>
          </a:p>
        </p:txBody>
      </p:sp>
      <p:sp>
        <p:nvSpPr>
          <p:cNvPr id="8" name="テキスト ボックス 7">
            <a:extLst>
              <a:ext uri="{FF2B5EF4-FFF2-40B4-BE49-F238E27FC236}">
                <a16:creationId xmlns:a16="http://schemas.microsoft.com/office/drawing/2014/main" id="{B5D82B46-EB92-99CE-D1D1-D212B5C79422}"/>
              </a:ext>
            </a:extLst>
          </p:cNvPr>
          <p:cNvSpPr>
            <a:spLocks noGrp="1"/>
          </p:cNvSpPr>
          <p:nvPr/>
        </p:nvSpPr>
        <p:spPr>
          <a:xfrm>
            <a:off x="790832" y="4380980"/>
            <a:ext cx="9805890" cy="2382191"/>
          </a:xfrm>
          <a:prstGeom prst="rect">
            <a:avLst/>
          </a:prstGeom>
          <a:noFill/>
        </p:spPr>
        <p:txBody>
          <a:bodyPr wrap="square" lIns="95250" tIns="47625" rIns="95250" bIns="47625" anchor="t">
            <a:normAutofit/>
          </a:bodyPr>
          <a:lstStyle/>
          <a:p>
            <a:pPr marL="30" indent="-18">
              <a:buChar char="1"/>
              <a:defRPr sz="1875">
                <a:solidFill>
                  <a:srgbClr val="1F1F1F"/>
                </a:solidFill>
                <a:latin typeface="Arial"/>
                <a:ea typeface="Arial"/>
                <a:cs typeface="Arial"/>
              </a:defRPr>
            </a:pPr>
            <a:r>
              <a:rPr sz="1875">
                <a:solidFill>
                  <a:srgbClr val="1F1F1F"/>
                </a:solidFill>
                <a:latin typeface="Arial"/>
                <a:ea typeface="Arial"/>
                <a:cs typeface="Arial"/>
              </a:rPr>
              <a:t>Reduce online-control cost</a:t>
            </a:r>
          </a:p>
          <a:p>
            <a:pPr marL="30" indent="-18">
              <a:buChar char="2"/>
              <a:defRPr sz="1875">
                <a:solidFill>
                  <a:srgbClr val="1F1F1F"/>
                </a:solidFill>
                <a:latin typeface="Arial"/>
                <a:ea typeface="Arial"/>
                <a:cs typeface="Arial"/>
              </a:defRPr>
            </a:pPr>
            <a:r>
              <a:rPr sz="1875">
                <a:solidFill>
                  <a:srgbClr val="1F1F1F"/>
                </a:solidFill>
                <a:latin typeface="Arial"/>
                <a:ea typeface="Arial"/>
                <a:cs typeface="Arial"/>
              </a:rPr>
              <a:t>Re-evaluate quality under the same deadline</a:t>
            </a:r>
          </a:p>
          <a:p>
            <a:pPr marL="30" indent="-18">
              <a:buChar char="3"/>
              <a:defRPr sz="1875">
                <a:solidFill>
                  <a:srgbClr val="1F1F1F"/>
                </a:solidFill>
                <a:latin typeface="Arial"/>
                <a:ea typeface="Arial"/>
                <a:cs typeface="Arial"/>
              </a:defRPr>
            </a:pPr>
            <a:r>
              <a:rPr sz="1875">
                <a:solidFill>
                  <a:srgbClr val="1F1F1F"/>
                </a:solidFill>
                <a:latin typeface="Arial"/>
                <a:ea typeface="Arial"/>
                <a:cs typeface="Arial"/>
              </a:rPr>
              <a:t>Test different problems and fixed settings</a:t>
            </a:r>
          </a:p>
        </p:txBody>
      </p:sp>
    </p:spTree>
    <p:extLst>
      <p:ext uri="{BB962C8B-B14F-4D97-AF65-F5344CB8AC3E}">
        <p14:creationId xmlns:p14="http://schemas.microsoft.com/office/powerpoint/2010/main" val="2210564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E600FB-3508-ABFC-9B8E-5CBDE40CE752}"/>
            </a:ext>
          </a:extLst>
        </p:cNvPr>
        <p:cNvGrpSpPr/>
        <p:nvPr/>
      </p:nvGrpSpPr>
      <p:grpSpPr>
        <a:xfrm>
          <a:off x="0" y="0"/>
          <a:ext cx="0" cy="0"/>
          <a:chOff x="0" y="0"/>
          <a:chExt cx="0" cy="0"/>
        </a:xfrm>
      </p:grpSpPr>
      <p:sp>
        <p:nvSpPr>
          <p:cNvPr id="9" name="フローチャート: 代替処理 8">
            <a:extLst>
              <a:ext uri="{FF2B5EF4-FFF2-40B4-BE49-F238E27FC236}">
                <a16:creationId xmlns:a16="http://schemas.microsoft.com/office/drawing/2014/main" id="{D89B3FB9-2A72-6B3E-1C7B-5101536D58FD}"/>
              </a:ext>
            </a:extLst>
          </p:cNvPr>
          <p:cNvSpPr>
            <a:spLocks noGrp="1"/>
          </p:cNvSpPr>
          <p:nvPr/>
        </p:nvSpPr>
        <p:spPr>
          <a:xfrm>
            <a:off x="616084" y="1481961"/>
            <a:ext cx="10959831" cy="1785995"/>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フローチャート: 代替処理 10">
            <a:extLst>
              <a:ext uri="{FF2B5EF4-FFF2-40B4-BE49-F238E27FC236}">
                <a16:creationId xmlns:a16="http://schemas.microsoft.com/office/drawing/2014/main" id="{AB3DEB0E-D8D4-21EC-2EF1-018A3C2A51B4}"/>
              </a:ext>
            </a:extLst>
          </p:cNvPr>
          <p:cNvSpPr>
            <a:spLocks noGrp="1"/>
          </p:cNvSpPr>
          <p:nvPr/>
        </p:nvSpPr>
        <p:spPr>
          <a:xfrm>
            <a:off x="616084" y="5376039"/>
            <a:ext cx="10959831"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テキスト ボックス 12">
            <a:extLst>
              <a:ext uri="{FF2B5EF4-FFF2-40B4-BE49-F238E27FC236}">
                <a16:creationId xmlns:a16="http://schemas.microsoft.com/office/drawing/2014/main" id="{B5463A67-1C33-422E-6BDB-2341ED21AF2D}"/>
              </a:ext>
            </a:extLst>
          </p:cNvPr>
          <p:cNvSpPr>
            <a:spLocks noGrp="1"/>
          </p:cNvSpPr>
          <p:nvPr/>
        </p:nvSpPr>
        <p:spPr>
          <a:xfrm>
            <a:off x="762572" y="5448300"/>
            <a:ext cx="10959846" cy="647700"/>
          </a:xfrm>
          <a:prstGeom prst="rect">
            <a:avLst/>
          </a:prstGeom>
          <a:noFill/>
        </p:spPr>
        <p:txBody>
          <a:bodyPr wrap="square" anchor="ctr">
            <a:normAutofit/>
          </a:bodyPr>
          <a:lstStyle/>
          <a:p>
            <a:pPr algn="ctr">
              <a:lnSpc>
                <a:spcPct val="120000"/>
              </a:lnSpc>
              <a:buNone/>
              <a:defRPr sz="1650" b="1">
                <a:solidFill>
                  <a:srgbClr val="17365D"/>
                </a:solidFill>
                <a:latin typeface="Arial"/>
                <a:ea typeface="Arial"/>
                <a:cs typeface="Arial"/>
              </a:defRPr>
            </a:pPr>
            <a:r>
              <a:rPr sz="1650" b="1" dirty="0">
                <a:solidFill>
                  <a:srgbClr val="17365D"/>
                </a:solidFill>
                <a:latin typeface="Arial"/>
                <a:ea typeface="Arial"/>
                <a:cs typeface="Arial"/>
              </a:rPr>
              <a:t>Two comparisons answer two different questions: same generations and same deadline.</a:t>
            </a:r>
          </a:p>
        </p:txBody>
      </p:sp>
      <p:sp>
        <p:nvSpPr>
          <p:cNvPr id="18" name="スライド番号プレースホルダー 2">
            <a:extLst>
              <a:ext uri="{FF2B5EF4-FFF2-40B4-BE49-F238E27FC236}">
                <a16:creationId xmlns:a16="http://schemas.microsoft.com/office/drawing/2014/main" id="{54975295-2D07-F9FC-6F60-953FFD41EDB9}"/>
              </a:ext>
            </a:extLst>
          </p:cNvPr>
          <p:cNvSpPr>
            <a:spLocks noGrp="1"/>
          </p:cNvSpPr>
          <p:nvPr>
            <p:ph type="sldNum" idx="12"/>
          </p:nvPr>
        </p:nvSpPr>
        <p:spPr>
          <a:xfrm>
            <a:off x="9202121" y="368959"/>
            <a:ext cx="1841809" cy="546400"/>
          </a:xfrm>
        </p:spPr>
        <p:txBody>
          <a:bodyPr/>
          <a:lstStyle/>
          <a:p>
            <a:fld id="{A9AD3F58-349D-3A41-BFFC-DA89322664A4}" type="slidenum">
              <a:rPr/>
              <a:t>22</a:t>
            </a:fld>
            <a:endParaRPr/>
          </a:p>
        </p:txBody>
      </p:sp>
      <p:sp>
        <p:nvSpPr>
          <p:cNvPr id="3" name="テキスト ボックス 2">
            <a:extLst>
              <a:ext uri="{FF2B5EF4-FFF2-40B4-BE49-F238E27FC236}">
                <a16:creationId xmlns:a16="http://schemas.microsoft.com/office/drawing/2014/main" id="{CC723ABF-49CE-8C54-8429-9AB14A0C11DD}"/>
              </a:ext>
            </a:extLst>
          </p:cNvPr>
          <p:cNvSpPr>
            <a:spLocks noGrp="1"/>
          </p:cNvSpPr>
          <p:nvPr/>
        </p:nvSpPr>
        <p:spPr>
          <a:xfrm>
            <a:off x="762573" y="1682460"/>
            <a:ext cx="10522507" cy="1384995"/>
          </a:xfrm>
          <a:prstGeom prst="rect">
            <a:avLst/>
          </a:prstGeom>
          <a:noFill/>
        </p:spPr>
        <p:txBody>
          <a:bodyPr wrap="square" lIns="190500" tIns="76200" rIns="190500" bIns="76200" anchor="ctr">
            <a:normAutofit/>
          </a:bodyPr>
          <a:lstStyle/>
          <a:p>
            <a:pPr>
              <a:defRPr sz="2550" b="1">
                <a:solidFill>
                  <a:srgbClr val="17365D"/>
                </a:solidFill>
                <a:latin typeface="Arial"/>
                <a:ea typeface="Arial"/>
                <a:cs typeface="Arial"/>
              </a:defRPr>
            </a:pPr>
            <a:r>
              <a:rPr sz="2800" b="1" dirty="0">
                <a:latin typeface="Arial"/>
                <a:ea typeface="Arial"/>
                <a:cs typeface="Arial"/>
              </a:rPr>
              <a:t>Does the proposed method's quality gain justify its additional computation time?</a:t>
            </a:r>
          </a:p>
        </p:txBody>
      </p:sp>
      <p:sp>
        <p:nvSpPr>
          <p:cNvPr id="15" name="テキスト ボックス 14">
            <a:extLst>
              <a:ext uri="{FF2B5EF4-FFF2-40B4-BE49-F238E27FC236}">
                <a16:creationId xmlns:a16="http://schemas.microsoft.com/office/drawing/2014/main" id="{0331A312-66CA-586D-E097-64D2B71E0A91}"/>
              </a:ext>
            </a:extLst>
          </p:cNvPr>
          <p:cNvSpPr>
            <a:spLocks noGrp="1"/>
          </p:cNvSpPr>
          <p:nvPr/>
        </p:nvSpPr>
        <p:spPr>
          <a:xfrm>
            <a:off x="906920" y="3687735"/>
            <a:ext cx="2488076" cy="461665"/>
          </a:xfrm>
          <a:prstGeom prst="rect">
            <a:avLst/>
          </a:prstGeom>
          <a:noFill/>
        </p:spPr>
        <p:txBody>
          <a:bodyPr wrap="square">
            <a:normAutofit/>
          </a:bodyPr>
          <a:lstStyle/>
          <a:p>
            <a:pPr>
              <a:defRPr sz="1800" b="1">
                <a:solidFill>
                  <a:srgbClr val="17365D"/>
                </a:solidFill>
                <a:latin typeface="Arial"/>
                <a:ea typeface="Arial"/>
                <a:cs typeface="Arial"/>
              </a:defRPr>
            </a:pPr>
            <a:r>
              <a:rPr sz="1800" b="1" dirty="0">
                <a:solidFill>
                  <a:srgbClr val="17365D"/>
                </a:solidFill>
                <a:latin typeface="Arial"/>
                <a:ea typeface="Arial"/>
                <a:cs typeface="Arial"/>
              </a:rPr>
              <a:t>Evaluation</a:t>
            </a:r>
          </a:p>
        </p:txBody>
      </p:sp>
      <p:sp>
        <p:nvSpPr>
          <p:cNvPr id="16" name="Text 20">
            <a:extLst>
              <a:ext uri="{FF2B5EF4-FFF2-40B4-BE49-F238E27FC236}">
                <a16:creationId xmlns:a16="http://schemas.microsoft.com/office/drawing/2014/main" id="{AB023AF4-A465-0CDF-1B8D-624C5758D09C}"/>
              </a:ext>
            </a:extLst>
          </p:cNvPr>
          <p:cNvSpPr>
            <a:spLocks noGrp="1"/>
          </p:cNvSpPr>
          <p:nvPr/>
        </p:nvSpPr>
        <p:spPr>
          <a:xfrm>
            <a:off x="1058207" y="4149400"/>
            <a:ext cx="10226873" cy="928437"/>
          </a:xfrm>
          <a:prstGeom prst="rect">
            <a:avLst/>
          </a:prstGeom>
          <a:noFill/>
          <a:ln>
            <a:noFill/>
          </a:ln>
        </p:spPr>
        <p:txBody>
          <a:bodyPr wrap="square" lIns="45720" tIns="45720" rIns="45720" bIns="45720" anchor="ctr">
            <a:normAutofit/>
          </a:bodyPr>
          <a:lstStyle/>
          <a:p>
            <a:pPr algn="ctr">
              <a:defRPr sz="2025">
                <a:solidFill>
                  <a:srgbClr val="1F1F1F"/>
                </a:solidFill>
                <a:latin typeface="Arial"/>
                <a:ea typeface="Arial"/>
                <a:cs typeface="Arial"/>
              </a:defRPr>
            </a:pPr>
            <a:r>
              <a:rPr sz="2025">
                <a:solidFill>
                  <a:srgbClr val="1F1F1F"/>
                </a:solidFill>
                <a:latin typeface="Arial"/>
                <a:ea typeface="Arial"/>
                <a:cs typeface="Arial"/>
              </a:rPr>
              <a:t>Final quality   →   Total time   →   Quality at the same deadline</a:t>
            </a:r>
          </a:p>
        </p:txBody>
      </p:sp>
      <p:sp>
        <p:nvSpPr>
          <p:cNvPr id="17" name="フローチャート: 代替処理 16">
            <a:extLst>
              <a:ext uri="{FF2B5EF4-FFF2-40B4-BE49-F238E27FC236}">
                <a16:creationId xmlns:a16="http://schemas.microsoft.com/office/drawing/2014/main" id="{72737D48-4EBE-CBC1-55B8-9446C4109BAB}"/>
              </a:ext>
            </a:extLst>
          </p:cNvPr>
          <p:cNvSpPr>
            <a:spLocks noGrp="1"/>
          </p:cNvSpPr>
          <p:nvPr/>
        </p:nvSpPr>
        <p:spPr>
          <a:xfrm>
            <a:off x="616084" y="3642328"/>
            <a:ext cx="10959831" cy="1359339"/>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タイトル 4">
            <a:extLst>
              <a:ext uri="{FF2B5EF4-FFF2-40B4-BE49-F238E27FC236}">
                <a16:creationId xmlns:a16="http://schemas.microsoft.com/office/drawing/2014/main" id="{652CBFA6-11EC-E2FD-D9AB-A44246303208}"/>
              </a:ext>
            </a:extLst>
          </p:cNvPr>
          <p:cNvSpPr>
            <a:spLocks noGrp="1"/>
          </p:cNvSpPr>
          <p:nvPr>
            <p:ph type="title"/>
          </p:nvPr>
        </p:nvSpPr>
        <p:spPr/>
        <p:txBody>
          <a:bodyPr>
            <a:normAutofit fontScale="90000"/>
          </a:bodyPr>
          <a:lstStyle/>
          <a:p>
            <a:r>
              <a:rPr lang="en" altLang="ja-JP" b="1" dirty="0">
                <a:solidFill>
                  <a:srgbClr val="000000"/>
                </a:solidFill>
                <a:latin typeface="Arial"/>
                <a:ea typeface="Arial"/>
                <a:cs typeface="Arial"/>
              </a:rPr>
              <a:t>Computation-Cost Experiment</a:t>
            </a:r>
            <a:endParaRPr lang="ja-JP" altLang="en-US"/>
          </a:p>
        </p:txBody>
      </p:sp>
    </p:spTree>
    <p:extLst>
      <p:ext uri="{BB962C8B-B14F-4D97-AF65-F5344CB8AC3E}">
        <p14:creationId xmlns:p14="http://schemas.microsoft.com/office/powerpoint/2010/main" val="1285277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4D644-2F7D-0E6F-C896-89D5FA193B1B}"/>
              </a:ext>
            </a:extLst>
          </p:cNvPr>
          <p:cNvSpPr>
            <a:spLocks noGrp="1"/>
          </p:cNvSpPr>
          <p:nvPr>
            <p:ph type="title"/>
          </p:nvPr>
        </p:nvSpPr>
        <p:spPr>
          <a:xfrm>
            <a:off x="568484" y="1308579"/>
            <a:ext cx="11113646" cy="638485"/>
          </a:xfrm>
        </p:spPr>
        <p:txBody>
          <a:bodyPr wrap="square" lIns="0" tIns="0" rIns="19050" bIns="0" anchor="ctr">
            <a:noAutofit/>
          </a:bodyPr>
          <a:lstStyle/>
          <a:p>
            <a:pPr>
              <a:defRPr sz="2100" b="1">
                <a:solidFill>
                  <a:srgbClr val="000000"/>
                </a:solidFill>
                <a:latin typeface="Arial"/>
                <a:ea typeface="Arial"/>
                <a:cs typeface="Arial"/>
              </a:defRPr>
            </a:pPr>
            <a:r>
              <a:rPr sz="2800" b="1" dirty="0">
                <a:solidFill>
                  <a:srgbClr val="000000"/>
                </a:solidFill>
                <a:latin typeface="Arial"/>
                <a:ea typeface="Arial"/>
                <a:cs typeface="Arial"/>
              </a:rPr>
              <a:t>The </a:t>
            </a:r>
            <a:r>
              <a:rPr lang="en-US" sz="2800" b="1" dirty="0">
                <a:solidFill>
                  <a:srgbClr val="000000"/>
                </a:solidFill>
                <a:latin typeface="Arial"/>
                <a:ea typeface="Arial"/>
                <a:cs typeface="Arial"/>
              </a:rPr>
              <a:t>p</a:t>
            </a:r>
            <a:r>
              <a:rPr sz="2800" b="1" dirty="0">
                <a:solidFill>
                  <a:srgbClr val="000000"/>
                </a:solidFill>
                <a:latin typeface="Arial"/>
                <a:ea typeface="Arial"/>
                <a:cs typeface="Arial"/>
              </a:rPr>
              <a:t>roposed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ethod </a:t>
            </a:r>
            <a:r>
              <a:rPr lang="en-US" sz="2800" b="1" dirty="0">
                <a:solidFill>
                  <a:srgbClr val="000000"/>
                </a:solidFill>
                <a:latin typeface="Arial"/>
                <a:ea typeface="Arial"/>
                <a:cs typeface="Arial"/>
              </a:rPr>
              <a:t>i</a:t>
            </a:r>
            <a:r>
              <a:rPr sz="2800" b="1" dirty="0">
                <a:solidFill>
                  <a:srgbClr val="000000"/>
                </a:solidFill>
                <a:latin typeface="Arial"/>
                <a:ea typeface="Arial"/>
                <a:cs typeface="Arial"/>
              </a:rPr>
              <a:t>mproves on </a:t>
            </a:r>
            <a:r>
              <a:rPr lang="en-US" sz="2800" b="1" dirty="0">
                <a:solidFill>
                  <a:srgbClr val="000000"/>
                </a:solidFill>
                <a:latin typeface="Arial"/>
                <a:ea typeface="Arial"/>
                <a:cs typeface="Arial"/>
              </a:rPr>
              <a:t>f</a:t>
            </a:r>
            <a:r>
              <a:rPr sz="2800" b="1" dirty="0">
                <a:solidFill>
                  <a:srgbClr val="000000"/>
                </a:solidFill>
                <a:latin typeface="Arial"/>
                <a:ea typeface="Arial"/>
                <a:cs typeface="Arial"/>
              </a:rPr>
              <a:t>ixed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tandard,</a:t>
            </a:r>
          </a:p>
          <a:p>
            <a:pPr>
              <a:defRPr sz="2100" b="1">
                <a:solidFill>
                  <a:srgbClr val="000000"/>
                </a:solidFill>
                <a:latin typeface="Arial"/>
                <a:ea typeface="Arial"/>
                <a:cs typeface="Arial"/>
              </a:defRPr>
            </a:pPr>
            <a:r>
              <a:rPr sz="2800" b="1" dirty="0">
                <a:solidFill>
                  <a:srgbClr val="000000"/>
                </a:solidFill>
                <a:latin typeface="Arial"/>
                <a:ea typeface="Arial"/>
                <a:cs typeface="Arial"/>
              </a:rPr>
              <a:t>but </a:t>
            </a:r>
            <a:r>
              <a:rPr lang="en-US" sz="2800" b="1" dirty="0">
                <a:solidFill>
                  <a:srgbClr val="000000"/>
                </a:solidFill>
                <a:latin typeface="Arial"/>
                <a:ea typeface="Arial"/>
                <a:cs typeface="Arial"/>
              </a:rPr>
              <a:t>r</a:t>
            </a:r>
            <a:r>
              <a:rPr sz="2800" b="1" dirty="0">
                <a:solidFill>
                  <a:srgbClr val="000000"/>
                </a:solidFill>
                <a:latin typeface="Arial"/>
                <a:ea typeface="Arial"/>
                <a:cs typeface="Arial"/>
              </a:rPr>
              <a:t>equires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ore </a:t>
            </a:r>
            <a:r>
              <a:rPr lang="en-US" sz="2800" b="1" dirty="0">
                <a:solidFill>
                  <a:srgbClr val="000000"/>
                </a:solidFill>
                <a:latin typeface="Arial"/>
                <a:ea typeface="Arial"/>
                <a:cs typeface="Arial"/>
              </a:rPr>
              <a:t>t</a:t>
            </a:r>
            <a:r>
              <a:rPr sz="2800" b="1" dirty="0">
                <a:solidFill>
                  <a:srgbClr val="000000"/>
                </a:solidFill>
                <a:latin typeface="Arial"/>
                <a:ea typeface="Arial"/>
                <a:cs typeface="Arial"/>
              </a:rPr>
              <a:t>ime</a:t>
            </a:r>
          </a:p>
        </p:txBody>
      </p:sp>
      <p:sp>
        <p:nvSpPr>
          <p:cNvPr id="5" name="スライド番号プレースホルダー 2">
            <a:extLst>
              <a:ext uri="{FF2B5EF4-FFF2-40B4-BE49-F238E27FC236}">
                <a16:creationId xmlns:a16="http://schemas.microsoft.com/office/drawing/2014/main" id="{860AD0DA-79EC-E503-6CB9-C77ED17DE506}"/>
              </a:ext>
            </a:extLst>
          </p:cNvPr>
          <p:cNvSpPr>
            <a:spLocks noGrp="1"/>
          </p:cNvSpPr>
          <p:nvPr>
            <p:ph type="sldNum" idx="12"/>
          </p:nvPr>
        </p:nvSpPr>
        <p:spPr>
          <a:xfrm>
            <a:off x="9202121" y="368959"/>
            <a:ext cx="1841809" cy="546400"/>
          </a:xfrm>
        </p:spPr>
        <p:txBody>
          <a:bodyPr/>
          <a:lstStyle/>
          <a:p>
            <a:fld id="{A9AD3F58-349D-3A41-BFFC-DA89322664A4}" type="slidenum">
              <a:rPr/>
              <a:t>23</a:t>
            </a:fld>
            <a:endParaRPr/>
          </a:p>
        </p:txBody>
      </p:sp>
      <p:cxnSp>
        <p:nvCxnSpPr>
          <p:cNvPr id="48" name="直線矢印コネクタ 7"/>
          <p:cNvCxnSpPr/>
          <p:nvPr/>
        </p:nvCxnSpPr>
        <p:spPr>
          <a:xfrm flipH="1" flipV="1">
            <a:off x="5931877" y="3066096"/>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15"/>
          <p:cNvCxnSpPr>
            <a:cxnSpLocks/>
          </p:cNvCxnSpPr>
          <p:nvPr/>
        </p:nvCxnSpPr>
        <p:spPr>
          <a:xfrm flipV="1">
            <a:off x="3715426" y="3393704"/>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4185B4DD-9D74-08F9-C9C0-68ACB58A4FF3}"/>
              </a:ext>
            </a:extLst>
          </p:cNvPr>
          <p:cNvSpPr>
            <a:spLocks noGrp="1"/>
          </p:cNvSpPr>
          <p:nvPr/>
        </p:nvSpPr>
        <p:spPr>
          <a:xfrm>
            <a:off x="8756885" y="4642382"/>
            <a:ext cx="3200054" cy="1846659"/>
          </a:xfrm>
          <a:prstGeom prst="rect">
            <a:avLst/>
          </a:prstGeom>
          <a:noFill/>
        </p:spPr>
        <p:txBody>
          <a:bodyPr wrap="square" lIns="76200" tIns="76200" rIns="76200" bIns="76200" anchor="ctr">
            <a:normAutofit/>
          </a:bodyPr>
          <a:lstStyle/>
          <a:p>
            <a:pPr>
              <a:defRPr sz="1575">
                <a:solidFill>
                  <a:srgbClr val="1F1F1F"/>
                </a:solidFill>
                <a:latin typeface="Arial"/>
                <a:ea typeface="Arial"/>
                <a:cs typeface="Arial"/>
              </a:defRPr>
            </a:pPr>
            <a:r>
              <a:rPr sz="1575" b="1">
                <a:solidFill>
                  <a:srgbClr val="1F1F1F"/>
                </a:solidFill>
                <a:latin typeface="Arial"/>
                <a:ea typeface="Arial"/>
                <a:cs typeface="Arial"/>
              </a:rPr>
              <a:t>High mutation</a:t>
            </a:r>
          </a:p>
          <a:p>
            <a:pPr>
              <a:defRPr sz="1575">
                <a:solidFill>
                  <a:srgbClr val="1F1F1F"/>
                </a:solidFill>
                <a:latin typeface="Arial"/>
                <a:ea typeface="Arial"/>
                <a:cs typeface="Arial"/>
              </a:defRPr>
            </a:pPr>
            <a:r>
              <a:rPr sz="1575">
                <a:solidFill>
                  <a:srgbClr val="1F1F1F"/>
                </a:solidFill>
                <a:latin typeface="Arial"/>
                <a:ea typeface="Arial"/>
                <a:cs typeface="Arial"/>
              </a:rPr>
              <a:t>0.808 HV in 3.36 s</a:t>
            </a:r>
          </a:p>
          <a:p>
            <a:endParaRPr sz="1575">
              <a:solidFill>
                <a:srgbClr val="1F1F1F"/>
              </a:solidFill>
              <a:latin typeface="Arial"/>
              <a:ea typeface="Arial"/>
              <a:cs typeface="Arial"/>
            </a:endParaRPr>
          </a:p>
          <a:p>
            <a:pPr>
              <a:defRPr sz="1575">
                <a:solidFill>
                  <a:srgbClr val="1F1F1F"/>
                </a:solidFill>
                <a:latin typeface="Arial"/>
                <a:ea typeface="Arial"/>
                <a:cs typeface="Arial"/>
              </a:defRPr>
            </a:pPr>
            <a:r>
              <a:rPr sz="1575">
                <a:solidFill>
                  <a:srgbClr val="1F1F1F"/>
                </a:solidFill>
                <a:latin typeface="Arial"/>
                <a:ea typeface="Arial"/>
                <a:cs typeface="Arial"/>
              </a:rPr>
              <a:t>No quality advantage confirmed</a:t>
            </a:r>
          </a:p>
          <a:p>
            <a:pPr>
              <a:defRPr sz="1575">
                <a:solidFill>
                  <a:srgbClr val="1F1F1F"/>
                </a:solidFill>
                <a:latin typeface="Arial"/>
                <a:ea typeface="Arial"/>
                <a:cs typeface="Arial"/>
              </a:defRPr>
            </a:pPr>
            <a:r>
              <a:rPr sz="1575">
                <a:solidFill>
                  <a:srgbClr val="1F1F1F"/>
                </a:solidFill>
                <a:latin typeface="Arial"/>
                <a:ea typeface="Arial"/>
                <a:cs typeface="Arial"/>
              </a:rPr>
              <a:t>for the proposed method.</a:t>
            </a:r>
          </a:p>
        </p:txBody>
      </p:sp>
      <p:sp>
        <p:nvSpPr>
          <p:cNvPr id="23" name="テキスト ボックス 22">
            <a:extLst>
              <a:ext uri="{FF2B5EF4-FFF2-40B4-BE49-F238E27FC236}">
                <a16:creationId xmlns:a16="http://schemas.microsoft.com/office/drawing/2014/main" id="{D7FB3FE6-5F7F-D75B-A496-FEC45AEBCEAA}"/>
              </a:ext>
            </a:extLst>
          </p:cNvPr>
          <p:cNvSpPr>
            <a:spLocks noGrp="1"/>
          </p:cNvSpPr>
          <p:nvPr/>
        </p:nvSpPr>
        <p:spPr>
          <a:xfrm>
            <a:off x="8756885" y="2588442"/>
            <a:ext cx="3200054" cy="1846659"/>
          </a:xfrm>
          <a:prstGeom prst="rect">
            <a:avLst/>
          </a:prstGeom>
          <a:noFill/>
        </p:spPr>
        <p:txBody>
          <a:bodyPr wrap="square" lIns="76200" tIns="76200" rIns="76200" bIns="76200" anchor="ctr">
            <a:normAutofit/>
          </a:bodyPr>
          <a:lstStyle/>
          <a:p>
            <a:pPr>
              <a:defRPr sz="1650">
                <a:solidFill>
                  <a:srgbClr val="1F1F1F"/>
                </a:solidFill>
                <a:latin typeface="Arial"/>
                <a:ea typeface="Arial"/>
                <a:cs typeface="Arial"/>
              </a:defRPr>
            </a:pPr>
            <a:r>
              <a:rPr sz="1650" b="1" dirty="0">
                <a:solidFill>
                  <a:srgbClr val="1F1F1F"/>
                </a:solidFill>
                <a:latin typeface="Arial"/>
                <a:ea typeface="Arial"/>
                <a:cs typeface="Arial"/>
              </a:rPr>
              <a:t>vs. Fixed standard</a:t>
            </a:r>
          </a:p>
          <a:p>
            <a:pPr>
              <a:defRPr sz="1650">
                <a:solidFill>
                  <a:srgbClr val="1F1F1F"/>
                </a:solidFill>
                <a:latin typeface="Arial"/>
                <a:ea typeface="Arial"/>
                <a:cs typeface="Arial"/>
              </a:defRPr>
            </a:pPr>
            <a:r>
              <a:rPr sz="1650" b="1" dirty="0">
                <a:solidFill>
                  <a:srgbClr val="1F1F1F"/>
                </a:solidFill>
                <a:latin typeface="Arial"/>
                <a:ea typeface="Arial"/>
                <a:cs typeface="Arial"/>
              </a:rPr>
              <a:t>+0.019 HV</a:t>
            </a:r>
          </a:p>
          <a:p>
            <a:pPr>
              <a:defRPr sz="1650">
                <a:solidFill>
                  <a:srgbClr val="1F1F1F"/>
                </a:solidFill>
                <a:latin typeface="Arial"/>
                <a:ea typeface="Arial"/>
                <a:cs typeface="Arial"/>
              </a:defRPr>
            </a:pPr>
            <a:r>
              <a:rPr sz="1650" dirty="0">
                <a:solidFill>
                  <a:srgbClr val="1F1F1F"/>
                </a:solidFill>
                <a:latin typeface="Arial"/>
                <a:ea typeface="Arial"/>
                <a:cs typeface="Arial"/>
              </a:rPr>
              <a:t>95% CI  [+0.010, +0.031]</a:t>
            </a:r>
          </a:p>
          <a:p>
            <a:pPr>
              <a:defRPr sz="1650">
                <a:solidFill>
                  <a:srgbClr val="1F1F1F"/>
                </a:solidFill>
                <a:latin typeface="Arial"/>
                <a:ea typeface="Arial"/>
                <a:cs typeface="Arial"/>
              </a:defRPr>
            </a:pPr>
            <a:r>
              <a:rPr sz="1650" dirty="0">
                <a:solidFill>
                  <a:srgbClr val="1F1F1F"/>
                </a:solidFill>
                <a:latin typeface="Arial"/>
                <a:ea typeface="Arial"/>
                <a:cs typeface="Arial"/>
              </a:rPr>
              <a:t>Time  3.97 → 7.60 s</a:t>
            </a:r>
          </a:p>
          <a:p>
            <a:pPr>
              <a:defRPr sz="1650">
                <a:solidFill>
                  <a:srgbClr val="1F1F1F"/>
                </a:solidFill>
                <a:latin typeface="Arial"/>
                <a:ea typeface="Arial"/>
                <a:cs typeface="Arial"/>
              </a:defRPr>
            </a:pPr>
            <a:r>
              <a:rPr sz="1650" b="1" dirty="0">
                <a:solidFill>
                  <a:srgbClr val="1F1F1F"/>
                </a:solidFill>
                <a:latin typeface="Arial"/>
                <a:ea typeface="Arial"/>
                <a:cs typeface="Arial"/>
              </a:rPr>
              <a:t>≈ 2.02×</a:t>
            </a:r>
          </a:p>
        </p:txBody>
      </p:sp>
      <p:graphicFrame>
        <p:nvGraphicFramePr>
          <p:cNvPr id="52" name="Chart"/>
          <p:cNvGraphicFramePr/>
          <p:nvPr>
            <p:extLst>
              <p:ext uri="{D42A27DB-BD31-4B8C-83A1-F6EECF244321}">
                <p14:modId xmlns:p14="http://schemas.microsoft.com/office/powerpoint/2010/main" val="67515082"/>
              </p:ext>
            </p:extLst>
          </p:nvPr>
        </p:nvGraphicFramePr>
        <p:xfrm>
          <a:off x="93785" y="2173821"/>
          <a:ext cx="8660967" cy="4621697"/>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DCAFBE8F-744B-B5B9-AD39-473A3F7B5383}"/>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Overall Time</a:t>
            </a:r>
          </a:p>
        </p:txBody>
      </p:sp>
    </p:spTree>
    <p:extLst>
      <p:ext uri="{BB962C8B-B14F-4D97-AF65-F5344CB8AC3E}">
        <p14:creationId xmlns:p14="http://schemas.microsoft.com/office/powerpoint/2010/main" val="2163714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210B38-981E-67F0-3AE0-99FF396642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AA951B-B735-DE66-3213-AD320F9EC17A}"/>
              </a:ext>
            </a:extLst>
          </p:cNvPr>
          <p:cNvSpPr>
            <a:spLocks noGrp="1"/>
          </p:cNvSpPr>
          <p:nvPr>
            <p:ph type="title"/>
          </p:nvPr>
        </p:nvSpPr>
        <p:spPr>
          <a:xfrm>
            <a:off x="477012" y="1314559"/>
            <a:ext cx="8572500" cy="638461"/>
          </a:xfrm>
        </p:spPr>
        <p:txBody>
          <a:bodyPr wrap="square" lIns="0" tIns="0" rIns="19050" bIns="0" anchor="ctr">
            <a:normAutofit/>
          </a:bodyPr>
          <a:lstStyle/>
          <a:p>
            <a:pPr>
              <a:defRPr sz="2325" b="1">
                <a:solidFill>
                  <a:srgbClr val="000000"/>
                </a:solidFill>
                <a:latin typeface="Arial"/>
                <a:ea typeface="Arial"/>
                <a:cs typeface="Arial"/>
              </a:defRPr>
            </a:pPr>
            <a:r>
              <a:rPr sz="2800" b="1" dirty="0">
                <a:solidFill>
                  <a:srgbClr val="000000"/>
                </a:solidFill>
                <a:latin typeface="Arial"/>
                <a:ea typeface="Arial"/>
                <a:cs typeface="Arial"/>
              </a:rPr>
              <a:t>Under the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ame </a:t>
            </a:r>
            <a:r>
              <a:rPr lang="en-US" sz="2800" b="1" dirty="0">
                <a:solidFill>
                  <a:srgbClr val="000000"/>
                </a:solidFill>
                <a:latin typeface="Arial"/>
                <a:ea typeface="Arial"/>
                <a:cs typeface="Arial"/>
              </a:rPr>
              <a:t>d</a:t>
            </a:r>
            <a:r>
              <a:rPr sz="2800" b="1" dirty="0">
                <a:solidFill>
                  <a:srgbClr val="000000"/>
                </a:solidFill>
                <a:latin typeface="Arial"/>
                <a:ea typeface="Arial"/>
                <a:cs typeface="Arial"/>
              </a:rPr>
              <a:t>eadline,</a:t>
            </a:r>
            <a:r>
              <a:rPr lang="en-US" sz="2800" b="1" dirty="0">
                <a:solidFill>
                  <a:srgbClr val="000000"/>
                </a:solidFill>
                <a:latin typeface="Arial"/>
                <a:ea typeface="Arial"/>
                <a:cs typeface="Arial"/>
              </a:rPr>
              <a:t> h</a:t>
            </a:r>
            <a:r>
              <a:rPr sz="2800" b="1" dirty="0">
                <a:solidFill>
                  <a:srgbClr val="000000"/>
                </a:solidFill>
                <a:latin typeface="Arial"/>
                <a:ea typeface="Arial"/>
                <a:cs typeface="Arial"/>
              </a:rPr>
              <a:t>igh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utation </a:t>
            </a:r>
            <a:r>
              <a:rPr lang="en-US" sz="2800" b="1" dirty="0">
                <a:solidFill>
                  <a:srgbClr val="000000"/>
                </a:solidFill>
                <a:latin typeface="Arial"/>
                <a:ea typeface="Arial"/>
                <a:cs typeface="Arial"/>
              </a:rPr>
              <a:t>l</a:t>
            </a:r>
            <a:r>
              <a:rPr sz="2800" b="1" dirty="0">
                <a:solidFill>
                  <a:srgbClr val="000000"/>
                </a:solidFill>
                <a:latin typeface="Arial"/>
                <a:ea typeface="Arial"/>
                <a:cs typeface="Arial"/>
              </a:rPr>
              <a:t>eads</a:t>
            </a:r>
          </a:p>
        </p:txBody>
      </p:sp>
      <p:sp>
        <p:nvSpPr>
          <p:cNvPr id="6" name="テキスト ボックス 5">
            <a:extLst>
              <a:ext uri="{FF2B5EF4-FFF2-40B4-BE49-F238E27FC236}">
                <a16:creationId xmlns:a16="http://schemas.microsoft.com/office/drawing/2014/main" id="{D09E6AA1-8C08-888E-BDF4-D2B2B2B5CB77}"/>
              </a:ext>
            </a:extLst>
          </p:cNvPr>
          <p:cNvSpPr>
            <a:spLocks noGrp="1"/>
          </p:cNvSpPr>
          <p:nvPr/>
        </p:nvSpPr>
        <p:spPr>
          <a:xfrm>
            <a:off x="7825099" y="2558850"/>
            <a:ext cx="4366901" cy="3693319"/>
          </a:xfrm>
          <a:prstGeom prst="rect">
            <a:avLst/>
          </a:prstGeom>
          <a:noFill/>
        </p:spPr>
        <p:txBody>
          <a:bodyPr wrap="square" lIns="152400" tIns="76200" rIns="152400" bIns="76200" anchor="ctr">
            <a:normAutofit/>
          </a:bodyPr>
          <a:lstStyle/>
          <a:p>
            <a:pPr>
              <a:defRPr sz="1425">
                <a:solidFill>
                  <a:srgbClr val="1F1F1F"/>
                </a:solidFill>
                <a:latin typeface="Arial"/>
                <a:ea typeface="Arial"/>
                <a:cs typeface="Arial"/>
              </a:defRPr>
            </a:pPr>
            <a:r>
              <a:rPr sz="2000" b="1" dirty="0">
                <a:solidFill>
                  <a:srgbClr val="1F1F1F"/>
                </a:solidFill>
                <a:latin typeface="Arial"/>
                <a:ea typeface="Arial"/>
                <a:cs typeface="Arial"/>
              </a:rPr>
              <a:t>Mean generation reached</a:t>
            </a:r>
          </a:p>
          <a:p>
            <a:pPr>
              <a:defRPr sz="1425">
                <a:solidFill>
                  <a:srgbClr val="1F1F1F"/>
                </a:solidFill>
                <a:latin typeface="Arial"/>
                <a:ea typeface="Arial"/>
                <a:cs typeface="Arial"/>
              </a:defRPr>
            </a:pPr>
            <a:r>
              <a:rPr sz="2000" dirty="0">
                <a:solidFill>
                  <a:srgbClr val="1F1F1F"/>
                </a:solidFill>
                <a:latin typeface="Arial"/>
                <a:ea typeface="Arial"/>
                <a:cs typeface="Arial"/>
              </a:rPr>
              <a:t>Fixed standard        69.8</a:t>
            </a:r>
          </a:p>
          <a:p>
            <a:pPr>
              <a:defRPr sz="1425">
                <a:solidFill>
                  <a:srgbClr val="1F1F1F"/>
                </a:solidFill>
                <a:latin typeface="Arial"/>
                <a:ea typeface="Arial"/>
                <a:cs typeface="Arial"/>
              </a:defRPr>
            </a:pPr>
            <a:r>
              <a:rPr sz="2000" dirty="0">
                <a:solidFill>
                  <a:srgbClr val="1F1F1F"/>
                </a:solidFill>
                <a:latin typeface="Arial"/>
                <a:ea typeface="Arial"/>
                <a:cs typeface="Arial"/>
              </a:rPr>
              <a:t>High mutation         73.5</a:t>
            </a:r>
          </a:p>
          <a:p>
            <a:pPr>
              <a:defRPr sz="1425">
                <a:solidFill>
                  <a:srgbClr val="1F1F1F"/>
                </a:solidFill>
                <a:latin typeface="Arial"/>
                <a:ea typeface="Arial"/>
                <a:cs typeface="Arial"/>
              </a:defRPr>
            </a:pPr>
            <a:r>
              <a:rPr sz="2000" dirty="0">
                <a:solidFill>
                  <a:srgbClr val="1F1F1F"/>
                </a:solidFill>
                <a:latin typeface="Arial"/>
                <a:ea typeface="Arial"/>
                <a:cs typeface="Arial"/>
              </a:rPr>
              <a:t>Proposed method   49.6</a:t>
            </a:r>
          </a:p>
          <a:p>
            <a:endParaRPr sz="2000" dirty="0">
              <a:solidFill>
                <a:srgbClr val="1F1F1F"/>
              </a:solidFill>
              <a:latin typeface="Arial"/>
              <a:ea typeface="Arial"/>
              <a:cs typeface="Arial"/>
            </a:endParaRPr>
          </a:p>
          <a:p>
            <a:pPr>
              <a:defRPr sz="1425">
                <a:solidFill>
                  <a:srgbClr val="1F1F1F"/>
                </a:solidFill>
                <a:latin typeface="Arial"/>
                <a:ea typeface="Arial"/>
                <a:cs typeface="Arial"/>
              </a:defRPr>
            </a:pPr>
            <a:r>
              <a:rPr sz="2000" b="1" dirty="0">
                <a:solidFill>
                  <a:srgbClr val="1F1F1F"/>
                </a:solidFill>
                <a:latin typeface="Arial"/>
                <a:ea typeface="Arial"/>
                <a:cs typeface="Arial"/>
              </a:rPr>
              <a:t>High mutation − Proposed method</a:t>
            </a:r>
          </a:p>
          <a:p>
            <a:pPr>
              <a:defRPr sz="1425">
                <a:solidFill>
                  <a:srgbClr val="1F1F1F"/>
                </a:solidFill>
                <a:latin typeface="Arial"/>
                <a:ea typeface="Arial"/>
                <a:cs typeface="Arial"/>
              </a:defRPr>
            </a:pPr>
            <a:r>
              <a:rPr sz="2000" b="1" dirty="0">
                <a:solidFill>
                  <a:srgbClr val="1F1F1F"/>
                </a:solidFill>
                <a:latin typeface="Arial"/>
                <a:ea typeface="Arial"/>
                <a:cs typeface="Arial"/>
              </a:rPr>
              <a:t>+0.0127 HV</a:t>
            </a:r>
            <a:endParaRPr lang="ja-JP" altLang="en-US" sz="2000" b="1">
              <a:solidFill>
                <a:srgbClr val="1F1F1F"/>
              </a:solidFill>
              <a:latin typeface="Arial"/>
              <a:ea typeface="Arial"/>
              <a:cs typeface="Arial"/>
            </a:endParaRPr>
          </a:p>
          <a:p>
            <a:pPr>
              <a:defRPr sz="1425">
                <a:solidFill>
                  <a:srgbClr val="1F1F1F"/>
                </a:solidFill>
                <a:latin typeface="Arial"/>
                <a:ea typeface="Arial"/>
                <a:cs typeface="Arial"/>
              </a:defRPr>
            </a:pPr>
            <a:r>
              <a:rPr lang="en" sz="2000" dirty="0">
                <a:solidFill>
                  <a:srgbClr val="1F1F1F"/>
                </a:solidFill>
                <a:latin typeface="Arial"/>
                <a:ea typeface="Arial"/>
                <a:cs typeface="Arial"/>
              </a:rPr>
              <a:t>95% CI  [+0.0065, +0.0185]</a:t>
            </a:r>
          </a:p>
        </p:txBody>
      </p:sp>
      <p:sp>
        <p:nvSpPr>
          <p:cNvPr id="7" name="スライド番号プレースホルダー 2">
            <a:extLst>
              <a:ext uri="{FF2B5EF4-FFF2-40B4-BE49-F238E27FC236}">
                <a16:creationId xmlns:a16="http://schemas.microsoft.com/office/drawing/2014/main" id="{81F7F34B-84D6-CA44-9A2C-AC0AE10D8F97}"/>
              </a:ext>
            </a:extLst>
          </p:cNvPr>
          <p:cNvSpPr>
            <a:spLocks noGrp="1"/>
          </p:cNvSpPr>
          <p:nvPr>
            <p:ph type="sldNum" idx="12"/>
          </p:nvPr>
        </p:nvSpPr>
        <p:spPr>
          <a:xfrm>
            <a:off x="9202121" y="368959"/>
            <a:ext cx="1841809" cy="546400"/>
          </a:xfrm>
        </p:spPr>
        <p:txBody>
          <a:bodyPr/>
          <a:lstStyle/>
          <a:p>
            <a:fld id="{A9AD3F58-349D-3A41-BFFC-DA89322664A4}" type="slidenum">
              <a:rPr/>
              <a:t>24</a:t>
            </a:fld>
            <a:endParaRPr/>
          </a:p>
        </p:txBody>
      </p:sp>
      <p:sp>
        <p:nvSpPr>
          <p:cNvPr id="8" name="テキスト ボックス 7">
            <a:extLst>
              <a:ext uri="{FF2B5EF4-FFF2-40B4-BE49-F238E27FC236}">
                <a16:creationId xmlns:a16="http://schemas.microsoft.com/office/drawing/2014/main" id="{83DB327C-AD3B-B73D-25DC-09E277F98B79}"/>
              </a:ext>
            </a:extLst>
          </p:cNvPr>
          <p:cNvSpPr>
            <a:spLocks noGrp="1"/>
          </p:cNvSpPr>
          <p:nvPr/>
        </p:nvSpPr>
        <p:spPr>
          <a:xfrm>
            <a:off x="7766926" y="1953020"/>
            <a:ext cx="3403496" cy="369332"/>
          </a:xfrm>
          <a:prstGeom prst="rect">
            <a:avLst/>
          </a:prstGeom>
          <a:noFill/>
        </p:spPr>
        <p:txBody>
          <a:bodyPr wrap="square">
            <a:noAutofit/>
          </a:bodyPr>
          <a:lstStyle/>
          <a:p>
            <a:pPr algn="ctr">
              <a:defRPr sz="1575" b="1">
                <a:solidFill>
                  <a:srgbClr val="17365D"/>
                </a:solidFill>
                <a:latin typeface="Arial"/>
                <a:ea typeface="Arial"/>
                <a:cs typeface="Arial"/>
              </a:defRPr>
            </a:pPr>
            <a:r>
              <a:rPr sz="2000" b="1" dirty="0">
                <a:latin typeface="Arial"/>
                <a:ea typeface="Arial"/>
                <a:cs typeface="Arial"/>
              </a:rPr>
              <a:t>Common deadline: 3.470 s</a:t>
            </a:r>
          </a:p>
        </p:txBody>
      </p:sp>
      <p:graphicFrame>
        <p:nvGraphicFramePr>
          <p:cNvPr id="14" name="Chart">
            <a:extLst>
              <a:ext uri="{FF2B5EF4-FFF2-40B4-BE49-F238E27FC236}">
                <a16:creationId xmlns:a16="http://schemas.microsoft.com/office/drawing/2014/main" id="{30938B9E-0C51-3E3C-D413-4F571FC34BF3}"/>
              </a:ext>
            </a:extLst>
          </p:cNvPr>
          <p:cNvGraphicFramePr/>
          <p:nvPr/>
        </p:nvGraphicFramePr>
        <p:xfrm>
          <a:off x="0" y="1953020"/>
          <a:ext cx="7825099" cy="4904980"/>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91D0EA09-9D40-C69F-52DD-300D27DEB75D}"/>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Same Time</a:t>
            </a:r>
          </a:p>
        </p:txBody>
      </p:sp>
    </p:spTree>
    <p:extLst>
      <p:ext uri="{BB962C8B-B14F-4D97-AF65-F5344CB8AC3E}">
        <p14:creationId xmlns:p14="http://schemas.microsoft.com/office/powerpoint/2010/main" val="2952573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角丸四角形 16">
            <a:extLst>
              <a:ext uri="{FF2B5EF4-FFF2-40B4-BE49-F238E27FC236}">
                <a16:creationId xmlns:a16="http://schemas.microsoft.com/office/drawing/2014/main" id="{5168B86D-9E7E-7467-BDB9-C4FF5B61CC61}"/>
              </a:ext>
            </a:extLst>
          </p:cNvPr>
          <p:cNvSpPr/>
          <p:nvPr/>
        </p:nvSpPr>
        <p:spPr>
          <a:xfrm>
            <a:off x="476992" y="1290308"/>
            <a:ext cx="11238016" cy="3611476"/>
          </a:xfrm>
          <a:prstGeom prst="roundRect">
            <a:avLst/>
          </a:prstGeom>
          <a:solidFill>
            <a:srgbClr val="215F9B">
              <a:alpha val="20000"/>
            </a:srgbClr>
          </a:solid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2A40530-FBFD-76F4-DE99-49D511ECA009}"/>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Pareto Front</a:t>
            </a:r>
            <a:endParaRPr kumimoji="1" lang="ja-JP" altLang="en-US" b="1">
              <a:latin typeface="Arial" panose="020B0604020202020204" pitchFamily="34" charset="0"/>
              <a:cs typeface="Arial" panose="020B0604020202020204" pitchFamily="34" charset="0"/>
            </a:endParaRPr>
          </a:p>
        </p:txBody>
      </p:sp>
      <p:sp>
        <p:nvSpPr>
          <p:cNvPr id="3" name="スライド番号プレースホルダー 2">
            <a:extLst>
              <a:ext uri="{FF2B5EF4-FFF2-40B4-BE49-F238E27FC236}">
                <a16:creationId xmlns:a16="http://schemas.microsoft.com/office/drawing/2014/main" id="{DF9B9DF1-D8E6-8D6E-EC86-8CA14E752053}"/>
              </a:ext>
            </a:extLst>
          </p:cNvPr>
          <p:cNvSpPr>
            <a:spLocks noGrp="1"/>
          </p:cNvSpPr>
          <p:nvPr>
            <p:ph type="sldNum" sz="quarter" idx="12"/>
          </p:nvPr>
        </p:nvSpPr>
        <p:spPr/>
        <p:txBody>
          <a:bodyPr/>
          <a:lstStyle/>
          <a:p>
            <a:fld id="{A9AD3F58-349D-3A41-BFFC-DA89322664A4}" type="slidenum">
              <a:rPr lang="ja-JP" altLang="en-US" smtClean="0"/>
              <a:pPr/>
              <a:t>25</a:t>
            </a:fld>
            <a:endParaRPr lang="ja-JP" altLang="en-US"/>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4954014-05F6-906F-BD6B-BC2B76B2C8E1}"/>
                  </a:ext>
                </a:extLst>
              </p:cNvPr>
              <p:cNvSpPr txBox="1"/>
              <p:nvPr/>
            </p:nvSpPr>
            <p:spPr>
              <a:xfrm>
                <a:off x="601449" y="5206742"/>
                <a:ext cx="11468396"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Pareto optimal solution : </a:t>
                </a:r>
                <a14:m>
                  <m:oMath xmlns:m="http://schemas.openxmlformats.org/officeDocument/2006/math">
                    <m:sSub>
                      <m:sSubPr>
                        <m:ctrlPr>
                          <a:rPr lang="en-US" altLang="ja-JP" sz="2800" i="1">
                            <a:latin typeface="Cambria Math" panose="02040503050406030204" pitchFamily="18" charset="0"/>
                            <a:ea typeface="Cambria Math" panose="02040503050406030204" pitchFamily="18" charset="0"/>
                          </a:rPr>
                        </m:ctrlPr>
                      </m:sSubPr>
                      <m:e>
                        <m:r>
                          <a:rPr lang="en-US" altLang="ja-JP" sz="2800" i="1">
                            <a:latin typeface="Cambria Math" panose="02040503050406030204" pitchFamily="18" charset="0"/>
                            <a:ea typeface="Cambria Math" panose="02040503050406030204" pitchFamily="18" charset="0"/>
                          </a:rPr>
                          <m:t>𝓍</m:t>
                        </m:r>
                      </m:e>
                      <m:sub>
                        <m:r>
                          <a:rPr kumimoji="1" lang="en-US" altLang="ja-JP" sz="2800" b="0" i="1" smtClean="0">
                            <a:latin typeface="Cambria Math" panose="02040503050406030204" pitchFamily="18" charset="0"/>
                          </a:rPr>
                          <m:t>1</m:t>
                        </m:r>
                      </m:sub>
                    </m:sSub>
                    <m:r>
                      <a:rPr kumimoji="1" lang="en-US" altLang="ja-JP" sz="2800" b="0" i="0" smtClean="0">
                        <a:latin typeface="Cambria Math" panose="02040503050406030204" pitchFamily="18" charset="0"/>
                      </a:rPr>
                      <m:t> </m:t>
                    </m:r>
                  </m:oMath>
                </a14:m>
                <a:r>
                  <a:rPr kumimoji="1" lang="en-US" altLang="ja-JP" sz="2800" dirty="0">
                    <a:latin typeface="Arial" panose="020B0604020202020204" pitchFamily="34" charset="0"/>
                    <a:cs typeface="Arial" panose="020B0604020202020204" pitchFamily="34" charset="0"/>
                  </a:rPr>
                  <a:t>is not dominated by any other solutions</a:t>
                </a:r>
                <a:endParaRPr kumimoji="1" lang="ja-JP" altLang="en-US" sz="2800" b="1">
                  <a:latin typeface="Arial" panose="020B0604020202020204" pitchFamily="34" charset="0"/>
                  <a:cs typeface="Arial" panose="020B0604020202020204" pitchFamily="34" charset="0"/>
                </a:endParaRPr>
              </a:p>
            </p:txBody>
          </p:sp>
        </mc:Choice>
        <mc:Fallback xmlns="">
          <p:sp>
            <p:nvSpPr>
              <p:cNvPr id="11" name="テキスト ボックス 10">
                <a:extLst>
                  <a:ext uri="{FF2B5EF4-FFF2-40B4-BE49-F238E27FC236}">
                    <a16:creationId xmlns:a16="http://schemas.microsoft.com/office/drawing/2014/main" id="{F4954014-05F6-906F-BD6B-BC2B76B2C8E1}"/>
                  </a:ext>
                </a:extLst>
              </p:cNvPr>
              <p:cNvSpPr txBox="1">
                <a:spLocks noRot="1" noChangeAspect="1" noMove="1" noResize="1" noEditPoints="1" noAdjustHandles="1" noChangeArrowheads="1" noChangeShapeType="1" noTextEdit="1"/>
              </p:cNvSpPr>
              <p:nvPr/>
            </p:nvSpPr>
            <p:spPr>
              <a:xfrm>
                <a:off x="601449" y="5206742"/>
                <a:ext cx="11468396" cy="523220"/>
              </a:xfrm>
              <a:prstGeom prst="rect">
                <a:avLst/>
              </a:prstGeom>
              <a:blipFill>
                <a:blip r:embed="rId3"/>
                <a:stretch>
                  <a:fillRect l="-1106" t="-11628" b="-27907"/>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254DCD6B-5330-2119-FB53-D4B1FF9D7DAD}"/>
              </a:ext>
            </a:extLst>
          </p:cNvPr>
          <p:cNvSpPr txBox="1"/>
          <p:nvPr/>
        </p:nvSpPr>
        <p:spPr>
          <a:xfrm>
            <a:off x="559065" y="5917639"/>
            <a:ext cx="11194090" cy="523220"/>
          </a:xfrm>
          <a:prstGeom prst="rect">
            <a:avLst/>
          </a:prstGeom>
          <a:noFill/>
        </p:spPr>
        <p:txBody>
          <a:bodyPr wrap="none" rtlCol="0">
            <a:spAutoFit/>
          </a:bodyPr>
          <a:lstStyle/>
          <a:p>
            <a:r>
              <a:rPr lang="en-US" altLang="ja-JP" sz="2800" b="1" dirty="0">
                <a:solidFill>
                  <a:srgbClr val="FF0000"/>
                </a:solidFill>
                <a:latin typeface="Arial" panose="020B0604020202020204" pitchFamily="34" charset="0"/>
                <a:cs typeface="Arial" panose="020B0604020202020204" pitchFamily="34" charset="0"/>
              </a:rPr>
              <a:t>Pareto Front</a:t>
            </a:r>
            <a:r>
              <a:rPr lang="en-US" altLang="ja-JP" sz="2800" b="1" dirty="0">
                <a:latin typeface="Arial" panose="020B0604020202020204" pitchFamily="34" charset="0"/>
                <a:cs typeface="Arial" panose="020B0604020202020204" pitchFamily="34" charset="0"/>
              </a:rPr>
              <a:t> : </a:t>
            </a:r>
            <a:r>
              <a:rPr kumimoji="1" lang="en-US" altLang="ja-JP" sz="2800" dirty="0">
                <a:latin typeface="Arial" panose="020B0604020202020204" pitchFamily="34" charset="0"/>
                <a:cs typeface="Arial" panose="020B0604020202020204" pitchFamily="34" charset="0"/>
              </a:rPr>
              <a:t>Surface formed by the set of Pareto optimal solutions</a:t>
            </a:r>
            <a:endParaRPr kumimoji="1" lang="ja-JP" altLang="en-US" sz="2800" b="1">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110DD6E4-EFA0-CD55-51EF-9EBBC9FDC967}"/>
                  </a:ext>
                </a:extLst>
              </p:cNvPr>
              <p:cNvSpPr txBox="1"/>
              <p:nvPr/>
            </p:nvSpPr>
            <p:spPr>
              <a:xfrm>
                <a:off x="1233126" y="1467500"/>
                <a:ext cx="8501602" cy="830997"/>
              </a:xfrm>
              <a:prstGeom prst="rect">
                <a:avLst/>
              </a:prstGeom>
              <a:noFill/>
            </p:spPr>
            <p:txBody>
              <a:bodyPr wrap="square" rtlCol="0">
                <a:spAutoFit/>
              </a:bodyPr>
              <a:lstStyle/>
              <a:p>
                <a:r>
                  <a:rPr kumimoji="1" lang="en-US" altLang="ja-JP" sz="2400" dirty="0">
                    <a:latin typeface="Arial" panose="020B0604020202020204" pitchFamily="34" charset="0"/>
                    <a:cs typeface="Arial" panose="020B0604020202020204" pitchFamily="34" charset="0"/>
                  </a:rPr>
                  <a:t>Let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rPr>
                          <m:t>1</m:t>
                        </m:r>
                      </m:sub>
                    </m:sSub>
                  </m:oMath>
                </a14:m>
                <a:r>
                  <a:rPr lang="en-US" altLang="ja-JP" sz="2400" dirty="0">
                    <a:latin typeface="Arial" panose="020B0604020202020204" pitchFamily="34" charset="0"/>
                    <a:cs typeface="Arial" panose="020B0604020202020204" pitchFamily="34" charset="0"/>
                  </a:rPr>
                  <a:t> and</a:t>
                </a:r>
                <a:r>
                  <a:rPr lang="en-US" altLang="ja-JP" sz="2400" dirty="0"/>
                  <a: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ea typeface="Cambria Math" panose="02040503050406030204" pitchFamily="18" charset="0"/>
                          </a:rPr>
                          <m:t>2</m:t>
                        </m:r>
                      </m:sub>
                    </m:sSub>
                  </m:oMath>
                </a14:m>
                <a:r>
                  <a:rPr kumimoji="1" lang="en-US" altLang="ja-JP" sz="2400" dirty="0">
                    <a:latin typeface="Arial" panose="020B0604020202020204" pitchFamily="34" charset="0"/>
                    <a:cs typeface="Arial" panose="020B0604020202020204" pitchFamily="34" charset="0"/>
                  </a:rPr>
                  <a:t> be the solutions </a:t>
                </a:r>
                <a:r>
                  <a:rPr lang="en-US" altLang="ja-JP" sz="2400" dirty="0">
                    <a:latin typeface="Arial" panose="020B0604020202020204" pitchFamily="34" charset="0"/>
                    <a:cs typeface="Arial" panose="020B0604020202020204" pitchFamily="34" charset="0"/>
                  </a:rPr>
                  <a:t>of</a:t>
                </a:r>
                <a:r>
                  <a:rPr kumimoji="1" lang="en-US" altLang="ja-JP" sz="2400" dirty="0">
                    <a:latin typeface="Arial" panose="020B0604020202020204" pitchFamily="34" charset="0"/>
                    <a:cs typeface="Arial" panose="020B0604020202020204" pitchFamily="34" charset="0"/>
                  </a:rPr>
                  <a:t> the multi-objective optimization problem</a:t>
                </a:r>
                <a:endParaRPr kumimoji="1" lang="ja-JP" altLang="en-US" sz="2400">
                  <a:latin typeface="Arial" panose="020B0604020202020204" pitchFamily="34" charset="0"/>
                  <a:cs typeface="Arial" panose="020B0604020202020204" pitchFamily="34" charset="0"/>
                </a:endParaRPr>
              </a:p>
            </p:txBody>
          </p:sp>
        </mc:Choice>
        <mc:Fallback xmlns="">
          <p:sp>
            <p:nvSpPr>
              <p:cNvPr id="10" name="テキスト ボックス 9">
                <a:extLst>
                  <a:ext uri="{FF2B5EF4-FFF2-40B4-BE49-F238E27FC236}">
                    <a16:creationId xmlns:a16="http://schemas.microsoft.com/office/drawing/2014/main" id="{110DD6E4-EFA0-CD55-51EF-9EBBC9FDC967}"/>
                  </a:ext>
                </a:extLst>
              </p:cNvPr>
              <p:cNvSpPr txBox="1">
                <a:spLocks noRot="1" noChangeAspect="1" noMove="1" noResize="1" noEditPoints="1" noAdjustHandles="1" noChangeArrowheads="1" noChangeShapeType="1" noTextEdit="1"/>
              </p:cNvSpPr>
              <p:nvPr/>
            </p:nvSpPr>
            <p:spPr>
              <a:xfrm>
                <a:off x="1233126" y="1467500"/>
                <a:ext cx="8501602" cy="830997"/>
              </a:xfrm>
              <a:prstGeom prst="rect">
                <a:avLst/>
              </a:prstGeom>
              <a:blipFill>
                <a:blip r:embed="rId4"/>
                <a:stretch>
                  <a:fillRect l="-1043" t="-7576"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235A0B5D-792D-6767-C269-B75955BD5458}"/>
                  </a:ext>
                </a:extLst>
              </p:cNvPr>
              <p:cNvSpPr txBox="1"/>
              <p:nvPr/>
            </p:nvSpPr>
            <p:spPr>
              <a:xfrm>
                <a:off x="3308570" y="4160420"/>
                <a:ext cx="5574859" cy="399084"/>
              </a:xfrm>
              <a:prstGeom prst="rect">
                <a:avLst/>
              </a:prstGeom>
              <a:noFill/>
            </p:spPr>
            <p:txBody>
              <a:bodyPr wrap="none" lIns="0" tIns="0" rIns="0" bIns="0" rtlCol="0">
                <a:spAutoFit/>
              </a:bodyPr>
              <a:lstStyle/>
              <a:p>
                <a:pPr/>
                <a14:m>
                  <m:oMathPara xmlns:m="http://schemas.openxmlformats.org/officeDocument/2006/math">
                    <m:oMath>
                      <m:r>
                        <a:rPr kumimoji="1" lang="ja-JP" altLang="en-US" sz="2400" i="1" smtClean="0">
                          <a:latin typeface="Cambria Math" panose="02040503050406030204" pitchFamily="18" charset="0"/>
                        </a:rPr>
                        <m:t>∀</m:t>
                      </m:r>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𝑓</m:t>
                          </m:r>
                        </m:e>
                        <m:sub>
                          <m:r>
                            <a:rPr kumimoji="1" lang="en-US" altLang="ja-JP" sz="2400" b="0" i="1" smtClean="0">
                              <a:latin typeface="Cambria Math" panose="02040503050406030204" pitchFamily="18" charset="0"/>
                            </a:rPr>
                            <m:t>𝑖</m:t>
                          </m:r>
                        </m:sub>
                      </m:sSub>
                      <m:d>
                        <m:dPr>
                          <m:ctrlPr>
                            <a:rPr kumimoji="1" lang="en-US" altLang="ja-JP" sz="2400" b="0" i="1" smtClean="0">
                              <a:latin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kumimoji="1" lang="en-US" altLang="ja-JP" sz="2400" b="0" i="1" smtClean="0">
                                  <a:latin typeface="Cambria Math" panose="02040503050406030204" pitchFamily="18" charset="0"/>
                                </a:rPr>
                                <m:t>1</m:t>
                              </m:r>
                            </m:sub>
                          </m:sSub>
                        </m:e>
                      </m:d>
                      <m:r>
                        <a:rPr kumimoji="1"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i="1">
                              <a:latin typeface="Cambria Math" panose="02040503050406030204" pitchFamily="18" charset="0"/>
                            </a:rPr>
                            <m:t>𝑖</m:t>
                          </m:r>
                        </m:sub>
                      </m:sSub>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b="0" i="1" smtClean="0">
                                  <a:latin typeface="Cambria Math" panose="02040503050406030204" pitchFamily="18" charset="0"/>
                                  <a:ea typeface="Cambria Math" panose="02040503050406030204" pitchFamily="18" charset="0"/>
                                </a:rPr>
                                <m:t>2</m:t>
                              </m:r>
                            </m:sub>
                          </m:sSub>
                        </m:e>
                      </m:d>
                      <m:r>
                        <a:rPr lang="en-US" altLang="ja-JP" sz="2400" b="0" i="1" smtClean="0">
                          <a:latin typeface="Cambria Math" panose="02040503050406030204" pitchFamily="18" charset="0"/>
                          <a:ea typeface="Cambria Math" panose="02040503050406030204" pitchFamily="18" charset="0"/>
                        </a:rPr>
                        <m:t> </m:t>
                      </m:r>
                      <m:r>
                        <m:rPr>
                          <m:sty m:val="p"/>
                        </m:rPr>
                        <a:rPr lang="en-US" altLang="ja-JP" sz="2400" b="0" i="0" smtClean="0">
                          <a:latin typeface="Cambria Math" panose="02040503050406030204" pitchFamily="18" charset="0"/>
                        </a:rPr>
                        <m:t>and</m:t>
                      </m:r>
                      <m:r>
                        <a:rPr lang="en-US" altLang="ja-JP" sz="2400" b="0" i="1" smtClean="0">
                          <a:latin typeface="Cambria Math" panose="02040503050406030204" pitchFamily="18" charset="0"/>
                          <a:ea typeface="Cambria Math" panose="02040503050406030204" pitchFamily="18" charset="0"/>
                        </a:rPr>
                        <m:t> ∃</m:t>
                      </m:r>
                      <m:r>
                        <a:rPr lang="en-US" altLang="ja-JP" sz="2400" b="0" i="1" smtClean="0">
                          <a:latin typeface="Cambria Math" panose="02040503050406030204" pitchFamily="18" charset="0"/>
                          <a:ea typeface="Cambria Math" panose="02040503050406030204" pitchFamily="18" charset="0"/>
                        </a:rPr>
                        <m:t>𝑗</m:t>
                      </m:r>
                      <m:r>
                        <a:rPr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𝑗</m:t>
                          </m:r>
                        </m:sub>
                      </m:sSub>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rPr>
                                <m:t>1</m:t>
                              </m:r>
                            </m:sub>
                          </m:sSub>
                        </m:e>
                      </m:d>
                      <m:r>
                        <a:rPr lang="en-US" altLang="ja-JP" sz="2400" b="0" i="1" smtClean="0">
                          <a:latin typeface="Cambria Math" panose="02040503050406030204" pitchFamily="18" charset="0"/>
                          <a:ea typeface="Cambria Math" panose="02040503050406030204" pitchFamily="18" charset="0"/>
                        </a:rPr>
                        <m:t>&lt;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𝑗</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b="0" i="1" smtClean="0">
                              <a:latin typeface="Cambria Math" panose="02040503050406030204" pitchFamily="18" charset="0"/>
                              <a:ea typeface="Cambria Math" panose="02040503050406030204" pitchFamily="18" charset="0"/>
                            </a:rPr>
                            <m:t>2</m:t>
                          </m:r>
                        </m:sub>
                      </m:sSub>
                      <m:r>
                        <a:rPr lang="en-US" altLang="ja-JP" sz="2400" i="1">
                          <a:latin typeface="Cambria Math" panose="02040503050406030204" pitchFamily="18" charset="0"/>
                          <a:ea typeface="Cambria Math" panose="02040503050406030204" pitchFamily="18" charset="0"/>
                        </a:rPr>
                        <m:t>)</m:t>
                      </m:r>
                    </m:oMath>
                  </m:oMathPara>
                </a14:m>
                <a:endParaRPr kumimoji="1" lang="ja-JP" altLang="en-US" sz="2400"/>
              </a:p>
            </p:txBody>
          </p:sp>
        </mc:Choice>
        <mc:Fallback xmlns="">
          <p:sp>
            <p:nvSpPr>
              <p:cNvPr id="13" name="テキスト ボックス 12">
                <a:extLst>
                  <a:ext uri="{FF2B5EF4-FFF2-40B4-BE49-F238E27FC236}">
                    <a16:creationId xmlns:a16="http://schemas.microsoft.com/office/drawing/2014/main" id="{235A0B5D-792D-6767-C269-B75955BD5458}"/>
                  </a:ext>
                </a:extLst>
              </p:cNvPr>
              <p:cNvSpPr txBox="1">
                <a:spLocks noRot="1" noChangeAspect="1" noMove="1" noResize="1" noEditPoints="1" noAdjustHandles="1" noChangeArrowheads="1" noChangeShapeType="1" noTextEdit="1"/>
              </p:cNvSpPr>
              <p:nvPr/>
            </p:nvSpPr>
            <p:spPr>
              <a:xfrm>
                <a:off x="3308570" y="4160420"/>
                <a:ext cx="5574859" cy="399084"/>
              </a:xfrm>
              <a:prstGeom prst="rect">
                <a:avLst/>
              </a:prstGeom>
              <a:blipFill>
                <a:blip r:embed="rId5"/>
                <a:stretch>
                  <a:fillRect l="-455" t="-6061" r="-1364" b="-272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AF52948D-043F-7E12-BA71-532DA27368DE}"/>
                  </a:ext>
                </a:extLst>
              </p:cNvPr>
              <p:cNvSpPr txBox="1"/>
              <p:nvPr/>
            </p:nvSpPr>
            <p:spPr>
              <a:xfrm>
                <a:off x="3617707" y="2230999"/>
                <a:ext cx="4642105" cy="978666"/>
              </a:xfrm>
              <a:prstGeom prst="rect">
                <a:avLst/>
              </a:prstGeom>
              <a:noFill/>
            </p:spPr>
            <p:txBody>
              <a:bodyPr wrap="none" rtlCol="0">
                <a:spAutoFit/>
              </a:bodyPr>
              <a:lstStyle/>
              <a:p>
                <a:pPr/>
                <a14:m>
                  <m:oMathPara xmlns:m="http://schemas.openxmlformats.org/officeDocument/2006/math">
                    <m:oMath>
                      <m:func>
                        <m:funcPr>
                          <m:ctrlPr>
                            <a:rPr kumimoji="1" lang="en" altLang="ja-JP" sz="2400" i="1" smtClean="0">
                              <a:latin typeface="Cambria Math" panose="02040503050406030204" pitchFamily="18" charset="0"/>
                            </a:rPr>
                          </m:ctrlPr>
                        </m:funcPr>
                        <m:fName>
                          <m:limLow>
                            <m:limLowPr>
                              <m:ctrlPr>
                                <a:rPr kumimoji="1" lang="en" altLang="ja-JP" sz="2400" i="0" smtClean="0">
                                  <a:latin typeface="Cambria Math" panose="02040503050406030204" pitchFamily="18" charset="0"/>
                                </a:rPr>
                              </m:ctrlPr>
                            </m:limLowPr>
                            <m:e>
                              <m:r>
                                <m:rPr>
                                  <m:sty m:val="p"/>
                                </m:rPr>
                                <a:rPr kumimoji="1" lang="en" altLang="ja-JP" sz="2400" i="0" smtClean="0">
                                  <a:latin typeface="Cambria Math" panose="02040503050406030204" pitchFamily="18" charset="0"/>
                                </a:rPr>
                                <m:t>min</m:t>
                              </m:r>
                            </m:e>
                            <m:lim/>
                          </m:limLow>
                          <m:r>
                            <a:rPr kumimoji="1" lang="en-US" altLang="ja-JP" sz="2400" b="0" i="1" smtClean="0">
                              <a:latin typeface="Cambria Math" panose="02040503050406030204" pitchFamily="18" charset="0"/>
                            </a:rPr>
                            <m:t> </m:t>
                          </m:r>
                        </m:fName>
                        <m:e>
                          <m:func>
                            <m:funcPr>
                              <m:ctrlPr>
                                <a:rPr lang="en-US" altLang="ja-JP" sz="2400" i="1">
                                  <a:latin typeface="Cambria Math" panose="02040503050406030204" pitchFamily="18" charset="0"/>
                                </a:rPr>
                              </m:ctrlPr>
                            </m:funcPr>
                            <m:fNa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i="1">
                                      <a:latin typeface="Cambria Math" panose="02040503050406030204" pitchFamily="18" charset="0"/>
                                    </a:rPr>
                                    <m:t>1</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r>
                                <a:rPr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2</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r>
                                <a:rPr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𝑘</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fName>
                            <m:e/>
                          </m:func>
                        </m:e>
                      </m:func>
                    </m:oMath>
                  </m:oMathPara>
                </a14:m>
                <a:br>
                  <a:rPr lang="en-US" altLang="ja-JP" sz="2400" dirty="0">
                    <a:ea typeface="Cambria Math" panose="02040503050406030204" pitchFamily="18" charset="0"/>
                  </a:rPr>
                </a:br>
                <a14:m>
                  <m:oMath xmlns:m="http://schemas.openxmlformats.org/officeDocument/2006/math">
                    <m:r>
                      <m:rPr>
                        <m:sty m:val="p"/>
                      </m:rPr>
                      <a:rPr lang="en-US" altLang="ja-JP" sz="2400" b="0" i="0" smtClean="0">
                        <a:latin typeface="Cambria Math" panose="02040503050406030204" pitchFamily="18" charset="0"/>
                        <a:ea typeface="Cambria Math" panose="02040503050406030204" pitchFamily="18" charset="0"/>
                      </a:rPr>
                      <m:t>subject</m:t>
                    </m:r>
                    <m:r>
                      <a:rPr lang="en-US" altLang="ja-JP" sz="2400" b="0" i="0" smtClean="0">
                        <a:latin typeface="Cambria Math" panose="02040503050406030204" pitchFamily="18" charset="0"/>
                        <a:ea typeface="Cambria Math" panose="02040503050406030204" pitchFamily="18" charset="0"/>
                      </a:rPr>
                      <m:t> </m:t>
                    </m:r>
                    <m:r>
                      <m:rPr>
                        <m:sty m:val="p"/>
                      </m:rPr>
                      <a:rPr lang="en-US" altLang="ja-JP" sz="2400" b="0" i="0" smtClean="0">
                        <a:latin typeface="Cambria Math" panose="02040503050406030204" pitchFamily="18" charset="0"/>
                        <a:ea typeface="Cambria Math" panose="02040503050406030204" pitchFamily="18" charset="0"/>
                      </a:rPr>
                      <m:t>to</m:t>
                    </m:r>
                    <m:r>
                      <a:rPr lang="en-US" altLang="ja-JP" sz="2400" b="0" i="0" smtClean="0">
                        <a:latin typeface="Cambria Math" panose="02040503050406030204" pitchFamily="18" charset="0"/>
                        <a:ea typeface="Cambria Math" panose="02040503050406030204" pitchFamily="18" charset="0"/>
                      </a:rPr>
                      <m:t> </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𝑔</m:t>
                        </m:r>
                      </m:e>
                      <m:sub>
                        <m:r>
                          <a:rPr lang="en-US" altLang="ja-JP" sz="2400" b="0" i="1" smtClean="0">
                            <a:latin typeface="Cambria Math" panose="02040503050406030204" pitchFamily="18" charset="0"/>
                          </a:rPr>
                          <m:t>𝑗</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oMath>
                </a14:m>
                <a:r>
                  <a:rPr lang="en-US" altLang="ja-JP" sz="2400" dirty="0">
                    <a:ea typeface="Cambria Math" panose="02040503050406030204" pitchFamily="18" charset="0"/>
                  </a:rPr>
                  <a:t> </a:t>
                </a:r>
                <a14:m>
                  <m:oMath xmlns:m="http://schemas.openxmlformats.org/officeDocument/2006/math">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0</m:t>
                    </m:r>
                    <m:r>
                      <a:rPr lang="en-US" altLang="ja-JP" sz="2400" b="0" i="0" smtClean="0">
                        <a:latin typeface="Cambria Math" panose="02040503050406030204" pitchFamily="18" charset="0"/>
                        <a:ea typeface="Cambria Math" panose="02040503050406030204" pitchFamily="18" charset="0"/>
                      </a:rPr>
                      <m:t>, (</m:t>
                    </m:r>
                    <m:r>
                      <a:rPr lang="en-US" altLang="ja-JP" sz="2400" b="0" i="1" smtClean="0">
                        <a:latin typeface="Cambria Math" panose="02040503050406030204" pitchFamily="18" charset="0"/>
                        <a:ea typeface="Cambria Math" panose="02040503050406030204" pitchFamily="18" charset="0"/>
                      </a:rPr>
                      <m:t>𝑗</m:t>
                    </m:r>
                    <m:r>
                      <a:rPr lang="en-US" altLang="ja-JP" sz="2400" b="0" i="1" smtClean="0">
                        <a:latin typeface="Cambria Math" panose="02040503050406030204" pitchFamily="18" charset="0"/>
                        <a:ea typeface="Cambria Math" panose="02040503050406030204" pitchFamily="18" charset="0"/>
                      </a:rPr>
                      <m:t>=1,…, </m:t>
                    </m:r>
                    <m:r>
                      <a:rPr lang="en-US" altLang="ja-JP" sz="2400" b="0" i="1" smtClean="0">
                        <a:latin typeface="Cambria Math" panose="02040503050406030204" pitchFamily="18" charset="0"/>
                        <a:ea typeface="Cambria Math" panose="02040503050406030204" pitchFamily="18" charset="0"/>
                      </a:rPr>
                      <m:t>𝑚</m:t>
                    </m:r>
                    <m:r>
                      <a:rPr lang="en-US" altLang="ja-JP" sz="2400" b="0" i="0" smtClean="0">
                        <a:latin typeface="Cambria Math" panose="02040503050406030204" pitchFamily="18" charset="0"/>
                        <a:ea typeface="Cambria Math" panose="02040503050406030204" pitchFamily="18" charset="0"/>
                      </a:rPr>
                      <m:t>)</m:t>
                    </m:r>
                  </m:oMath>
                </a14:m>
                <a:endParaRPr kumimoji="1" lang="en-US" altLang="ja-JP" sz="2400" dirty="0"/>
              </a:p>
            </p:txBody>
          </p:sp>
        </mc:Choice>
        <mc:Fallback xmlns="">
          <p:sp>
            <p:nvSpPr>
              <p:cNvPr id="14" name="テキスト ボックス 13">
                <a:extLst>
                  <a:ext uri="{FF2B5EF4-FFF2-40B4-BE49-F238E27FC236}">
                    <a16:creationId xmlns:a16="http://schemas.microsoft.com/office/drawing/2014/main" id="{AF52948D-043F-7E12-BA71-532DA27368DE}"/>
                  </a:ext>
                </a:extLst>
              </p:cNvPr>
              <p:cNvSpPr txBox="1">
                <a:spLocks noRot="1" noChangeAspect="1" noMove="1" noResize="1" noEditPoints="1" noAdjustHandles="1" noChangeArrowheads="1" noChangeShapeType="1" noTextEdit="1"/>
              </p:cNvSpPr>
              <p:nvPr/>
            </p:nvSpPr>
            <p:spPr>
              <a:xfrm>
                <a:off x="3617707" y="2230999"/>
                <a:ext cx="4642105" cy="978666"/>
              </a:xfrm>
              <a:prstGeom prst="rect">
                <a:avLst/>
              </a:prstGeom>
              <a:blipFill>
                <a:blip r:embed="rId6"/>
                <a:stretch>
                  <a:fillRect l="-1090" r="-1090" b="-641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90F30B5B-5409-33EC-E874-A9016A67E4B1}"/>
                  </a:ext>
                </a:extLst>
              </p:cNvPr>
              <p:cNvSpPr txBox="1"/>
              <p:nvPr/>
            </p:nvSpPr>
            <p:spPr>
              <a:xfrm>
                <a:off x="1233126" y="3209665"/>
                <a:ext cx="6091732" cy="886268"/>
              </a:xfrm>
              <a:prstGeom prst="rect">
                <a:avLst/>
              </a:prstGeom>
              <a:noFill/>
            </p:spPr>
            <p:txBody>
              <a:bodyPr wrap="none" rtlCol="0">
                <a:spAutoFit/>
              </a:bodyPr>
              <a:lstStyle/>
              <a:p>
                <a:pPr>
                  <a:lnSpc>
                    <a:spcPct val="110000"/>
                  </a:lnSpc>
                </a:pPr>
                <a:r>
                  <a:rPr kumimoji="1" lang="en-US" altLang="ja-JP" sz="2400" dirty="0">
                    <a:latin typeface="Arial" panose="020B0604020202020204" pitchFamily="34" charset="0"/>
                    <a:cs typeface="Arial" panose="020B0604020202020204" pitchFamily="34" charset="0"/>
                  </a:rPr>
                  <a:t>When the following conditions are satisfied,</a:t>
                </a:r>
              </a:p>
              <a:p>
                <a:pPr>
                  <a:lnSpc>
                    <a:spcPct val="110000"/>
                  </a:lnSpc>
                </a:pPr>
                <a:r>
                  <a:rPr kumimoji="1" lang="en-US" altLang="ja-JP" sz="2400" dirty="0"/>
                  <a: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rPr>
                          <m:t>1</m:t>
                        </m:r>
                      </m:sub>
                    </m:sSub>
                  </m:oMath>
                </a14:m>
                <a:r>
                  <a:rPr lang="en-US" altLang="ja-JP" sz="2400" dirty="0"/>
                  <a:t> </a:t>
                </a:r>
                <a:r>
                  <a:rPr lang="en-US" altLang="ja-JP" sz="2400" b="1" dirty="0">
                    <a:solidFill>
                      <a:srgbClr val="FF0000"/>
                    </a:solidFill>
                    <a:latin typeface="Arial" panose="020B0604020202020204" pitchFamily="34" charset="0"/>
                    <a:cs typeface="Arial" panose="020B0604020202020204" pitchFamily="34" charset="0"/>
                  </a:rPr>
                  <a:t>dominates</a:t>
                </a:r>
                <a:r>
                  <a:rPr lang="en-US" altLang="ja-JP" sz="2400" dirty="0"/>
                  <a: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ea typeface="Cambria Math" panose="02040503050406030204" pitchFamily="18" charset="0"/>
                          </a:rPr>
                          <m:t>2</m:t>
                        </m:r>
                      </m:sub>
                    </m:sSub>
                  </m:oMath>
                </a14:m>
                <a:endParaRPr kumimoji="1" lang="ja-JP" altLang="en-US" sz="2400"/>
              </a:p>
            </p:txBody>
          </p:sp>
        </mc:Choice>
        <mc:Fallback xmlns="">
          <p:sp>
            <p:nvSpPr>
              <p:cNvPr id="16" name="テキスト ボックス 15">
                <a:extLst>
                  <a:ext uri="{FF2B5EF4-FFF2-40B4-BE49-F238E27FC236}">
                    <a16:creationId xmlns:a16="http://schemas.microsoft.com/office/drawing/2014/main" id="{90F30B5B-5409-33EC-E874-A9016A67E4B1}"/>
                  </a:ext>
                </a:extLst>
              </p:cNvPr>
              <p:cNvSpPr txBox="1">
                <a:spLocks noRot="1" noChangeAspect="1" noMove="1" noResize="1" noEditPoints="1" noAdjustHandles="1" noChangeArrowheads="1" noChangeShapeType="1" noTextEdit="1"/>
              </p:cNvSpPr>
              <p:nvPr/>
            </p:nvSpPr>
            <p:spPr>
              <a:xfrm>
                <a:off x="1233126" y="3209665"/>
                <a:ext cx="6091732" cy="886268"/>
              </a:xfrm>
              <a:prstGeom prst="rect">
                <a:avLst/>
              </a:prstGeom>
              <a:blipFill>
                <a:blip r:embed="rId7"/>
                <a:stretch>
                  <a:fillRect l="-1455" t="-4225" r="-624" b="-1267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04207636"/>
      </p:ext>
    </p:extLst>
  </p:cSld>
  <p:clrMapOvr>
    <a:masterClrMapping/>
  </p:clrMapOvr>
  <mc:AlternateContent xmlns:mc="http://schemas.openxmlformats.org/markup-compatibility/2006">
    <mc:Choice xmlns:p14="http://schemas.microsoft.com/office/powerpoint/2010/main" Requires="p14">
      <p:transition spd="slow" p14:dur="2000" advTm="68205"/>
    </mc:Choice>
    <mc:Fallback>
      <p:transition spd="slow" advTm="68205"/>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フローチャート: 代替処理 38">
            <a:extLst>
              <a:ext uri="{FF2B5EF4-FFF2-40B4-BE49-F238E27FC236}">
                <a16:creationId xmlns:a16="http://schemas.microsoft.com/office/drawing/2014/main" id="{E95835BC-7E5D-47C1-1661-A3314FFC4C57}"/>
              </a:ext>
            </a:extLst>
          </p:cNvPr>
          <p:cNvSpPr/>
          <p:nvPr/>
        </p:nvSpPr>
        <p:spPr>
          <a:xfrm>
            <a:off x="86465" y="5520432"/>
            <a:ext cx="11975942" cy="107735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フローチャート: 代替処理 30">
            <a:extLst>
              <a:ext uri="{FF2B5EF4-FFF2-40B4-BE49-F238E27FC236}">
                <a16:creationId xmlns:a16="http://schemas.microsoft.com/office/drawing/2014/main" id="{CBAE7A22-E409-D72D-A972-DB96ED3A9889}"/>
              </a:ext>
            </a:extLst>
          </p:cNvPr>
          <p:cNvSpPr/>
          <p:nvPr/>
        </p:nvSpPr>
        <p:spPr>
          <a:xfrm>
            <a:off x="4702429" y="1450772"/>
            <a:ext cx="7401834" cy="1785914"/>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5FDBDCA-D694-B10A-412D-DC2C863A10C1}"/>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Multi-Objective GP (MOGP)</a:t>
            </a:r>
            <a:endParaRPr kumimoji="1" lang="ja-JP" altLang="en-US" b="1">
              <a:latin typeface="Arial" panose="020B0604020202020204" pitchFamily="34" charset="0"/>
              <a:cs typeface="Arial" panose="020B0604020202020204" pitchFamily="34" charset="0"/>
            </a:endParaRPr>
          </a:p>
        </p:txBody>
      </p:sp>
      <p:grpSp>
        <p:nvGrpSpPr>
          <p:cNvPr id="14" name="グループ化 13">
            <a:extLst>
              <a:ext uri="{FF2B5EF4-FFF2-40B4-BE49-F238E27FC236}">
                <a16:creationId xmlns:a16="http://schemas.microsoft.com/office/drawing/2014/main" id="{8E23FE7D-4BF2-EFD1-DFEE-ECFB488FE34D}"/>
              </a:ext>
            </a:extLst>
          </p:cNvPr>
          <p:cNvGrpSpPr/>
          <p:nvPr/>
        </p:nvGrpSpPr>
        <p:grpSpPr>
          <a:xfrm>
            <a:off x="375874" y="1727963"/>
            <a:ext cx="4161710" cy="3780122"/>
            <a:chOff x="569472" y="2055091"/>
            <a:chExt cx="4161710" cy="3780122"/>
          </a:xfrm>
        </p:grpSpPr>
        <p:sp>
          <p:nvSpPr>
            <p:cNvPr id="3" name="Line 18">
              <a:extLst>
                <a:ext uri="{FF2B5EF4-FFF2-40B4-BE49-F238E27FC236}">
                  <a16:creationId xmlns:a16="http://schemas.microsoft.com/office/drawing/2014/main" id="{B0947C1E-0A7A-8FD5-715E-05161A9FDC10}"/>
                </a:ext>
              </a:extLst>
            </p:cNvPr>
            <p:cNvSpPr/>
            <p:nvPr/>
          </p:nvSpPr>
          <p:spPr>
            <a:xfrm>
              <a:off x="1051560" y="5257800"/>
              <a:ext cx="3679622" cy="0"/>
            </a:xfrm>
            <a:prstGeom prst="line">
              <a:avLst/>
            </a:prstGeom>
            <a:ln w="12000">
              <a:solidFill>
                <a:srgbClr val="252A2D"/>
              </a:solidFill>
              <a:tailEnd type="triangle"/>
            </a:ln>
          </p:spPr>
          <p:txBody>
            <a:bodyPr/>
            <a:lstStyle/>
            <a:p>
              <a:endParaRPr/>
            </a:p>
          </p:txBody>
        </p:sp>
        <p:grpSp>
          <p:nvGrpSpPr>
            <p:cNvPr id="4" name="グループ化 3">
              <a:extLst>
                <a:ext uri="{FF2B5EF4-FFF2-40B4-BE49-F238E27FC236}">
                  <a16:creationId xmlns:a16="http://schemas.microsoft.com/office/drawing/2014/main" id="{1E8EF0B7-B4D6-D857-53D4-1256A5E797BF}"/>
                </a:ext>
              </a:extLst>
            </p:cNvPr>
            <p:cNvGrpSpPr/>
            <p:nvPr/>
          </p:nvGrpSpPr>
          <p:grpSpPr>
            <a:xfrm flipV="1">
              <a:off x="1417320" y="2574901"/>
              <a:ext cx="2892552" cy="2325624"/>
              <a:chOff x="1417320" y="2319528"/>
              <a:chExt cx="2892552" cy="2325624"/>
            </a:xfrm>
          </p:grpSpPr>
          <p:sp>
            <p:nvSpPr>
              <p:cNvPr id="5" name="Shape 22">
                <a:extLst>
                  <a:ext uri="{FF2B5EF4-FFF2-40B4-BE49-F238E27FC236}">
                    <a16:creationId xmlns:a16="http://schemas.microsoft.com/office/drawing/2014/main" id="{B6D61CEB-FD25-8250-B330-2E6C2C604238}"/>
                  </a:ext>
                </a:extLst>
              </p:cNvPr>
              <p:cNvSpPr/>
              <p:nvPr/>
            </p:nvSpPr>
            <p:spPr>
              <a:xfrm>
                <a:off x="1417320" y="4526280"/>
                <a:ext cx="118872" cy="118872"/>
              </a:xfrm>
              <a:prstGeom prst="roundRect">
                <a:avLst/>
              </a:prstGeom>
              <a:solidFill>
                <a:schemeClr val="accent1">
                  <a:lumMod val="60000"/>
                  <a:lumOff val="40000"/>
                </a:schemeClr>
              </a:solidFill>
              <a:ln>
                <a:noFill/>
              </a:ln>
            </p:spPr>
            <p:txBody>
              <a:bodyPr/>
              <a:lstStyle/>
              <a:p>
                <a:endParaRPr/>
              </a:p>
            </p:txBody>
          </p:sp>
          <p:sp>
            <p:nvSpPr>
              <p:cNvPr id="6" name="Shape 23">
                <a:extLst>
                  <a:ext uri="{FF2B5EF4-FFF2-40B4-BE49-F238E27FC236}">
                    <a16:creationId xmlns:a16="http://schemas.microsoft.com/office/drawing/2014/main" id="{6C5D635B-F550-8EA0-F58A-1FA421E1D45D}"/>
                  </a:ext>
                </a:extLst>
              </p:cNvPr>
              <p:cNvSpPr/>
              <p:nvPr/>
            </p:nvSpPr>
            <p:spPr>
              <a:xfrm>
                <a:off x="1722120" y="3733800"/>
                <a:ext cx="118872" cy="118872"/>
              </a:xfrm>
              <a:prstGeom prst="roundRect">
                <a:avLst/>
              </a:prstGeom>
              <a:solidFill>
                <a:schemeClr val="accent1">
                  <a:lumMod val="60000"/>
                  <a:lumOff val="40000"/>
                </a:schemeClr>
              </a:solidFill>
              <a:ln>
                <a:noFill/>
              </a:ln>
            </p:spPr>
            <p:txBody>
              <a:bodyPr/>
              <a:lstStyle/>
              <a:p>
                <a:endParaRPr/>
              </a:p>
            </p:txBody>
          </p:sp>
          <p:sp>
            <p:nvSpPr>
              <p:cNvPr id="7" name="Shape 24">
                <a:extLst>
                  <a:ext uri="{FF2B5EF4-FFF2-40B4-BE49-F238E27FC236}">
                    <a16:creationId xmlns:a16="http://schemas.microsoft.com/office/drawing/2014/main" id="{C5B4E80C-C43A-C6CD-1DF1-4D2ADEFA305C}"/>
                  </a:ext>
                </a:extLst>
              </p:cNvPr>
              <p:cNvSpPr/>
              <p:nvPr/>
            </p:nvSpPr>
            <p:spPr>
              <a:xfrm>
                <a:off x="2118360" y="2956560"/>
                <a:ext cx="118872" cy="118872"/>
              </a:xfrm>
              <a:prstGeom prst="roundRect">
                <a:avLst/>
              </a:prstGeom>
              <a:solidFill>
                <a:schemeClr val="accent1">
                  <a:lumMod val="60000"/>
                  <a:lumOff val="40000"/>
                </a:schemeClr>
              </a:solidFill>
              <a:ln>
                <a:noFill/>
              </a:ln>
            </p:spPr>
            <p:txBody>
              <a:bodyPr/>
              <a:lstStyle/>
              <a:p>
                <a:endParaRPr/>
              </a:p>
            </p:txBody>
          </p:sp>
          <p:sp>
            <p:nvSpPr>
              <p:cNvPr id="8" name="Shape 25">
                <a:extLst>
                  <a:ext uri="{FF2B5EF4-FFF2-40B4-BE49-F238E27FC236}">
                    <a16:creationId xmlns:a16="http://schemas.microsoft.com/office/drawing/2014/main" id="{EDEC7121-FF00-10FE-A088-D0F5B00A5A16}"/>
                  </a:ext>
                </a:extLst>
              </p:cNvPr>
              <p:cNvSpPr/>
              <p:nvPr/>
            </p:nvSpPr>
            <p:spPr>
              <a:xfrm>
                <a:off x="3032760" y="2560320"/>
                <a:ext cx="118872" cy="118872"/>
              </a:xfrm>
              <a:prstGeom prst="roundRect">
                <a:avLst/>
              </a:prstGeom>
              <a:solidFill>
                <a:schemeClr val="accent1">
                  <a:lumMod val="60000"/>
                  <a:lumOff val="40000"/>
                </a:schemeClr>
              </a:solidFill>
              <a:ln>
                <a:noFill/>
              </a:ln>
            </p:spPr>
            <p:txBody>
              <a:bodyPr/>
              <a:lstStyle/>
              <a:p>
                <a:endParaRPr/>
              </a:p>
            </p:txBody>
          </p:sp>
          <p:sp>
            <p:nvSpPr>
              <p:cNvPr id="9" name="Shape 26">
                <a:extLst>
                  <a:ext uri="{FF2B5EF4-FFF2-40B4-BE49-F238E27FC236}">
                    <a16:creationId xmlns:a16="http://schemas.microsoft.com/office/drawing/2014/main" id="{CBFB35D5-3FB5-167C-85A9-7F723A2F6622}"/>
                  </a:ext>
                </a:extLst>
              </p:cNvPr>
              <p:cNvSpPr/>
              <p:nvPr/>
            </p:nvSpPr>
            <p:spPr>
              <a:xfrm>
                <a:off x="4191000" y="2319528"/>
                <a:ext cx="118872" cy="118872"/>
              </a:xfrm>
              <a:prstGeom prst="roundRect">
                <a:avLst/>
              </a:prstGeom>
              <a:solidFill>
                <a:schemeClr val="accent1">
                  <a:lumMod val="60000"/>
                  <a:lumOff val="40000"/>
                </a:schemeClr>
              </a:solidFill>
              <a:ln>
                <a:noFill/>
              </a:ln>
            </p:spPr>
            <p:txBody>
              <a:bodyPr/>
              <a:lstStyle/>
              <a:p>
                <a:endParaRPr/>
              </a:p>
            </p:txBody>
          </p:sp>
        </p:grpSp>
        <p:sp>
          <p:nvSpPr>
            <p:cNvPr id="10" name="Text 28">
              <a:extLst>
                <a:ext uri="{FF2B5EF4-FFF2-40B4-BE49-F238E27FC236}">
                  <a16:creationId xmlns:a16="http://schemas.microsoft.com/office/drawing/2014/main" id="{48444E68-FAFB-5F4E-18EF-88483F7E0C78}"/>
                </a:ext>
              </a:extLst>
            </p:cNvPr>
            <p:cNvSpPr txBox="1"/>
            <p:nvPr/>
          </p:nvSpPr>
          <p:spPr>
            <a:xfrm>
              <a:off x="1222252" y="4540861"/>
              <a:ext cx="1810508" cy="482087"/>
            </a:xfrm>
            <a:prstGeom prst="rect">
              <a:avLst/>
            </a:prstGeom>
            <a:noFill/>
            <a:ln>
              <a:noFill/>
            </a:ln>
          </p:spPr>
          <p:txBody>
            <a:bodyPr wrap="square" lIns="45720" tIns="45720" rIns="45720" bIns="45720" anchor="t"/>
            <a:lstStyle/>
            <a:p>
              <a:pPr algn="l"/>
              <a:r>
                <a:rPr lang="en-US" altLang="ja-JP" sz="2000" dirty="0">
                  <a:solidFill>
                    <a:schemeClr val="accent5">
                      <a:lumMod val="60000"/>
                      <a:lumOff val="40000"/>
                    </a:schemeClr>
                  </a:solidFill>
                  <a:latin typeface="Arial" panose="020B0604020202020204" pitchFamily="34" charset="0"/>
                  <a:ea typeface="Yu Gothic"/>
                  <a:cs typeface="Arial" panose="020B0604020202020204" pitchFamily="34" charset="0"/>
                </a:rPr>
                <a:t>Pareto front</a:t>
              </a:r>
              <a:endParaRPr lang="ja-JP" sz="2000">
                <a:solidFill>
                  <a:schemeClr val="accent5">
                    <a:lumMod val="60000"/>
                    <a:lumOff val="40000"/>
                  </a:schemeClr>
                </a:solidFill>
                <a:latin typeface="Arial" panose="020B0604020202020204" pitchFamily="34" charset="0"/>
                <a:ea typeface="Yu Gothic"/>
                <a:cs typeface="Arial" panose="020B0604020202020204" pitchFamily="34" charset="0"/>
              </a:endParaRPr>
            </a:p>
          </p:txBody>
        </p:sp>
        <p:sp>
          <p:nvSpPr>
            <p:cNvPr id="11" name="Line 18">
              <a:extLst>
                <a:ext uri="{FF2B5EF4-FFF2-40B4-BE49-F238E27FC236}">
                  <a16:creationId xmlns:a16="http://schemas.microsoft.com/office/drawing/2014/main" id="{AB393FB1-84CD-C608-9396-D94990DAC595}"/>
                </a:ext>
              </a:extLst>
            </p:cNvPr>
            <p:cNvSpPr/>
            <p:nvPr/>
          </p:nvSpPr>
          <p:spPr>
            <a:xfrm rot="16200000">
              <a:off x="-521895" y="3684345"/>
              <a:ext cx="3146910" cy="0"/>
            </a:xfrm>
            <a:prstGeom prst="line">
              <a:avLst/>
            </a:prstGeom>
            <a:ln w="12000">
              <a:solidFill>
                <a:srgbClr val="252A2D"/>
              </a:solidFill>
              <a:tailEnd type="triangle"/>
            </a:ln>
          </p:spPr>
          <p:txBody>
            <a:bodyPr/>
            <a:lstStyle/>
            <a:p>
              <a:endParaRPr/>
            </a:p>
          </p:txBody>
        </p:sp>
        <p:sp>
          <p:nvSpPr>
            <p:cNvPr id="12" name="Text 28">
              <a:extLst>
                <a:ext uri="{FF2B5EF4-FFF2-40B4-BE49-F238E27FC236}">
                  <a16:creationId xmlns:a16="http://schemas.microsoft.com/office/drawing/2014/main" id="{B5A5A013-5D64-0C5E-09B1-9B78A208B259}"/>
                </a:ext>
              </a:extLst>
            </p:cNvPr>
            <p:cNvSpPr txBox="1"/>
            <p:nvPr/>
          </p:nvSpPr>
          <p:spPr>
            <a:xfrm rot="16200000">
              <a:off x="-94738" y="3187956"/>
              <a:ext cx="1810508" cy="482087"/>
            </a:xfrm>
            <a:prstGeom prst="rect">
              <a:avLst/>
            </a:prstGeom>
            <a:noFill/>
            <a:ln>
              <a:noFill/>
            </a:ln>
          </p:spPr>
          <p:txBody>
            <a:bodyPr wrap="square" lIns="45720" tIns="45720" rIns="45720" bIns="45720" anchor="t"/>
            <a:lstStyle/>
            <a:p>
              <a:pPr algn="l"/>
              <a:r>
                <a:rPr lang="en-US" altLang="ja-JP" sz="2000" dirty="0">
                  <a:latin typeface="Arial" panose="020B0604020202020204" pitchFamily="34" charset="0"/>
                  <a:ea typeface="Yu Gothic"/>
                  <a:cs typeface="Arial" panose="020B0604020202020204" pitchFamily="34" charset="0"/>
                </a:rPr>
                <a:t>Objective 2</a:t>
              </a:r>
              <a:endParaRPr lang="ja-JP" sz="2000">
                <a:latin typeface="Arial" panose="020B0604020202020204" pitchFamily="34" charset="0"/>
                <a:ea typeface="Yu Gothic"/>
                <a:cs typeface="Arial" panose="020B0604020202020204" pitchFamily="34" charset="0"/>
              </a:endParaRPr>
            </a:p>
          </p:txBody>
        </p:sp>
        <p:sp>
          <p:nvSpPr>
            <p:cNvPr id="13" name="Text 28">
              <a:extLst>
                <a:ext uri="{FF2B5EF4-FFF2-40B4-BE49-F238E27FC236}">
                  <a16:creationId xmlns:a16="http://schemas.microsoft.com/office/drawing/2014/main" id="{1A36D096-E45B-B43A-24BD-283965C22065}"/>
                </a:ext>
              </a:extLst>
            </p:cNvPr>
            <p:cNvSpPr txBox="1"/>
            <p:nvPr/>
          </p:nvSpPr>
          <p:spPr>
            <a:xfrm>
              <a:off x="2246811" y="5353126"/>
              <a:ext cx="1810508" cy="482087"/>
            </a:xfrm>
            <a:prstGeom prst="rect">
              <a:avLst/>
            </a:prstGeom>
            <a:noFill/>
            <a:ln>
              <a:noFill/>
            </a:ln>
          </p:spPr>
          <p:txBody>
            <a:bodyPr wrap="square" lIns="45720" tIns="45720" rIns="45720" bIns="45720" anchor="t"/>
            <a:lstStyle/>
            <a:p>
              <a:pPr algn="l"/>
              <a:r>
                <a:rPr lang="en-US" altLang="ja-JP" sz="2000" dirty="0">
                  <a:latin typeface="Arial" panose="020B0604020202020204" pitchFamily="34" charset="0"/>
                  <a:ea typeface="Yu Gothic"/>
                  <a:cs typeface="Arial" panose="020B0604020202020204" pitchFamily="34" charset="0"/>
                </a:rPr>
                <a:t>Objective 1</a:t>
              </a:r>
              <a:endParaRPr lang="ja-JP" sz="2000">
                <a:latin typeface="Arial" panose="020B0604020202020204" pitchFamily="34" charset="0"/>
                <a:ea typeface="Yu Gothic"/>
                <a:cs typeface="Arial" panose="020B0604020202020204" pitchFamily="34" charset="0"/>
              </a:endParaRPr>
            </a:p>
          </p:txBody>
        </p:sp>
        <p:sp>
          <p:nvSpPr>
            <p:cNvPr id="16" name="Text 28">
              <a:extLst>
                <a:ext uri="{FF2B5EF4-FFF2-40B4-BE49-F238E27FC236}">
                  <a16:creationId xmlns:a16="http://schemas.microsoft.com/office/drawing/2014/main" id="{B2EC329E-DA67-14DB-7B6E-B141226BB51C}"/>
                </a:ext>
              </a:extLst>
            </p:cNvPr>
            <p:cNvSpPr txBox="1"/>
            <p:nvPr/>
          </p:nvSpPr>
          <p:spPr>
            <a:xfrm>
              <a:off x="1985028" y="2055091"/>
              <a:ext cx="2705064" cy="482087"/>
            </a:xfrm>
            <a:prstGeom prst="rect">
              <a:avLst/>
            </a:prstGeom>
            <a:solidFill>
              <a:schemeClr val="bg1"/>
            </a:solidFill>
            <a:ln>
              <a:noFill/>
            </a:ln>
          </p:spPr>
          <p:txBody>
            <a:bodyPr wrap="square" lIns="45720" tIns="45720" rIns="45720" bIns="45720" anchor="t"/>
            <a:lstStyle/>
            <a:p>
              <a:pPr algn="l"/>
              <a:r>
                <a:rPr lang="en-US" altLang="ja-JP" sz="2000" dirty="0">
                  <a:solidFill>
                    <a:schemeClr val="accent1">
                      <a:lumMod val="60000"/>
                      <a:lumOff val="40000"/>
                    </a:schemeClr>
                  </a:solidFill>
                  <a:latin typeface="Arial" panose="020B0604020202020204" pitchFamily="34" charset="0"/>
                  <a:ea typeface="Yu Gothic"/>
                  <a:cs typeface="Arial" panose="020B0604020202020204" pitchFamily="34" charset="0"/>
                </a:rPr>
                <a:t>Pareto optimal solution</a:t>
              </a:r>
              <a:endParaRPr lang="ja-JP" sz="2000">
                <a:solidFill>
                  <a:schemeClr val="accent1">
                    <a:lumMod val="60000"/>
                    <a:lumOff val="40000"/>
                  </a:schemeClr>
                </a:solidFill>
                <a:latin typeface="Arial" panose="020B0604020202020204" pitchFamily="34" charset="0"/>
                <a:ea typeface="Yu Gothic"/>
                <a:cs typeface="Arial" panose="020B0604020202020204" pitchFamily="34" charset="0"/>
              </a:endParaRPr>
            </a:p>
          </p:txBody>
        </p:sp>
      </p:grpSp>
      <p:sp>
        <p:nvSpPr>
          <p:cNvPr id="15" name="テキスト ボックス 14">
            <a:extLst>
              <a:ext uri="{FF2B5EF4-FFF2-40B4-BE49-F238E27FC236}">
                <a16:creationId xmlns:a16="http://schemas.microsoft.com/office/drawing/2014/main" id="{D33B505D-8990-F526-9521-814198F6B38C}"/>
              </a:ext>
            </a:extLst>
          </p:cNvPr>
          <p:cNvSpPr txBox="1"/>
          <p:nvPr/>
        </p:nvSpPr>
        <p:spPr>
          <a:xfrm>
            <a:off x="4790109" y="1730069"/>
            <a:ext cx="4506675" cy="461665"/>
          </a:xfrm>
          <a:prstGeom prst="rect">
            <a:avLst/>
          </a:prstGeom>
          <a:noFill/>
        </p:spPr>
        <p:txBody>
          <a:bodyPr wrap="square" rtlCol="0">
            <a:spAutoFit/>
          </a:bodyPr>
          <a:lstStyle/>
          <a:p>
            <a:r>
              <a:rPr lang="ja-JP" altLang="ja-JP" sz="2400">
                <a:latin typeface="Arial" panose="020B0604020202020204" pitchFamily="34" charset="0"/>
                <a:cs typeface="Arial" panose="020B0604020202020204" pitchFamily="34" charset="0"/>
              </a:rPr>
              <a:t>The </a:t>
            </a: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ingle </a:t>
            </a:r>
            <a:r>
              <a:rPr lang="en-US" altLang="ja-JP" sz="2400" dirty="0">
                <a:latin typeface="Arial" panose="020B0604020202020204" pitchFamily="34" charset="0"/>
                <a:cs typeface="Arial" panose="020B0604020202020204" pitchFamily="34" charset="0"/>
              </a:rPr>
              <a:t>b</a:t>
            </a:r>
            <a:r>
              <a:rPr lang="ja-JP" altLang="ja-JP" sz="2400">
                <a:latin typeface="Arial" panose="020B0604020202020204" pitchFamily="34" charset="0"/>
                <a:cs typeface="Arial" panose="020B0604020202020204" pitchFamily="34" charset="0"/>
              </a:rPr>
              <a:t>est </a:t>
            </a:r>
            <a:r>
              <a:rPr lang="en-US" altLang="ja-JP" sz="2400" dirty="0">
                <a:latin typeface="Arial" panose="020B0604020202020204" pitchFamily="34" charset="0"/>
                <a:cs typeface="Arial" panose="020B0604020202020204" pitchFamily="34" charset="0"/>
              </a:rPr>
              <a:t>solution</a:t>
            </a:r>
            <a:endParaRPr lang="ja-JP" altLang="ja-JP" sz="2400">
              <a:latin typeface="Arial" panose="020B0604020202020204" pitchFamily="34" charset="0"/>
              <a:cs typeface="Arial" panose="020B0604020202020204" pitchFamily="34" charset="0"/>
            </a:endParaRPr>
          </a:p>
        </p:txBody>
      </p:sp>
      <p:cxnSp>
        <p:nvCxnSpPr>
          <p:cNvPr id="18" name="直線コネクタ 17">
            <a:extLst>
              <a:ext uri="{FF2B5EF4-FFF2-40B4-BE49-F238E27FC236}">
                <a16:creationId xmlns:a16="http://schemas.microsoft.com/office/drawing/2014/main" id="{D256706C-165A-CFB1-6FBD-DFDBD672C44C}"/>
              </a:ext>
            </a:extLst>
          </p:cNvPr>
          <p:cNvCxnSpPr>
            <a:cxnSpLocks/>
            <a:stCxn id="16" idx="2"/>
            <a:endCxn id="6" idx="3"/>
          </p:cNvCxnSpPr>
          <p:nvPr/>
        </p:nvCxnSpPr>
        <p:spPr>
          <a:xfrm flipH="1">
            <a:off x="1647394" y="2210050"/>
            <a:ext cx="1496568" cy="889639"/>
          </a:xfrm>
          <a:prstGeom prst="line">
            <a:avLst/>
          </a:prstGeom>
        </p:spPr>
        <p:style>
          <a:lnRef idx="2">
            <a:schemeClr val="accent1"/>
          </a:lnRef>
          <a:fillRef idx="0">
            <a:schemeClr val="accent1"/>
          </a:fillRef>
          <a:effectRef idx="1">
            <a:schemeClr val="accent1"/>
          </a:effectRef>
          <a:fontRef idx="minor">
            <a:schemeClr val="tx1"/>
          </a:fontRef>
        </p:style>
      </p:cxnSp>
      <p:sp>
        <p:nvSpPr>
          <p:cNvPr id="27" name="三角形 26">
            <a:extLst>
              <a:ext uri="{FF2B5EF4-FFF2-40B4-BE49-F238E27FC236}">
                <a16:creationId xmlns:a16="http://schemas.microsoft.com/office/drawing/2014/main" id="{46ED6C2F-7470-8C1B-6774-32D7DB619E3B}"/>
              </a:ext>
            </a:extLst>
          </p:cNvPr>
          <p:cNvSpPr/>
          <p:nvPr/>
        </p:nvSpPr>
        <p:spPr>
          <a:xfrm>
            <a:off x="8295050" y="1760858"/>
            <a:ext cx="437883" cy="342550"/>
          </a:xfrm>
          <a:prstGeom prst="triangle">
            <a:avLst/>
          </a:prstGeom>
          <a:noFill/>
          <a:ln w="508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2E8DB059-2ADD-74C0-8521-9FF074CB3A35}"/>
              </a:ext>
            </a:extLst>
          </p:cNvPr>
          <p:cNvSpPr txBox="1"/>
          <p:nvPr/>
        </p:nvSpPr>
        <p:spPr>
          <a:xfrm>
            <a:off x="4790109" y="2247534"/>
            <a:ext cx="6669646" cy="830997"/>
          </a:xfrm>
          <a:prstGeom prst="rect">
            <a:avLst/>
          </a:prstGeom>
          <a:noFill/>
        </p:spPr>
        <p:txBody>
          <a:bodyPr wrap="none" rtlCol="0">
            <a:spAutoFit/>
          </a:bodyPr>
          <a:lstStyle/>
          <a:p>
            <a:r>
              <a:rPr lang="ja-JP" altLang="ja-JP" sz="2400">
                <a:latin typeface="Arial" panose="020B0604020202020204" pitchFamily="34" charset="0"/>
                <a:cs typeface="Arial" panose="020B0604020202020204" pitchFamily="34" charset="0"/>
              </a:rPr>
              <a:t>Multiple </a:t>
            </a:r>
            <a:r>
              <a:rPr lang="en-US" altLang="ja-JP" sz="2400" dirty="0">
                <a:latin typeface="Arial" panose="020B0604020202020204" pitchFamily="34" charset="0"/>
                <a:cs typeface="Arial" panose="020B0604020202020204" pitchFamily="34" charset="0"/>
              </a:rPr>
              <a:t>o</a:t>
            </a:r>
            <a:r>
              <a:rPr lang="ja-JP" altLang="ja-JP" sz="2400">
                <a:latin typeface="Arial" panose="020B0604020202020204" pitchFamily="34" charset="0"/>
                <a:cs typeface="Arial" panose="020B0604020202020204" pitchFamily="34" charset="0"/>
              </a:rPr>
              <a:t>ptimal </a:t>
            </a: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olutions </a:t>
            </a:r>
            <a:r>
              <a:rPr lang="en-US" altLang="ja-JP" sz="2400" dirty="0">
                <a:latin typeface="Arial" panose="020B0604020202020204" pitchFamily="34" charset="0"/>
                <a:cs typeface="Arial" panose="020B0604020202020204" pitchFamily="34" charset="0"/>
              </a:rPr>
              <a:t>c</a:t>
            </a:r>
            <a:r>
              <a:rPr lang="ja-JP" altLang="ja-JP" sz="2400">
                <a:latin typeface="Arial" panose="020B0604020202020204" pitchFamily="34" charset="0"/>
                <a:cs typeface="Arial" panose="020B0604020202020204" pitchFamily="34" charset="0"/>
              </a:rPr>
              <a:t>onsidering </a:t>
            </a:r>
            <a:r>
              <a:rPr lang="en-US" altLang="ja-JP" sz="2400" dirty="0">
                <a:latin typeface="Arial" panose="020B0604020202020204" pitchFamily="34" charset="0"/>
                <a:cs typeface="Arial" panose="020B0604020202020204" pitchFamily="34" charset="0"/>
              </a:rPr>
              <a:t>t</a:t>
            </a:r>
            <a:r>
              <a:rPr lang="ja-JP" altLang="ja-JP" sz="2400">
                <a:latin typeface="Arial" panose="020B0604020202020204" pitchFamily="34" charset="0"/>
                <a:cs typeface="Arial" panose="020B0604020202020204" pitchFamily="34" charset="0"/>
              </a:rPr>
              <a:t>rade-offs</a:t>
            </a:r>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(Pareto optimal solutions)</a:t>
            </a:r>
            <a:endParaRPr lang="ja-JP" altLang="ja-JP" sz="2400">
              <a:latin typeface="Arial" panose="020B0604020202020204" pitchFamily="34" charset="0"/>
              <a:cs typeface="Arial" panose="020B0604020202020204" pitchFamily="34" charset="0"/>
            </a:endParaRPr>
          </a:p>
        </p:txBody>
      </p:sp>
      <p:sp>
        <p:nvSpPr>
          <p:cNvPr id="29" name="円/楕円 28">
            <a:extLst>
              <a:ext uri="{FF2B5EF4-FFF2-40B4-BE49-F238E27FC236}">
                <a16:creationId xmlns:a16="http://schemas.microsoft.com/office/drawing/2014/main" id="{9008A213-0B58-6ADF-76BF-C75C6582C2F2}"/>
              </a:ext>
            </a:extLst>
          </p:cNvPr>
          <p:cNvSpPr/>
          <p:nvPr/>
        </p:nvSpPr>
        <p:spPr>
          <a:xfrm>
            <a:off x="11459755" y="2220762"/>
            <a:ext cx="464458" cy="461665"/>
          </a:xfrm>
          <a:prstGeom prst="ellipse">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65FE332B-24F5-18B0-B1B0-737499E58DDA}"/>
              </a:ext>
            </a:extLst>
          </p:cNvPr>
          <p:cNvSpPr txBox="1"/>
          <p:nvPr/>
        </p:nvSpPr>
        <p:spPr>
          <a:xfrm>
            <a:off x="4653462" y="1237638"/>
            <a:ext cx="2675732" cy="523220"/>
          </a:xfrm>
          <a:prstGeom prst="rect">
            <a:avLst/>
          </a:prstGeom>
          <a:solidFill>
            <a:schemeClr val="bg1"/>
          </a:solidFill>
        </p:spPr>
        <p:txBody>
          <a:bodyPr wrap="none" rtlCol="0">
            <a:spAutoFit/>
          </a:bodyPr>
          <a:lstStyle/>
          <a:p>
            <a:r>
              <a:rPr kumimoji="1" lang="en-US" altLang="ja-JP" sz="2800" b="1" dirty="0"/>
              <a:t>Goal of MOGP</a:t>
            </a:r>
            <a:endParaRPr kumimoji="1" lang="ja-JP" altLang="en-US" sz="2800" b="1"/>
          </a:p>
        </p:txBody>
      </p:sp>
      <p:sp>
        <p:nvSpPr>
          <p:cNvPr id="32" name="テキスト ボックス 31">
            <a:extLst>
              <a:ext uri="{FF2B5EF4-FFF2-40B4-BE49-F238E27FC236}">
                <a16:creationId xmlns:a16="http://schemas.microsoft.com/office/drawing/2014/main" id="{ACDD610B-7ADE-0214-E692-0FC1EFF4744B}"/>
              </a:ext>
            </a:extLst>
          </p:cNvPr>
          <p:cNvSpPr txBox="1"/>
          <p:nvPr/>
        </p:nvSpPr>
        <p:spPr>
          <a:xfrm>
            <a:off x="7830148" y="3621315"/>
            <a:ext cx="3746538" cy="1381147"/>
          </a:xfrm>
          <a:prstGeom prst="rect">
            <a:avLst/>
          </a:prstGeom>
          <a:noFill/>
        </p:spPr>
        <p:txBody>
          <a:bodyPr wrap="none" rtlCol="0">
            <a:spAutoFit/>
          </a:bodyPr>
          <a:lstStyle/>
          <a:p>
            <a:pPr>
              <a:lnSpc>
                <a:spcPct val="120000"/>
              </a:lnSpc>
            </a:pPr>
            <a:r>
              <a:rPr lang="ja-JP" altLang="en-US" sz="2400">
                <a:latin typeface="Arial" panose="020B0604020202020204" pitchFamily="34" charset="0"/>
                <a:cs typeface="Arial" panose="020B0604020202020204" pitchFamily="34" charset="0"/>
              </a:rPr>
              <a:t>・</a:t>
            </a:r>
            <a:r>
              <a:rPr lang="en-US" altLang="ja-JP" sz="2400" dirty="0">
                <a:latin typeface="Arial" panose="020B0604020202020204" pitchFamily="34" charset="0"/>
                <a:cs typeface="Arial" panose="020B0604020202020204" pitchFamily="34" charset="0"/>
              </a:rPr>
              <a:t>P</a:t>
            </a:r>
            <a:r>
              <a:rPr kumimoji="1" lang="en-US" altLang="ja-JP" sz="2400" dirty="0">
                <a:latin typeface="Arial" panose="020B0604020202020204" pitchFamily="34" charset="0"/>
                <a:cs typeface="Arial" panose="020B0604020202020204" pitchFamily="34" charset="0"/>
              </a:rPr>
              <a:t>romoting convergence</a:t>
            </a:r>
          </a:p>
          <a:p>
            <a:pPr>
              <a:lnSpc>
                <a:spcPct val="120000"/>
              </a:lnSpc>
            </a:pPr>
            <a:r>
              <a:rPr kumimoji="1" lang="ja-JP" altLang="en-US" sz="2400">
                <a:latin typeface="Arial" panose="020B0604020202020204" pitchFamily="34" charset="0"/>
                <a:cs typeface="Arial" panose="020B0604020202020204" pitchFamily="34" charset="0"/>
              </a:rPr>
              <a:t>・</a:t>
            </a:r>
            <a:r>
              <a:rPr kumimoji="1" lang="en-US" altLang="ja-JP" sz="2400" dirty="0">
                <a:latin typeface="Arial" panose="020B0604020202020204" pitchFamily="34" charset="0"/>
                <a:cs typeface="Arial" panose="020B0604020202020204" pitchFamily="34" charset="0"/>
              </a:rPr>
              <a:t>Maintaining diversity</a:t>
            </a:r>
            <a:br>
              <a:rPr kumimoji="1" lang="en-US" altLang="ja-JP" sz="2400" dirty="0">
                <a:latin typeface="Arial" panose="020B0604020202020204" pitchFamily="34" charset="0"/>
                <a:cs typeface="Arial" panose="020B0604020202020204" pitchFamily="34" charset="0"/>
              </a:rPr>
            </a:br>
            <a:r>
              <a:rPr kumimoji="1" lang="ja-JP" altLang="en-US" sz="2400">
                <a:latin typeface="Arial" panose="020B0604020202020204" pitchFamily="34" charset="0"/>
                <a:cs typeface="Arial" panose="020B0604020202020204" pitchFamily="34" charset="0"/>
              </a:rPr>
              <a:t>・</a:t>
            </a:r>
            <a:r>
              <a:rPr kumimoji="1" lang="en-US" altLang="ja-JP" sz="2400" dirty="0">
                <a:latin typeface="Arial" panose="020B0604020202020204" pitchFamily="34" charset="0"/>
                <a:cs typeface="Arial" panose="020B0604020202020204" pitchFamily="34" charset="0"/>
              </a:rPr>
              <a:t>Improving pareto front</a:t>
            </a:r>
            <a:endParaRPr kumimoji="1" lang="ja-JP" altLang="en-US" sz="2400">
              <a:latin typeface="Arial" panose="020B0604020202020204" pitchFamily="34" charset="0"/>
              <a:cs typeface="Arial" panose="020B0604020202020204" pitchFamily="34" charset="0"/>
            </a:endParaRPr>
          </a:p>
        </p:txBody>
      </p:sp>
      <p:sp>
        <p:nvSpPr>
          <p:cNvPr id="34" name="左中かっこ 33">
            <a:extLst>
              <a:ext uri="{FF2B5EF4-FFF2-40B4-BE49-F238E27FC236}">
                <a16:creationId xmlns:a16="http://schemas.microsoft.com/office/drawing/2014/main" id="{7FE82447-02B0-500B-AD9D-6ADF9635E8A9}"/>
              </a:ext>
            </a:extLst>
          </p:cNvPr>
          <p:cNvSpPr/>
          <p:nvPr/>
        </p:nvSpPr>
        <p:spPr>
          <a:xfrm>
            <a:off x="7285554" y="3772099"/>
            <a:ext cx="544594" cy="116143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6D547793-32CB-1FEB-D657-DCD56CDC19A2}"/>
              </a:ext>
            </a:extLst>
          </p:cNvPr>
          <p:cNvSpPr txBox="1"/>
          <p:nvPr/>
        </p:nvSpPr>
        <p:spPr>
          <a:xfrm>
            <a:off x="5339509" y="4081055"/>
            <a:ext cx="1778051" cy="461665"/>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R</a:t>
            </a:r>
            <a:r>
              <a:rPr kumimoji="1" lang="en-US" altLang="ja-JP" sz="2400" dirty="0">
                <a:latin typeface="Arial" panose="020B0604020202020204" pitchFamily="34" charset="0"/>
                <a:cs typeface="Arial" panose="020B0604020202020204" pitchFamily="34" charset="0"/>
              </a:rPr>
              <a:t>equired to</a:t>
            </a:r>
            <a:endParaRPr kumimoji="1" lang="ja-JP" altLang="en-US" sz="2400">
              <a:latin typeface="Arial" panose="020B0604020202020204" pitchFamily="34" charset="0"/>
              <a:cs typeface="Arial" panose="020B0604020202020204" pitchFamily="34" charset="0"/>
            </a:endParaRPr>
          </a:p>
        </p:txBody>
      </p:sp>
      <p:sp>
        <p:nvSpPr>
          <p:cNvPr id="37" name="フローチャート: 代替処理 36">
            <a:extLst>
              <a:ext uri="{FF2B5EF4-FFF2-40B4-BE49-F238E27FC236}">
                <a16:creationId xmlns:a16="http://schemas.microsoft.com/office/drawing/2014/main" id="{AFDA8D35-11A4-E315-97C1-31FB5DE01539}"/>
              </a:ext>
            </a:extLst>
          </p:cNvPr>
          <p:cNvSpPr/>
          <p:nvPr/>
        </p:nvSpPr>
        <p:spPr>
          <a:xfrm>
            <a:off x="4702429" y="3439229"/>
            <a:ext cx="7401834" cy="1785914"/>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AED00B54-FA37-FA34-4D66-7FBD75EE9087}"/>
              </a:ext>
            </a:extLst>
          </p:cNvPr>
          <p:cNvSpPr txBox="1"/>
          <p:nvPr/>
        </p:nvSpPr>
        <p:spPr>
          <a:xfrm>
            <a:off x="129593" y="5614339"/>
            <a:ext cx="11932814" cy="954107"/>
          </a:xfrm>
          <a:prstGeom prst="rect">
            <a:avLst/>
          </a:prstGeom>
          <a:noFill/>
        </p:spPr>
        <p:txBody>
          <a:bodyPr wrap="square" rtlCol="0">
            <a:spAutoFit/>
          </a:bodyPr>
          <a:lstStyle/>
          <a:p>
            <a:r>
              <a:rPr lang="ja-JP" altLang="ja-JP" sz="2800">
                <a:latin typeface="Arial" panose="020B0604020202020204" pitchFamily="34" charset="0"/>
                <a:cs typeface="Arial" panose="020B0604020202020204" pitchFamily="34" charset="0"/>
              </a:rPr>
              <a:t>Dynamically adjusting crossover and mutation rates based on the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search state</a:t>
            </a:r>
            <a:r>
              <a:rPr lang="en-US" altLang="ja-JP" sz="2800" dirty="0">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can be effective for achieving both convergence and diversity</a:t>
            </a:r>
            <a:endParaRPr kumimoji="1" lang="ja-JP" altLang="en-US" sz="2800">
              <a:latin typeface="Arial" panose="020B0604020202020204" pitchFamily="34" charset="0"/>
              <a:cs typeface="Arial" panose="020B0604020202020204" pitchFamily="34" charset="0"/>
            </a:endParaRPr>
          </a:p>
        </p:txBody>
      </p:sp>
      <p:sp>
        <p:nvSpPr>
          <p:cNvPr id="40" name="スライド番号プレースホルダー 2">
            <a:extLst>
              <a:ext uri="{FF2B5EF4-FFF2-40B4-BE49-F238E27FC236}">
                <a16:creationId xmlns:a16="http://schemas.microsoft.com/office/drawing/2014/main" id="{0D9D19EE-C392-9085-1A7B-2C26A39E0763}"/>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26</a:t>
            </a:fld>
            <a:endParaRPr lang="ja-JP" altLang="en-US"/>
          </a:p>
        </p:txBody>
      </p:sp>
      <p:sp>
        <p:nvSpPr>
          <p:cNvPr id="41" name="Shape 23">
            <a:extLst>
              <a:ext uri="{FF2B5EF4-FFF2-40B4-BE49-F238E27FC236}">
                <a16:creationId xmlns:a16="http://schemas.microsoft.com/office/drawing/2014/main" id="{B5B2B04B-4BAD-F462-25E7-17776801A2C7}"/>
              </a:ext>
            </a:extLst>
          </p:cNvPr>
          <p:cNvSpPr/>
          <p:nvPr/>
        </p:nvSpPr>
        <p:spPr>
          <a:xfrm flipV="1">
            <a:off x="2443073" y="2823817"/>
            <a:ext cx="118872" cy="118872"/>
          </a:xfrm>
          <a:prstGeom prst="roundRect">
            <a:avLst/>
          </a:prstGeom>
          <a:solidFill>
            <a:schemeClr val="tx1"/>
          </a:solidFill>
          <a:ln>
            <a:noFill/>
          </a:ln>
        </p:spPr>
        <p:txBody>
          <a:bodyPr/>
          <a:lstStyle/>
          <a:p>
            <a:endParaRPr dirty="0"/>
          </a:p>
        </p:txBody>
      </p:sp>
      <p:sp>
        <p:nvSpPr>
          <p:cNvPr id="43" name="Shape 23">
            <a:extLst>
              <a:ext uri="{FF2B5EF4-FFF2-40B4-BE49-F238E27FC236}">
                <a16:creationId xmlns:a16="http://schemas.microsoft.com/office/drawing/2014/main" id="{FA051B3A-9C2C-1144-6EAD-3D11C8824266}"/>
              </a:ext>
            </a:extLst>
          </p:cNvPr>
          <p:cNvSpPr/>
          <p:nvPr/>
        </p:nvSpPr>
        <p:spPr>
          <a:xfrm flipV="1">
            <a:off x="2625953" y="3296257"/>
            <a:ext cx="118872" cy="118872"/>
          </a:xfrm>
          <a:prstGeom prst="roundRect">
            <a:avLst/>
          </a:prstGeom>
          <a:solidFill>
            <a:schemeClr val="tx1"/>
          </a:solidFill>
          <a:ln>
            <a:noFill/>
          </a:ln>
        </p:spPr>
        <p:txBody>
          <a:bodyPr/>
          <a:lstStyle/>
          <a:p>
            <a:endParaRPr dirty="0"/>
          </a:p>
        </p:txBody>
      </p:sp>
      <p:sp>
        <p:nvSpPr>
          <p:cNvPr id="44" name="Shape 23">
            <a:extLst>
              <a:ext uri="{FF2B5EF4-FFF2-40B4-BE49-F238E27FC236}">
                <a16:creationId xmlns:a16="http://schemas.microsoft.com/office/drawing/2014/main" id="{17E57205-7040-6995-27AA-863A60ABE077}"/>
              </a:ext>
            </a:extLst>
          </p:cNvPr>
          <p:cNvSpPr/>
          <p:nvPr/>
        </p:nvSpPr>
        <p:spPr>
          <a:xfrm flipV="1">
            <a:off x="3159353" y="2579977"/>
            <a:ext cx="118872" cy="118872"/>
          </a:xfrm>
          <a:prstGeom prst="roundRect">
            <a:avLst/>
          </a:prstGeom>
          <a:solidFill>
            <a:schemeClr val="tx1"/>
          </a:solidFill>
          <a:ln>
            <a:noFill/>
          </a:ln>
        </p:spPr>
        <p:txBody>
          <a:bodyPr/>
          <a:lstStyle/>
          <a:p>
            <a:endParaRPr dirty="0"/>
          </a:p>
        </p:txBody>
      </p:sp>
      <p:sp>
        <p:nvSpPr>
          <p:cNvPr id="45" name="Shape 23">
            <a:extLst>
              <a:ext uri="{FF2B5EF4-FFF2-40B4-BE49-F238E27FC236}">
                <a16:creationId xmlns:a16="http://schemas.microsoft.com/office/drawing/2014/main" id="{49D3CF9E-5535-36A8-6EF0-1396F58F6C57}"/>
              </a:ext>
            </a:extLst>
          </p:cNvPr>
          <p:cNvSpPr/>
          <p:nvPr/>
        </p:nvSpPr>
        <p:spPr>
          <a:xfrm flipV="1">
            <a:off x="3662273" y="3082897"/>
            <a:ext cx="118872" cy="118872"/>
          </a:xfrm>
          <a:prstGeom prst="roundRect">
            <a:avLst/>
          </a:prstGeom>
          <a:solidFill>
            <a:schemeClr val="tx1"/>
          </a:solidFill>
          <a:ln>
            <a:noFill/>
          </a:ln>
        </p:spPr>
        <p:txBody>
          <a:bodyPr/>
          <a:lstStyle/>
          <a:p>
            <a:endParaRPr dirty="0"/>
          </a:p>
        </p:txBody>
      </p:sp>
      <p:sp>
        <p:nvSpPr>
          <p:cNvPr id="46" name="Shape 23">
            <a:extLst>
              <a:ext uri="{FF2B5EF4-FFF2-40B4-BE49-F238E27FC236}">
                <a16:creationId xmlns:a16="http://schemas.microsoft.com/office/drawing/2014/main" id="{8DFD1BF5-57B9-0717-F5BD-041E0C1CE767}"/>
              </a:ext>
            </a:extLst>
          </p:cNvPr>
          <p:cNvSpPr/>
          <p:nvPr/>
        </p:nvSpPr>
        <p:spPr>
          <a:xfrm flipV="1">
            <a:off x="3814673" y="3753457"/>
            <a:ext cx="118872" cy="118872"/>
          </a:xfrm>
          <a:prstGeom prst="roundRect">
            <a:avLst/>
          </a:prstGeom>
          <a:solidFill>
            <a:schemeClr val="tx1"/>
          </a:solidFill>
          <a:ln>
            <a:noFill/>
          </a:ln>
        </p:spPr>
        <p:txBody>
          <a:bodyPr/>
          <a:lstStyle/>
          <a:p>
            <a:endParaRPr dirty="0"/>
          </a:p>
        </p:txBody>
      </p:sp>
      <p:sp>
        <p:nvSpPr>
          <p:cNvPr id="47" name="Shape 23">
            <a:extLst>
              <a:ext uri="{FF2B5EF4-FFF2-40B4-BE49-F238E27FC236}">
                <a16:creationId xmlns:a16="http://schemas.microsoft.com/office/drawing/2014/main" id="{B2099228-29EA-F72C-F4CB-2BCB19F5E3C8}"/>
              </a:ext>
            </a:extLst>
          </p:cNvPr>
          <p:cNvSpPr/>
          <p:nvPr/>
        </p:nvSpPr>
        <p:spPr>
          <a:xfrm flipV="1">
            <a:off x="3174593" y="3753457"/>
            <a:ext cx="118872" cy="118872"/>
          </a:xfrm>
          <a:prstGeom prst="roundRect">
            <a:avLst/>
          </a:prstGeom>
          <a:solidFill>
            <a:schemeClr val="tx1"/>
          </a:solidFill>
          <a:ln>
            <a:noFill/>
          </a:ln>
        </p:spPr>
        <p:txBody>
          <a:bodyPr/>
          <a:lstStyle/>
          <a:p>
            <a:endParaRPr dirty="0"/>
          </a:p>
        </p:txBody>
      </p:sp>
      <p:sp>
        <p:nvSpPr>
          <p:cNvPr id="48" name="Shape 23">
            <a:extLst>
              <a:ext uri="{FF2B5EF4-FFF2-40B4-BE49-F238E27FC236}">
                <a16:creationId xmlns:a16="http://schemas.microsoft.com/office/drawing/2014/main" id="{7B8D2A69-0C9D-DB2F-C2DA-723820AA6DEE}"/>
              </a:ext>
            </a:extLst>
          </p:cNvPr>
          <p:cNvSpPr/>
          <p:nvPr/>
        </p:nvSpPr>
        <p:spPr>
          <a:xfrm flipV="1">
            <a:off x="1985873" y="2397097"/>
            <a:ext cx="118872" cy="118872"/>
          </a:xfrm>
          <a:prstGeom prst="roundRect">
            <a:avLst/>
          </a:prstGeom>
          <a:solidFill>
            <a:schemeClr val="tx1"/>
          </a:solidFill>
          <a:ln>
            <a:noFill/>
          </a:ln>
        </p:spPr>
        <p:txBody>
          <a:bodyPr/>
          <a:lstStyle/>
          <a:p>
            <a:endParaRPr dirty="0"/>
          </a:p>
        </p:txBody>
      </p:sp>
      <p:sp>
        <p:nvSpPr>
          <p:cNvPr id="49" name="フリーフォーム 48">
            <a:extLst>
              <a:ext uri="{FF2B5EF4-FFF2-40B4-BE49-F238E27FC236}">
                <a16:creationId xmlns:a16="http://schemas.microsoft.com/office/drawing/2014/main" id="{8D0CF23F-0D39-6531-FF0E-0D1267A179AA}"/>
              </a:ext>
            </a:extLst>
          </p:cNvPr>
          <p:cNvSpPr/>
          <p:nvPr/>
        </p:nvSpPr>
        <p:spPr>
          <a:xfrm>
            <a:off x="1255317" y="1844040"/>
            <a:ext cx="3103323" cy="2702027"/>
          </a:xfrm>
          <a:custGeom>
            <a:avLst/>
            <a:gdLst>
              <a:gd name="csX0" fmla="*/ 9603 w 3103323"/>
              <a:gd name="csY0" fmla="*/ 0 h 2702027"/>
              <a:gd name="csX1" fmla="*/ 40083 w 3103323"/>
              <a:gd name="csY1" fmla="*/ 487680 h 2702027"/>
              <a:gd name="csX2" fmla="*/ 329643 w 3103323"/>
              <a:gd name="csY2" fmla="*/ 1264920 h 2702027"/>
              <a:gd name="csX3" fmla="*/ 741123 w 3103323"/>
              <a:gd name="csY3" fmla="*/ 2042160 h 2702027"/>
              <a:gd name="csX4" fmla="*/ 1594563 w 3103323"/>
              <a:gd name="csY4" fmla="*/ 2438400 h 2702027"/>
              <a:gd name="csX5" fmla="*/ 2783283 w 3103323"/>
              <a:gd name="csY5" fmla="*/ 2667000 h 2702027"/>
              <a:gd name="csX6" fmla="*/ 3103323 w 3103323"/>
              <a:gd name="csY6" fmla="*/ 2697480 h 270202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03323" h="2702027">
                <a:moveTo>
                  <a:pt x="9603" y="0"/>
                </a:moveTo>
                <a:cubicBezTo>
                  <a:pt x="-1827" y="138430"/>
                  <a:pt x="-13257" y="276860"/>
                  <a:pt x="40083" y="487680"/>
                </a:cubicBezTo>
                <a:cubicBezTo>
                  <a:pt x="93423" y="698500"/>
                  <a:pt x="212803" y="1005840"/>
                  <a:pt x="329643" y="1264920"/>
                </a:cubicBezTo>
                <a:cubicBezTo>
                  <a:pt x="446483" y="1524000"/>
                  <a:pt x="530303" y="1846580"/>
                  <a:pt x="741123" y="2042160"/>
                </a:cubicBezTo>
                <a:cubicBezTo>
                  <a:pt x="951943" y="2237740"/>
                  <a:pt x="1254203" y="2334260"/>
                  <a:pt x="1594563" y="2438400"/>
                </a:cubicBezTo>
                <a:cubicBezTo>
                  <a:pt x="1934923" y="2542540"/>
                  <a:pt x="2531823" y="2623820"/>
                  <a:pt x="2783283" y="2667000"/>
                </a:cubicBezTo>
                <a:cubicBezTo>
                  <a:pt x="3034743" y="2710180"/>
                  <a:pt x="3069033" y="2703830"/>
                  <a:pt x="3103323" y="2697480"/>
                </a:cubicBezTo>
              </a:path>
            </a:pathLst>
          </a:custGeom>
          <a:noFill/>
          <a:ln w="3810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8396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7B3B37-EA49-9789-3806-993DEB3679D9}"/>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 3 : Pareto Front</a:t>
            </a:r>
            <a:endParaRPr kumimoji="1" lang="ja-JP" altLang="en-US" b="1">
              <a:latin typeface="Arial" panose="020B0604020202020204" pitchFamily="34" charset="0"/>
              <a:cs typeface="Arial" panose="020B0604020202020204" pitchFamily="34" charset="0"/>
            </a:endParaRPr>
          </a:p>
        </p:txBody>
      </p:sp>
      <p:sp>
        <p:nvSpPr>
          <p:cNvPr id="5" name="スライド番号プレースホルダー 2">
            <a:extLst>
              <a:ext uri="{FF2B5EF4-FFF2-40B4-BE49-F238E27FC236}">
                <a16:creationId xmlns:a16="http://schemas.microsoft.com/office/drawing/2014/main" id="{2FCCF55B-9044-3736-2830-82540CECC709}"/>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27</a:t>
            </a:fld>
            <a:endParaRPr lang="ja-JP" altLang="en-US"/>
          </a:p>
        </p:txBody>
      </p:sp>
      <p:pic>
        <p:nvPicPr>
          <p:cNvPr id="6" name="図 5">
            <a:extLst>
              <a:ext uri="{FF2B5EF4-FFF2-40B4-BE49-F238E27FC236}">
                <a16:creationId xmlns:a16="http://schemas.microsoft.com/office/drawing/2014/main" id="{41CB397E-C212-C40B-6D99-FD209EF11A7C}"/>
              </a:ext>
            </a:extLst>
          </p:cNvPr>
          <p:cNvPicPr>
            <a:picLocks noChangeAspect="1"/>
          </p:cNvPicPr>
          <p:nvPr/>
        </p:nvPicPr>
        <p:blipFill>
          <a:blip r:embed="rId3"/>
          <a:stretch/>
        </p:blipFill>
        <p:spPr>
          <a:xfrm>
            <a:off x="2193381" y="1191986"/>
            <a:ext cx="7805238" cy="5666014"/>
          </a:xfrm>
          <a:prstGeom prst="rect">
            <a:avLst/>
          </a:prstGeom>
        </p:spPr>
      </p:pic>
    </p:spTree>
    <p:extLst>
      <p:ext uri="{BB962C8B-B14F-4D97-AF65-F5344CB8AC3E}">
        <p14:creationId xmlns:p14="http://schemas.microsoft.com/office/powerpoint/2010/main" val="2902718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 name="フローチャート: 代替処理 37">
            <a:extLst>
              <a:ext uri="{FF2B5EF4-FFF2-40B4-BE49-F238E27FC236}">
                <a16:creationId xmlns:a16="http://schemas.microsoft.com/office/drawing/2014/main" id="{A1C3896E-9101-E810-4361-B0E3B77F90F7}"/>
              </a:ext>
            </a:extLst>
          </p:cNvPr>
          <p:cNvSpPr/>
          <p:nvPr/>
        </p:nvSpPr>
        <p:spPr>
          <a:xfrm>
            <a:off x="1209496" y="5936698"/>
            <a:ext cx="9773008" cy="64442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フローチャート: 代替処理 27">
            <a:extLst>
              <a:ext uri="{FF2B5EF4-FFF2-40B4-BE49-F238E27FC236}">
                <a16:creationId xmlns:a16="http://schemas.microsoft.com/office/drawing/2014/main" id="{CAA19CED-21C7-958D-2E18-AEC98B937CEE}"/>
              </a:ext>
            </a:extLst>
          </p:cNvPr>
          <p:cNvSpPr/>
          <p:nvPr/>
        </p:nvSpPr>
        <p:spPr>
          <a:xfrm>
            <a:off x="1209496" y="2940908"/>
            <a:ext cx="4458939" cy="2681416"/>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1A20A44-BD43-B540-27DC-1431901F823B}"/>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Proposed method</a:t>
            </a:r>
            <a:endParaRPr kumimoji="1" lang="ja-JP" altLang="en-US" b="1">
              <a:latin typeface="Arial" panose="020B0604020202020204" pitchFamily="34" charset="0"/>
              <a:cs typeface="Arial" panose="020B0604020202020204" pitchFamily="34" charset="0"/>
            </a:endParaRPr>
          </a:p>
        </p:txBody>
      </p:sp>
      <p:grpSp>
        <p:nvGrpSpPr>
          <p:cNvPr id="25" name="グループ化 24">
            <a:extLst>
              <a:ext uri="{FF2B5EF4-FFF2-40B4-BE49-F238E27FC236}">
                <a16:creationId xmlns:a16="http://schemas.microsoft.com/office/drawing/2014/main" id="{31579AED-62F2-1D08-25A7-D3783A1127F4}"/>
              </a:ext>
            </a:extLst>
          </p:cNvPr>
          <p:cNvGrpSpPr/>
          <p:nvPr/>
        </p:nvGrpSpPr>
        <p:grpSpPr>
          <a:xfrm>
            <a:off x="1313749" y="1374951"/>
            <a:ext cx="9564501" cy="1192518"/>
            <a:chOff x="1207310" y="1572659"/>
            <a:chExt cx="9564501" cy="1192518"/>
          </a:xfrm>
        </p:grpSpPr>
        <p:sp>
          <p:nvSpPr>
            <p:cNvPr id="24" name="下矢印 23">
              <a:extLst>
                <a:ext uri="{FF2B5EF4-FFF2-40B4-BE49-F238E27FC236}">
                  <a16:creationId xmlns:a16="http://schemas.microsoft.com/office/drawing/2014/main" id="{18484EC4-6C32-64F9-4F56-D50247A1496A}"/>
                </a:ext>
              </a:extLst>
            </p:cNvPr>
            <p:cNvSpPr/>
            <p:nvPr/>
          </p:nvSpPr>
          <p:spPr>
            <a:xfrm flipV="1">
              <a:off x="9941087" y="2058958"/>
              <a:ext cx="241076" cy="7062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Rounded Rectangle 4">
              <a:extLst>
                <a:ext uri="{FF2B5EF4-FFF2-40B4-BE49-F238E27FC236}">
                  <a16:creationId xmlns:a16="http://schemas.microsoft.com/office/drawing/2014/main" id="{6738301E-3024-8813-DB2E-F9A1D1976E8A}"/>
                </a:ext>
              </a:extLst>
            </p:cNvPr>
            <p:cNvSpPr/>
            <p:nvPr/>
          </p:nvSpPr>
          <p:spPr>
            <a:xfrm>
              <a:off x="1207310" y="1572660"/>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C2EFC07-00A3-C66B-9E9E-617AC55B40DA}"/>
                    </a:ext>
                  </a:extLst>
                </p:cNvPr>
                <p:cNvSpPr txBox="1"/>
                <p:nvPr/>
              </p:nvSpPr>
              <p:spPr>
                <a:xfrm>
                  <a:off x="1383110" y="1572659"/>
                  <a:ext cx="1152881" cy="707886"/>
                </a:xfrm>
                <a:prstGeom prst="rect">
                  <a:avLst/>
                </a:prstGeom>
                <a:noFill/>
              </p:spPr>
              <p:txBody>
                <a:bodyPr wrap="none" rtlCol="0">
                  <a:spAutoFit/>
                </a:bodyPr>
                <a:lstStyle/>
                <a:p>
                  <a:pPr algn="ctr"/>
                  <a:r>
                    <a:rPr lang="en-US" altLang="ja-JP" sz="2000" dirty="0">
                      <a:latin typeface="Arial" panose="020B0604020202020204" pitchFamily="34" charset="0"/>
                      <a:cs typeface="Arial" panose="020B0604020202020204" pitchFamily="34" charset="0"/>
                    </a:rPr>
                    <a:t>O</a:t>
                  </a:r>
                  <a:r>
                    <a:rPr kumimoji="1" lang="en-US" altLang="ja-JP" sz="2000" dirty="0">
                      <a:latin typeface="Arial" panose="020B0604020202020204" pitchFamily="34" charset="0"/>
                      <a:cs typeface="Arial" panose="020B0604020202020204" pitchFamily="34" charset="0"/>
                    </a:rPr>
                    <a:t>bserve</a:t>
                  </a:r>
                  <a:br>
                    <a:rPr kumimoji="1" lang="en-US" altLang="ja-JP" sz="2000" dirty="0">
                      <a:latin typeface="Arial" panose="020B0604020202020204" pitchFamily="34" charset="0"/>
                      <a:cs typeface="Arial" panose="020B0604020202020204" pitchFamily="34" charset="0"/>
                    </a:rPr>
                  </a:br>
                  <a14:m>
                    <m:oMathPara xmlns:m="http://schemas.openxmlformats.org/officeDocument/2006/math">
                      <m:oMath>
                        <m:sSub>
                          <m:sSubPr>
                            <m:ctrlPr>
                              <a:rPr kumimoji="1" lang="en-US" altLang="ja-JP" sz="2000" b="0" i="1" smtClean="0">
                                <a:latin typeface="Cambria Math" panose="02040503050406030204" pitchFamily="18" charset="0"/>
                                <a:cs typeface="Arial" panose="020B0604020202020204" pitchFamily="34" charset="0"/>
                              </a:rPr>
                            </m:ctrlPr>
                          </m:sSubPr>
                          <m:e>
                            <m:r>
                              <a:rPr kumimoji="1" lang="en-US" altLang="ja-JP" sz="2000" b="0" i="1" smtClean="0">
                                <a:latin typeface="Cambria Math" panose="02040503050406030204" pitchFamily="18" charset="0"/>
                                <a:cs typeface="Arial" panose="020B0604020202020204" pitchFamily="34" charset="0"/>
                              </a:rPr>
                              <m:t>𝑥</m:t>
                            </m:r>
                          </m:e>
                          <m:sub>
                            <m:r>
                              <a:rPr kumimoji="1" lang="en-US" altLang="ja-JP" sz="2000" b="0" i="1" smtClean="0">
                                <a:latin typeface="Cambria Math" panose="02040503050406030204" pitchFamily="18" charset="0"/>
                                <a:cs typeface="Arial" panose="020B0604020202020204" pitchFamily="34" charset="0"/>
                              </a:rPr>
                              <m:t>𝑙</m:t>
                            </m:r>
                          </m:sub>
                        </m:sSub>
                      </m:oMath>
                    </m:oMathPara>
                  </a14:m>
                  <a:endParaRPr kumimoji="1" lang="ja-JP" altLang="en-US" sz="2000">
                    <a:latin typeface="Arial" panose="020B0604020202020204" pitchFamily="34" charset="0"/>
                    <a:cs typeface="Arial" panose="020B0604020202020204" pitchFamily="34" charset="0"/>
                  </a:endParaRPr>
                </a:p>
              </p:txBody>
            </p:sp>
          </mc:Choice>
          <mc:Fallback xmlns="">
            <p:sp>
              <p:nvSpPr>
                <p:cNvPr id="5" name="テキスト ボックス 4">
                  <a:extLst>
                    <a:ext uri="{FF2B5EF4-FFF2-40B4-BE49-F238E27FC236}">
                      <a16:creationId xmlns:a16="http://schemas.microsoft.com/office/drawing/2014/main" id="{EC2EFC07-00A3-C66B-9E9E-617AC55B40DA}"/>
                    </a:ext>
                  </a:extLst>
                </p:cNvPr>
                <p:cNvSpPr txBox="1">
                  <a:spLocks noRot="1" noChangeAspect="1" noMove="1" noResize="1" noEditPoints="1" noAdjustHandles="1" noChangeArrowheads="1" noChangeShapeType="1" noTextEdit="1"/>
                </p:cNvSpPr>
                <p:nvPr/>
              </p:nvSpPr>
              <p:spPr>
                <a:xfrm>
                  <a:off x="1383110" y="1572659"/>
                  <a:ext cx="1152881" cy="707886"/>
                </a:xfrm>
                <a:prstGeom prst="rect">
                  <a:avLst/>
                </a:prstGeom>
                <a:blipFill>
                  <a:blip r:embed="rId2"/>
                  <a:stretch>
                    <a:fillRect l="-5495" t="-5263" r="-5495"/>
                  </a:stretch>
                </a:blipFill>
              </p:spPr>
              <p:txBody>
                <a:bodyPr/>
                <a:lstStyle/>
                <a:p>
                  <a:r>
                    <a:rPr lang="ja-JP" altLang="en-US">
                      <a:noFill/>
                    </a:rPr>
                    <a:t> </a:t>
                  </a:r>
                </a:p>
              </p:txBody>
            </p:sp>
          </mc:Fallback>
        </mc:AlternateContent>
        <p:sp>
          <p:nvSpPr>
            <p:cNvPr id="6" name="Rounded Rectangle 4">
              <a:extLst>
                <a:ext uri="{FF2B5EF4-FFF2-40B4-BE49-F238E27FC236}">
                  <a16:creationId xmlns:a16="http://schemas.microsoft.com/office/drawing/2014/main" id="{F86E7DE6-E9F2-B604-6786-543DEFFAB1F6}"/>
                </a:ext>
              </a:extLst>
            </p:cNvPr>
            <p:cNvSpPr/>
            <p:nvPr/>
          </p:nvSpPr>
          <p:spPr>
            <a:xfrm>
              <a:off x="3222773" y="1572662"/>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7087046F-5232-95DD-B0D8-0BA910CE1525}"/>
                    </a:ext>
                  </a:extLst>
                </p:cNvPr>
                <p:cNvSpPr txBox="1"/>
                <p:nvPr/>
              </p:nvSpPr>
              <p:spPr>
                <a:xfrm>
                  <a:off x="3526013" y="1572661"/>
                  <a:ext cx="898003"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Select</a:t>
                  </a:r>
                </a:p>
                <a:p>
                  <a:pPr algn="ctr"/>
                  <a14:m>
                    <m:oMathPara xmlns:m="http://schemas.openxmlformats.org/officeDocument/2006/math">
                      <m:oMath>
                        <m:sSub>
                          <m:sSubPr>
                            <m:ctrlPr>
                              <a:rPr kumimoji="1" lang="en-US" altLang="ja-JP" sz="2000" b="0" i="1" smtClean="0">
                                <a:latin typeface="Cambria Math" panose="02040503050406030204" pitchFamily="18" charset="0"/>
                                <a:cs typeface="Arial" panose="020B0604020202020204" pitchFamily="34" charset="0"/>
                              </a:rPr>
                            </m:ctrlPr>
                          </m:sSubPr>
                          <m:e>
                            <m:r>
                              <a:rPr kumimoji="1" lang="en-US" altLang="ja-JP" sz="2000" b="0" i="1" smtClean="0">
                                <a:latin typeface="Cambria Math" panose="02040503050406030204" pitchFamily="18" charset="0"/>
                                <a:cs typeface="Arial" panose="020B0604020202020204" pitchFamily="34" charset="0"/>
                              </a:rPr>
                              <m:t>𝑢</m:t>
                            </m:r>
                          </m:e>
                          <m:sub>
                            <m:r>
                              <a:rPr kumimoji="1" lang="en-US" altLang="ja-JP" sz="2000" b="0" i="1" smtClean="0">
                                <a:latin typeface="Cambria Math" panose="02040503050406030204" pitchFamily="18" charset="0"/>
                                <a:cs typeface="Arial" panose="020B0604020202020204" pitchFamily="34" charset="0"/>
                              </a:rPr>
                              <m:t>𝑙</m:t>
                            </m:r>
                          </m:sub>
                        </m:sSub>
                      </m:oMath>
                    </m:oMathPara>
                  </a14:m>
                  <a:endParaRPr kumimoji="1" lang="ja-JP" altLang="en-US" sz="2000">
                    <a:latin typeface="Arial" panose="020B0604020202020204" pitchFamily="34" charset="0"/>
                    <a:cs typeface="Arial" panose="020B0604020202020204" pitchFamily="34" charset="0"/>
                  </a:endParaRPr>
                </a:p>
              </p:txBody>
            </p:sp>
          </mc:Choice>
          <mc:Fallback xmlns="">
            <p:sp>
              <p:nvSpPr>
                <p:cNvPr id="7" name="テキスト ボックス 6">
                  <a:extLst>
                    <a:ext uri="{FF2B5EF4-FFF2-40B4-BE49-F238E27FC236}">
                      <a16:creationId xmlns:a16="http://schemas.microsoft.com/office/drawing/2014/main" id="{7087046F-5232-95DD-B0D8-0BA910CE1525}"/>
                    </a:ext>
                  </a:extLst>
                </p:cNvPr>
                <p:cNvSpPr txBox="1">
                  <a:spLocks noRot="1" noChangeAspect="1" noMove="1" noResize="1" noEditPoints="1" noAdjustHandles="1" noChangeArrowheads="1" noChangeShapeType="1" noTextEdit="1"/>
                </p:cNvSpPr>
                <p:nvPr/>
              </p:nvSpPr>
              <p:spPr>
                <a:xfrm>
                  <a:off x="3526013" y="1572661"/>
                  <a:ext cx="898003" cy="707886"/>
                </a:xfrm>
                <a:prstGeom prst="rect">
                  <a:avLst/>
                </a:prstGeom>
                <a:blipFill>
                  <a:blip r:embed="rId3"/>
                  <a:stretch>
                    <a:fillRect l="-7042" t="-5263" r="-7042"/>
                  </a:stretch>
                </a:blipFill>
              </p:spPr>
              <p:txBody>
                <a:bodyPr/>
                <a:lstStyle/>
                <a:p>
                  <a:r>
                    <a:rPr lang="ja-JP" altLang="en-US">
                      <a:noFill/>
                    </a:rPr>
                    <a:t> </a:t>
                  </a:r>
                </a:p>
              </p:txBody>
            </p:sp>
          </mc:Fallback>
        </mc:AlternateContent>
        <p:sp>
          <p:nvSpPr>
            <p:cNvPr id="8" name="Rounded Rectangle 4">
              <a:extLst>
                <a:ext uri="{FF2B5EF4-FFF2-40B4-BE49-F238E27FC236}">
                  <a16:creationId xmlns:a16="http://schemas.microsoft.com/office/drawing/2014/main" id="{19072D8A-852F-067D-10F9-426EACB346C8}"/>
                </a:ext>
              </a:extLst>
            </p:cNvPr>
            <p:cNvSpPr/>
            <p:nvPr/>
          </p:nvSpPr>
          <p:spPr>
            <a:xfrm>
              <a:off x="5237625" y="1572662"/>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BE9468E-B157-54EB-379F-A7FC7FA1E2AD}"/>
                    </a:ext>
                  </a:extLst>
                </p:cNvPr>
                <p:cNvSpPr txBox="1"/>
                <p:nvPr/>
              </p:nvSpPr>
              <p:spPr>
                <a:xfrm>
                  <a:off x="5361585" y="1572661"/>
                  <a:ext cx="1256562"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Run GP</a:t>
                  </a:r>
                </a:p>
                <a:p>
                  <a:pPr algn="ctr"/>
                  <a:r>
                    <a:rPr kumimoji="1" lang="en-US" altLang="ja-JP" sz="2000" dirty="0">
                      <a:latin typeface="Arial" panose="020B0604020202020204" pitchFamily="34" charset="0"/>
                      <a:cs typeface="Arial" panose="020B0604020202020204" pitchFamily="34" charset="0"/>
                    </a:rPr>
                    <a:t>for </a:t>
                  </a:r>
                  <a14:m>
                    <m:oMath xmlns:m="http://schemas.openxmlformats.org/officeDocument/2006/math">
                      <m:r>
                        <a:rPr kumimoji="1" lang="en-US" altLang="ja-JP" sz="2000" b="0" i="1" smtClean="0">
                          <a:latin typeface="Cambria Math" panose="02040503050406030204" pitchFamily="18" charset="0"/>
                          <a:cs typeface="Arial" panose="020B0604020202020204" pitchFamily="34" charset="0"/>
                        </a:rPr>
                        <m:t>𝑘</m:t>
                      </m:r>
                    </m:oMath>
                  </a14:m>
                  <a:r>
                    <a:rPr kumimoji="1" lang="en-US" altLang="ja-JP" sz="2000" dirty="0">
                      <a:latin typeface="Arial" panose="020B0604020202020204" pitchFamily="34" charset="0"/>
                      <a:cs typeface="Arial" panose="020B0604020202020204" pitchFamily="34" charset="0"/>
                    </a:rPr>
                    <a:t> step</a:t>
                  </a:r>
                  <a:endParaRPr kumimoji="1" lang="ja-JP" altLang="en-US" sz="2000">
                    <a:latin typeface="Arial" panose="020B0604020202020204" pitchFamily="34" charset="0"/>
                    <a:cs typeface="Arial" panose="020B0604020202020204" pitchFamily="34" charset="0"/>
                  </a:endParaRPr>
                </a:p>
              </p:txBody>
            </p:sp>
          </mc:Choice>
          <mc:Fallback xmlns="">
            <p:sp>
              <p:nvSpPr>
                <p:cNvPr id="9" name="テキスト ボックス 8">
                  <a:extLst>
                    <a:ext uri="{FF2B5EF4-FFF2-40B4-BE49-F238E27FC236}">
                      <a16:creationId xmlns:a16="http://schemas.microsoft.com/office/drawing/2014/main" id="{DBE9468E-B157-54EB-379F-A7FC7FA1E2AD}"/>
                    </a:ext>
                  </a:extLst>
                </p:cNvPr>
                <p:cNvSpPr txBox="1">
                  <a:spLocks noRot="1" noChangeAspect="1" noMove="1" noResize="1" noEditPoints="1" noAdjustHandles="1" noChangeArrowheads="1" noChangeShapeType="1" noTextEdit="1"/>
                </p:cNvSpPr>
                <p:nvPr/>
              </p:nvSpPr>
              <p:spPr>
                <a:xfrm>
                  <a:off x="5361585" y="1572661"/>
                  <a:ext cx="1256562" cy="707886"/>
                </a:xfrm>
                <a:prstGeom prst="rect">
                  <a:avLst/>
                </a:prstGeom>
                <a:blipFill>
                  <a:blip r:embed="rId4"/>
                  <a:stretch>
                    <a:fillRect l="-5000" t="-5263" r="-5000" b="-14035"/>
                  </a:stretch>
                </a:blipFill>
              </p:spPr>
              <p:txBody>
                <a:bodyPr/>
                <a:lstStyle/>
                <a:p>
                  <a:r>
                    <a:rPr lang="ja-JP" altLang="en-US">
                      <a:noFill/>
                    </a:rPr>
                    <a:t> </a:t>
                  </a:r>
                </a:p>
              </p:txBody>
            </p:sp>
          </mc:Fallback>
        </mc:AlternateContent>
        <p:sp>
          <p:nvSpPr>
            <p:cNvPr id="12" name="Rounded Rectangle 4">
              <a:extLst>
                <a:ext uri="{FF2B5EF4-FFF2-40B4-BE49-F238E27FC236}">
                  <a16:creationId xmlns:a16="http://schemas.microsoft.com/office/drawing/2014/main" id="{B441C948-B622-26EA-9653-440228E81131}"/>
                </a:ext>
              </a:extLst>
            </p:cNvPr>
            <p:cNvSpPr/>
            <p:nvPr/>
          </p:nvSpPr>
          <p:spPr>
            <a:xfrm>
              <a:off x="7252477" y="1572661"/>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D17A9C4A-8ACF-7719-1C54-65C647E09DEB}"/>
                    </a:ext>
                  </a:extLst>
                </p:cNvPr>
                <p:cNvSpPr txBox="1"/>
                <p:nvPr/>
              </p:nvSpPr>
              <p:spPr>
                <a:xfrm>
                  <a:off x="7413050" y="1572660"/>
                  <a:ext cx="1183337"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Evaluate</a:t>
                  </a:r>
                </a:p>
                <a:p>
                  <a:pPr algn="ctr"/>
                  <a14:m>
                    <m:oMathPara xmlns:m="http://schemas.openxmlformats.org/officeDocument/2006/math">
                      <m:oMath>
                        <m:sSub>
                          <m:sSubPr>
                            <m:ctrlPr>
                              <a:rPr kumimoji="1" lang="en-US" altLang="ja-JP" sz="2000" b="0" i="1" smtClean="0">
                                <a:latin typeface="Cambria Math" panose="02040503050406030204" pitchFamily="18" charset="0"/>
                                <a:cs typeface="Arial" panose="020B0604020202020204" pitchFamily="34" charset="0"/>
                              </a:rPr>
                            </m:ctrlPr>
                          </m:sSubPr>
                          <m:e>
                            <m:r>
                              <a:rPr kumimoji="1" lang="en-US" altLang="ja-JP" sz="2000" b="0" i="1" smtClean="0">
                                <a:latin typeface="Cambria Math" panose="02040503050406030204" pitchFamily="18" charset="0"/>
                                <a:cs typeface="Arial" panose="020B0604020202020204" pitchFamily="34" charset="0"/>
                              </a:rPr>
                              <m:t>𝑟</m:t>
                            </m:r>
                          </m:e>
                          <m:sub>
                            <m:r>
                              <a:rPr kumimoji="1" lang="en-US" altLang="ja-JP" sz="2000" b="0" i="1" smtClean="0">
                                <a:latin typeface="Cambria Math" panose="02040503050406030204" pitchFamily="18" charset="0"/>
                                <a:cs typeface="Arial" panose="020B0604020202020204" pitchFamily="34" charset="0"/>
                              </a:rPr>
                              <m:t>𝑙</m:t>
                            </m:r>
                          </m:sub>
                        </m:sSub>
                      </m:oMath>
                    </m:oMathPara>
                  </a14:m>
                  <a:endParaRPr kumimoji="1" lang="ja-JP" altLang="en-US" sz="2000">
                    <a:latin typeface="Arial" panose="020B0604020202020204" pitchFamily="34" charset="0"/>
                    <a:cs typeface="Arial" panose="020B0604020202020204" pitchFamily="34" charset="0"/>
                  </a:endParaRPr>
                </a:p>
              </p:txBody>
            </p:sp>
          </mc:Choice>
          <mc:Fallback xmlns="">
            <p:sp>
              <p:nvSpPr>
                <p:cNvPr id="13" name="テキスト ボックス 12">
                  <a:extLst>
                    <a:ext uri="{FF2B5EF4-FFF2-40B4-BE49-F238E27FC236}">
                      <a16:creationId xmlns:a16="http://schemas.microsoft.com/office/drawing/2014/main" id="{D17A9C4A-8ACF-7719-1C54-65C647E09DEB}"/>
                    </a:ext>
                  </a:extLst>
                </p:cNvPr>
                <p:cNvSpPr txBox="1">
                  <a:spLocks noRot="1" noChangeAspect="1" noMove="1" noResize="1" noEditPoints="1" noAdjustHandles="1" noChangeArrowheads="1" noChangeShapeType="1" noTextEdit="1"/>
                </p:cNvSpPr>
                <p:nvPr/>
              </p:nvSpPr>
              <p:spPr>
                <a:xfrm>
                  <a:off x="7413050" y="1572660"/>
                  <a:ext cx="1183337" cy="707886"/>
                </a:xfrm>
                <a:prstGeom prst="rect">
                  <a:avLst/>
                </a:prstGeom>
                <a:blipFill>
                  <a:blip r:embed="rId5"/>
                  <a:stretch>
                    <a:fillRect l="-5319" t="-5263" r="-4255"/>
                  </a:stretch>
                </a:blipFill>
              </p:spPr>
              <p:txBody>
                <a:bodyPr/>
                <a:lstStyle/>
                <a:p>
                  <a:r>
                    <a:rPr lang="ja-JP" altLang="en-US">
                      <a:noFill/>
                    </a:rPr>
                    <a:t> </a:t>
                  </a:r>
                </a:p>
              </p:txBody>
            </p:sp>
          </mc:Fallback>
        </mc:AlternateContent>
        <p:sp>
          <p:nvSpPr>
            <p:cNvPr id="14" name="Rounded Rectangle 4">
              <a:extLst>
                <a:ext uri="{FF2B5EF4-FFF2-40B4-BE49-F238E27FC236}">
                  <a16:creationId xmlns:a16="http://schemas.microsoft.com/office/drawing/2014/main" id="{96A2B5C5-725A-C59C-0EBD-C22885C72FED}"/>
                </a:ext>
              </a:extLst>
            </p:cNvPr>
            <p:cNvSpPr/>
            <p:nvPr/>
          </p:nvSpPr>
          <p:spPr>
            <a:xfrm>
              <a:off x="9267329" y="1572660"/>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15" name="テキスト ボックス 14">
              <a:extLst>
                <a:ext uri="{FF2B5EF4-FFF2-40B4-BE49-F238E27FC236}">
                  <a16:creationId xmlns:a16="http://schemas.microsoft.com/office/drawing/2014/main" id="{88D6EB09-B135-02C4-EC96-B6D7BE4395B8}"/>
                </a:ext>
              </a:extLst>
            </p:cNvPr>
            <p:cNvSpPr txBox="1"/>
            <p:nvPr/>
          </p:nvSpPr>
          <p:spPr>
            <a:xfrm>
              <a:off x="9457558" y="1572659"/>
              <a:ext cx="1124026"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Update</a:t>
              </a:r>
            </a:p>
            <a:p>
              <a:pPr algn="ctr"/>
              <a:r>
                <a:rPr kumimoji="1" lang="en-US" altLang="ja-JP" sz="2000" dirty="0">
                  <a:latin typeface="Arial" panose="020B0604020202020204" pitchFamily="34" charset="0"/>
                  <a:cs typeface="Arial" panose="020B0604020202020204" pitchFamily="34" charset="0"/>
                </a:rPr>
                <a:t>BO data</a:t>
              </a:r>
              <a:endParaRPr kumimoji="1" lang="ja-JP" altLang="en-US" sz="2000">
                <a:latin typeface="Arial" panose="020B0604020202020204" pitchFamily="34" charset="0"/>
                <a:cs typeface="Arial" panose="020B0604020202020204" pitchFamily="34" charset="0"/>
              </a:endParaRPr>
            </a:p>
          </p:txBody>
        </p:sp>
        <p:sp>
          <p:nvSpPr>
            <p:cNvPr id="19" name="右矢印 18">
              <a:extLst>
                <a:ext uri="{FF2B5EF4-FFF2-40B4-BE49-F238E27FC236}">
                  <a16:creationId xmlns:a16="http://schemas.microsoft.com/office/drawing/2014/main" id="{6A0F1366-CD6B-84BC-BFAC-2FD048B74AED}"/>
                </a:ext>
              </a:extLst>
            </p:cNvPr>
            <p:cNvSpPr/>
            <p:nvPr/>
          </p:nvSpPr>
          <p:spPr>
            <a:xfrm>
              <a:off x="2815339"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右矢印 19">
              <a:extLst>
                <a:ext uri="{FF2B5EF4-FFF2-40B4-BE49-F238E27FC236}">
                  <a16:creationId xmlns:a16="http://schemas.microsoft.com/office/drawing/2014/main" id="{B7BF0629-4DF9-A05A-7E7F-9AC4E23B2CD7}"/>
                </a:ext>
              </a:extLst>
            </p:cNvPr>
            <p:cNvSpPr/>
            <p:nvPr/>
          </p:nvSpPr>
          <p:spPr>
            <a:xfrm>
              <a:off x="4829491"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右矢印 20">
              <a:extLst>
                <a:ext uri="{FF2B5EF4-FFF2-40B4-BE49-F238E27FC236}">
                  <a16:creationId xmlns:a16="http://schemas.microsoft.com/office/drawing/2014/main" id="{8C2B4B09-5254-7B20-DF7D-8DD887832650}"/>
                </a:ext>
              </a:extLst>
            </p:cNvPr>
            <p:cNvSpPr/>
            <p:nvPr/>
          </p:nvSpPr>
          <p:spPr>
            <a:xfrm>
              <a:off x="6843642"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右矢印 21">
              <a:extLst>
                <a:ext uri="{FF2B5EF4-FFF2-40B4-BE49-F238E27FC236}">
                  <a16:creationId xmlns:a16="http://schemas.microsoft.com/office/drawing/2014/main" id="{B59612E9-2A5A-0ECF-C73C-79F5C35CA005}"/>
                </a:ext>
              </a:extLst>
            </p:cNvPr>
            <p:cNvSpPr/>
            <p:nvPr/>
          </p:nvSpPr>
          <p:spPr>
            <a:xfrm>
              <a:off x="8857794"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屈折矢印 22">
              <a:extLst>
                <a:ext uri="{FF2B5EF4-FFF2-40B4-BE49-F238E27FC236}">
                  <a16:creationId xmlns:a16="http://schemas.microsoft.com/office/drawing/2014/main" id="{3708A67C-B8A5-113D-B6C3-2A211CADEEC1}"/>
                </a:ext>
              </a:extLst>
            </p:cNvPr>
            <p:cNvSpPr/>
            <p:nvPr/>
          </p:nvSpPr>
          <p:spPr>
            <a:xfrm flipH="1">
              <a:off x="1707812" y="2280545"/>
              <a:ext cx="8412371" cy="484632"/>
            </a:xfrm>
            <a:prstGeom prst="bentUpArrow">
              <a:avLst>
                <a:gd name="adj1" fmla="val 32649"/>
                <a:gd name="adj2" fmla="val 50000"/>
                <a:gd name="adj3" fmla="val 3080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AAA14DF4-050E-F6C7-3B20-BF80F82A3ED4}"/>
                  </a:ext>
                </a:extLst>
              </p:cNvPr>
              <p:cNvSpPr txBox="1"/>
              <p:nvPr/>
            </p:nvSpPr>
            <p:spPr>
              <a:xfrm>
                <a:off x="1421017" y="3044519"/>
                <a:ext cx="1300292" cy="461665"/>
              </a:xfrm>
              <a:prstGeom prst="rect">
                <a:avLst/>
              </a:prstGeom>
              <a:noFill/>
            </p:spPr>
            <p:txBody>
              <a:bodyPr wrap="none" rtlCol="0">
                <a:spAutoFit/>
              </a:bodyPr>
              <a:lstStyle/>
              <a:p>
                <a:r>
                  <a:rPr kumimoji="1" lang="en-US" altLang="ja-JP" sz="2400" b="1" dirty="0">
                    <a:latin typeface="Arial" panose="020B0604020202020204" pitchFamily="34" charset="0"/>
                    <a:cs typeface="Arial" panose="020B0604020202020204" pitchFamily="34" charset="0"/>
                  </a:rPr>
                  <a:t>State</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𝒍</m:t>
                        </m:r>
                      </m:sub>
                    </m:sSub>
                  </m:oMath>
                </a14:m>
                <a:endParaRPr kumimoji="1" lang="ja-JP" altLang="en-US" sz="2400" b="1"/>
              </a:p>
            </p:txBody>
          </p:sp>
        </mc:Choice>
        <mc:Fallback xmlns="">
          <p:sp>
            <p:nvSpPr>
              <p:cNvPr id="26" name="テキスト ボックス 25">
                <a:extLst>
                  <a:ext uri="{FF2B5EF4-FFF2-40B4-BE49-F238E27FC236}">
                    <a16:creationId xmlns:a16="http://schemas.microsoft.com/office/drawing/2014/main" id="{AAA14DF4-050E-F6C7-3B20-BF80F82A3ED4}"/>
                  </a:ext>
                </a:extLst>
              </p:cNvPr>
              <p:cNvSpPr txBox="1">
                <a:spLocks noRot="1" noChangeAspect="1" noMove="1" noResize="1" noEditPoints="1" noAdjustHandles="1" noChangeArrowheads="1" noChangeShapeType="1" noTextEdit="1"/>
              </p:cNvSpPr>
              <p:nvPr/>
            </p:nvSpPr>
            <p:spPr>
              <a:xfrm>
                <a:off x="1421017" y="3044519"/>
                <a:ext cx="1300292" cy="461665"/>
              </a:xfrm>
              <a:prstGeom prst="rect">
                <a:avLst/>
              </a:prstGeom>
              <a:blipFill>
                <a:blip r:embed="rId6"/>
                <a:stretch>
                  <a:fillRect l="-6731" t="-13514" b="-270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Text 20">
                <a:extLst>
                  <a:ext uri="{FF2B5EF4-FFF2-40B4-BE49-F238E27FC236}">
                    <a16:creationId xmlns:a16="http://schemas.microsoft.com/office/drawing/2014/main" id="{05952612-B09C-709D-6B44-0686B7345CB0}"/>
                  </a:ext>
                </a:extLst>
              </p:cNvPr>
              <p:cNvSpPr txBox="1"/>
              <p:nvPr/>
            </p:nvSpPr>
            <p:spPr>
              <a:xfrm>
                <a:off x="1751873" y="3506184"/>
                <a:ext cx="4219817" cy="1865238"/>
              </a:xfrm>
              <a:prstGeom prst="rect">
                <a:avLst/>
              </a:prstGeom>
              <a:noFill/>
              <a:ln>
                <a:noFill/>
              </a:ln>
            </p:spPr>
            <p:txBody>
              <a:bodyPr wrap="square" lIns="45720" tIns="45720" rIns="45720" bIns="45720" anchor="t"/>
              <a:lstStyle/>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𝜏</m:t>
                    </m:r>
                    <m:r>
                      <a:rPr lang="en-US" altLang="ja-JP" sz="2000" b="0" i="1" smtClean="0">
                        <a:solidFill>
                          <a:srgbClr val="252A2D"/>
                        </a:solidFill>
                        <a:latin typeface="Cambria Math" panose="02040503050406030204" pitchFamily="18" charset="0"/>
                        <a:ea typeface="Yu Gothic"/>
                        <a:cs typeface="Yu Gothic"/>
                      </a:rPr>
                      <m:t> </m:t>
                    </m:r>
                  </m:oMath>
                </a14:m>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Generation </a:t>
                </a:r>
                <a:r>
                  <a:rPr lang="en-US" altLang="ja-JP" sz="2000" dirty="0">
                    <a:latin typeface="Arial" panose="020B0604020202020204" pitchFamily="34" charset="0"/>
                    <a:cs typeface="Arial" panose="020B0604020202020204" pitchFamily="34" charset="0"/>
                  </a:rPr>
                  <a:t>p</a:t>
                </a:r>
                <a:r>
                  <a:rPr lang="ja-JP" altLang="ja-JP" sz="2000">
                    <a:latin typeface="Arial" panose="020B0604020202020204" pitchFamily="34" charset="0"/>
                    <a:cs typeface="Arial" panose="020B0604020202020204" pitchFamily="34" charset="0"/>
                  </a:rPr>
                  <a:t>rogress </a:t>
                </a:r>
                <a:r>
                  <a:rPr lang="en-US" altLang="ja-JP" sz="2000" dirty="0">
                    <a:latin typeface="Arial" panose="020B0604020202020204" pitchFamily="34" charset="0"/>
                    <a:cs typeface="Arial" panose="020B0604020202020204" pitchFamily="34" charset="0"/>
                  </a:rPr>
                  <a:t>r</a:t>
                </a:r>
                <a:r>
                  <a:rPr lang="ja-JP" altLang="ja-JP" sz="2000">
                    <a:latin typeface="Arial" panose="020B0604020202020204" pitchFamily="34" charset="0"/>
                    <a:cs typeface="Arial" panose="020B0604020202020204" pitchFamily="34" charset="0"/>
                  </a:rPr>
                  <a:t>atio</a:t>
                </a:r>
              </a:p>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𝐻𝑉</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Current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olution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et </a:t>
                </a:r>
                <a:r>
                  <a:rPr lang="en-US" altLang="ja-JP" sz="2000" dirty="0">
                    <a:latin typeface="Arial" panose="020B0604020202020204" pitchFamily="34" charset="0"/>
                    <a:cs typeface="Arial" panose="020B0604020202020204" pitchFamily="34" charset="0"/>
                  </a:rPr>
                  <a:t>q</a:t>
                </a:r>
                <a:r>
                  <a:rPr lang="ja-JP" altLang="ja-JP" sz="2000">
                    <a:latin typeface="Arial" panose="020B0604020202020204" pitchFamily="34" charset="0"/>
                    <a:cs typeface="Arial" panose="020B0604020202020204" pitchFamily="34" charset="0"/>
                  </a:rPr>
                  <a:t>uality</a:t>
                </a:r>
              </a:p>
              <a:p>
                <a14:m>
                  <m:oMath xmlns:m="http://schemas.openxmlformats.org/officeDocument/2006/math">
                    <m:r>
                      <m:rPr>
                        <m:sty m:val="p"/>
                      </m:rPr>
                      <a:rPr lang="ja-JP" sz="2000" i="0" smtClean="0">
                        <a:solidFill>
                          <a:srgbClr val="252A2D"/>
                        </a:solidFill>
                        <a:latin typeface="Cambria Math" panose="02040503050406030204" pitchFamily="18" charset="0"/>
                        <a:ea typeface="Yu Gothic"/>
                        <a:cs typeface="Yu Gothic"/>
                      </a:rPr>
                      <m:t>Δ</m:t>
                    </m:r>
                    <m:r>
                      <a:rPr lang="ja-JP" altLang="en-US" sz="2000" i="1">
                        <a:solidFill>
                          <a:srgbClr val="252A2D"/>
                        </a:solidFill>
                        <a:latin typeface="Cambria Math" panose="02040503050406030204" pitchFamily="18" charset="0"/>
                        <a:ea typeface="Yu Gothic"/>
                        <a:cs typeface="Yu Gothic"/>
                      </a:rPr>
                      <m:t>𝐻𝑉</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Recent</a:t>
                </a:r>
                <a:r>
                  <a:rPr lang="en-US" altLang="ja-JP" sz="2000" dirty="0">
                    <a:latin typeface="Arial" panose="020B0604020202020204" pitchFamily="34" charset="0"/>
                    <a:cs typeface="Arial" panose="020B0604020202020204" pitchFamily="34" charset="0"/>
                  </a:rPr>
                  <a:t> improvement</a:t>
                </a:r>
              </a:p>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𝐷</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en-US" altLang="ja-JP" sz="2000" dirty="0">
                    <a:solidFill>
                      <a:srgbClr val="252A2D"/>
                    </a:solidFill>
                    <a:latin typeface="Arial" panose="020B0604020202020204" pitchFamily="34" charset="0"/>
                    <a:ea typeface="Yu Gothic"/>
                    <a:cs typeface="Arial" panose="020B0604020202020204" pitchFamily="34" charset="0"/>
                  </a:rPr>
                  <a:t>Diversity</a:t>
                </a:r>
                <a:endParaRPr lang="ja-JP" sz="2000">
                  <a:solidFill>
                    <a:srgbClr val="252A2D"/>
                  </a:solidFill>
                  <a:latin typeface="Arial" panose="020B0604020202020204" pitchFamily="34" charset="0"/>
                  <a:ea typeface="Yu Gothic"/>
                  <a:cs typeface="Arial" panose="020B0604020202020204" pitchFamily="34" charset="0"/>
                </a:endParaRPr>
              </a:p>
              <a:p>
                <a14:m>
                  <m:oMath xmlns:m="http://schemas.openxmlformats.org/officeDocument/2006/math">
                    <m:acc>
                      <m:accPr>
                        <m:chr m:val="̅"/>
                        <m:ctrlPr>
                          <a:rPr lang="en-US" altLang="ja-JP" sz="2000" b="0" i="1" smtClean="0">
                            <a:solidFill>
                              <a:srgbClr val="252A2D"/>
                            </a:solidFill>
                            <a:latin typeface="Cambria Math" panose="02040503050406030204" pitchFamily="18" charset="0"/>
                            <a:ea typeface="Yu Gothic"/>
                          </a:rPr>
                        </m:ctrlPr>
                      </m:accPr>
                      <m:e>
                        <m:r>
                          <a:rPr lang="en-US" altLang="ja-JP" sz="2000" b="0" i="1" smtClean="0">
                            <a:solidFill>
                              <a:srgbClr val="252A2D"/>
                            </a:solidFill>
                            <a:latin typeface="Cambria Math" panose="02040503050406030204" pitchFamily="18" charset="0"/>
                            <a:ea typeface="Yu Gothic"/>
                          </a:rPr>
                          <m:t>𝐿</m:t>
                        </m:r>
                      </m:e>
                    </m:acc>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en-US" altLang="ja-JP" sz="2000" dirty="0">
                    <a:latin typeface="Arial" panose="020B0604020202020204" pitchFamily="34" charset="0"/>
                    <a:cs typeface="Arial" panose="020B0604020202020204" pitchFamily="34" charset="0"/>
                  </a:rPr>
                  <a:t>A</a:t>
                </a:r>
                <a:r>
                  <a:rPr lang="ja-JP" altLang="ja-JP" sz="2000">
                    <a:latin typeface="Arial" panose="020B0604020202020204" pitchFamily="34" charset="0"/>
                    <a:cs typeface="Arial" panose="020B0604020202020204" pitchFamily="34" charset="0"/>
                  </a:rPr>
                  <a:t>verage </a:t>
                </a:r>
                <a:r>
                  <a:rPr lang="en-US" altLang="ja-JP" sz="2000" dirty="0">
                    <a:latin typeface="Arial" panose="020B0604020202020204" pitchFamily="34" charset="0"/>
                    <a:cs typeface="Arial" panose="020B0604020202020204" pitchFamily="34" charset="0"/>
                  </a:rPr>
                  <a:t>t</a:t>
                </a:r>
                <a:r>
                  <a:rPr lang="ja-JP" altLang="ja-JP" sz="2000">
                    <a:latin typeface="Arial" panose="020B0604020202020204" pitchFamily="34" charset="0"/>
                    <a:cs typeface="Arial" panose="020B0604020202020204" pitchFamily="34" charset="0"/>
                  </a:rPr>
                  <a:t>ree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ize</a:t>
                </a:r>
              </a:p>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𝑠</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Stagnation </a:t>
                </a:r>
                <a:r>
                  <a:rPr lang="en-US" altLang="ja-JP" sz="2000" dirty="0">
                    <a:latin typeface="Arial" panose="020B0604020202020204" pitchFamily="34" charset="0"/>
                    <a:cs typeface="Arial" panose="020B0604020202020204" pitchFamily="34" charset="0"/>
                  </a:rPr>
                  <a:t>l</a:t>
                </a:r>
                <a:r>
                  <a:rPr lang="ja-JP" altLang="ja-JP" sz="2000">
                    <a:latin typeface="Arial" panose="020B0604020202020204" pitchFamily="34" charset="0"/>
                    <a:cs typeface="Arial" panose="020B0604020202020204" pitchFamily="34" charset="0"/>
                  </a:rPr>
                  <a:t>ength</a:t>
                </a:r>
              </a:p>
              <a:p>
                <a:pPr algn="l"/>
                <a:endParaRPr lang="ja-JP" sz="2000">
                  <a:solidFill>
                    <a:srgbClr val="252A2D"/>
                  </a:solidFill>
                  <a:latin typeface="Yu Gothic"/>
                  <a:ea typeface="Yu Gothic"/>
                  <a:cs typeface="Yu Gothic"/>
                </a:endParaRPr>
              </a:p>
            </p:txBody>
          </p:sp>
        </mc:Choice>
        <mc:Fallback xmlns="">
          <p:sp>
            <p:nvSpPr>
              <p:cNvPr id="27" name="Text 20">
                <a:extLst>
                  <a:ext uri="{FF2B5EF4-FFF2-40B4-BE49-F238E27FC236}">
                    <a16:creationId xmlns:a16="http://schemas.microsoft.com/office/drawing/2014/main" id="{05952612-B09C-709D-6B44-0686B7345CB0}"/>
                  </a:ext>
                </a:extLst>
              </p:cNvPr>
              <p:cNvSpPr txBox="1">
                <a:spLocks noRot="1" noChangeAspect="1" noMove="1" noResize="1" noEditPoints="1" noAdjustHandles="1" noChangeArrowheads="1" noChangeShapeType="1" noTextEdit="1"/>
              </p:cNvSpPr>
              <p:nvPr/>
            </p:nvSpPr>
            <p:spPr>
              <a:xfrm>
                <a:off x="1751873" y="3506184"/>
                <a:ext cx="4219817" cy="1865238"/>
              </a:xfrm>
              <a:prstGeom prst="rect">
                <a:avLst/>
              </a:prstGeom>
              <a:blipFill>
                <a:blip r:embed="rId7"/>
                <a:stretch>
                  <a:fillRect l="-898" t="-2041" b="-9524"/>
                </a:stretch>
              </a:blipFill>
              <a:ln>
                <a:noFill/>
              </a:ln>
            </p:spPr>
            <p:txBody>
              <a:bodyPr/>
              <a:lstStyle/>
              <a:p>
                <a:r>
                  <a:rPr lang="ja-JP" altLang="en-US">
                    <a:noFill/>
                  </a:rPr>
                  <a:t> </a:t>
                </a:r>
              </a:p>
            </p:txBody>
          </p:sp>
        </mc:Fallback>
      </mc:AlternateContent>
      <p:sp>
        <p:nvSpPr>
          <p:cNvPr id="29" name="フローチャート: 代替処理 28">
            <a:extLst>
              <a:ext uri="{FF2B5EF4-FFF2-40B4-BE49-F238E27FC236}">
                <a16:creationId xmlns:a16="http://schemas.microsoft.com/office/drawing/2014/main" id="{16C1A9E3-1981-7749-56A2-ADFFA15248B1}"/>
              </a:ext>
            </a:extLst>
          </p:cNvPr>
          <p:cNvSpPr/>
          <p:nvPr/>
        </p:nvSpPr>
        <p:spPr>
          <a:xfrm>
            <a:off x="6523565" y="2940908"/>
            <a:ext cx="4458939" cy="2681416"/>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BC7561D6-3B18-F11E-B88B-CAC0876B2775}"/>
                  </a:ext>
                </a:extLst>
              </p:cNvPr>
              <p:cNvSpPr txBox="1"/>
              <p:nvPr/>
            </p:nvSpPr>
            <p:spPr>
              <a:xfrm>
                <a:off x="6735086" y="3044519"/>
                <a:ext cx="1524713" cy="461665"/>
              </a:xfrm>
              <a:prstGeom prst="rect">
                <a:avLst/>
              </a:prstGeom>
              <a:noFill/>
            </p:spPr>
            <p:txBody>
              <a:bodyPr wrap="none" rtlCol="0">
                <a:spAutoFit/>
              </a:bodyPr>
              <a:lstStyle/>
              <a:p>
                <a:r>
                  <a:rPr lang="en-US" altLang="ja-JP" sz="2400" b="1" dirty="0">
                    <a:latin typeface="Arial" panose="020B0604020202020204" pitchFamily="34" charset="0"/>
                    <a:cs typeface="Arial" panose="020B0604020202020204" pitchFamily="34" charset="0"/>
                  </a:rPr>
                  <a:t>Action</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𝒖</m:t>
                        </m:r>
                      </m:e>
                      <m:sub>
                        <m:r>
                          <a:rPr kumimoji="1" lang="en-US" altLang="ja-JP" sz="2400" b="1" i="1" smtClean="0">
                            <a:latin typeface="Cambria Math" panose="02040503050406030204" pitchFamily="18" charset="0"/>
                          </a:rPr>
                          <m:t>𝒍</m:t>
                        </m:r>
                      </m:sub>
                    </m:sSub>
                  </m:oMath>
                </a14:m>
                <a:endParaRPr kumimoji="1" lang="ja-JP" altLang="en-US" sz="2400" b="1"/>
              </a:p>
            </p:txBody>
          </p:sp>
        </mc:Choice>
        <mc:Fallback xmlns="">
          <p:sp>
            <p:nvSpPr>
              <p:cNvPr id="30" name="テキスト ボックス 29">
                <a:extLst>
                  <a:ext uri="{FF2B5EF4-FFF2-40B4-BE49-F238E27FC236}">
                    <a16:creationId xmlns:a16="http://schemas.microsoft.com/office/drawing/2014/main" id="{BC7561D6-3B18-F11E-B88B-CAC0876B2775}"/>
                  </a:ext>
                </a:extLst>
              </p:cNvPr>
              <p:cNvSpPr txBox="1">
                <a:spLocks noRot="1" noChangeAspect="1" noMove="1" noResize="1" noEditPoints="1" noAdjustHandles="1" noChangeArrowheads="1" noChangeShapeType="1" noTextEdit="1"/>
              </p:cNvSpPr>
              <p:nvPr/>
            </p:nvSpPr>
            <p:spPr>
              <a:xfrm>
                <a:off x="6735086" y="3044519"/>
                <a:ext cx="1524713" cy="461665"/>
              </a:xfrm>
              <a:prstGeom prst="rect">
                <a:avLst/>
              </a:prstGeom>
              <a:blipFill>
                <a:blip r:embed="rId8"/>
                <a:stretch>
                  <a:fillRect l="-6612" t="-13514" b="-270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9BC8F5A0-A991-8227-EA55-976A56A7EDBF}"/>
                  </a:ext>
                </a:extLst>
              </p:cNvPr>
              <p:cNvSpPr txBox="1"/>
              <p:nvPr/>
            </p:nvSpPr>
            <p:spPr>
              <a:xfrm>
                <a:off x="7064749" y="3506184"/>
                <a:ext cx="3617722" cy="1631216"/>
              </a:xfrm>
              <a:prstGeom prst="rect">
                <a:avLst/>
              </a:prstGeom>
              <a:noFill/>
            </p:spPr>
            <p:txBody>
              <a:bodyPr wrap="none" rtlCol="0">
                <a:spAutoFit/>
              </a:bodyPr>
              <a:lstStyle/>
              <a:p>
                <a14:m>
                  <m:oMath xmlns:m="http://schemas.openxmlformats.org/officeDocument/2006/math">
                    <m:r>
                      <a:rPr kumimoji="1" lang="en-US" altLang="ja-JP" sz="2000" b="0" i="1" smtClean="0">
                        <a:latin typeface="Cambria Math" panose="02040503050406030204" pitchFamily="18" charset="0"/>
                      </a:rPr>
                      <m:t>𝑙</m:t>
                    </m:r>
                  </m:oMath>
                </a14:m>
                <a:r>
                  <a:rPr kumimoji="1" lang="en-US" altLang="ja-JP" sz="2000" dirty="0"/>
                  <a:t> : </a:t>
                </a:r>
                <a:r>
                  <a:rPr lang="ja-JP" altLang="ja-JP" sz="2000">
                    <a:latin typeface="Arial" panose="020B0604020202020204" pitchFamily="34" charset="0"/>
                    <a:cs typeface="Arial" panose="020B0604020202020204" pitchFamily="34" charset="0"/>
                  </a:rPr>
                  <a:t>Updating Step</a:t>
                </a:r>
              </a:p>
              <a:p>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𝑐</m:t>
                        </m:r>
                      </m:sub>
                    </m:sSub>
                  </m:oMath>
                </a14:m>
                <a:r>
                  <a:rPr kumimoji="1" lang="en-US" altLang="ja-JP" sz="2000" dirty="0"/>
                  <a:t> : </a:t>
                </a:r>
                <a:r>
                  <a:rPr kumimoji="1" lang="en-US" altLang="ja-JP" sz="2000" dirty="0">
                    <a:latin typeface="Arial" panose="020B0604020202020204" pitchFamily="34" charset="0"/>
                    <a:cs typeface="Arial" panose="020B0604020202020204" pitchFamily="34" charset="0"/>
                  </a:rPr>
                  <a:t>Crossover rate</a:t>
                </a:r>
              </a:p>
              <a:p>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𝑚</m:t>
                        </m:r>
                      </m:sub>
                    </m:sSub>
                  </m:oMath>
                </a14:m>
                <a:r>
                  <a:rPr kumimoji="1" lang="en-US" altLang="ja-JP" sz="2000" dirty="0"/>
                  <a:t> : </a:t>
                </a:r>
                <a:r>
                  <a:rPr kumimoji="1" lang="en-US" altLang="ja-JP" sz="2000" dirty="0">
                    <a:latin typeface="Arial" panose="020B0604020202020204" pitchFamily="34" charset="0"/>
                    <a:cs typeface="Arial" panose="020B0604020202020204" pitchFamily="34" charset="0"/>
                  </a:rPr>
                  <a:t>Mutation rate</a:t>
                </a:r>
              </a:p>
              <a:p>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𝑘</m:t>
                        </m:r>
                      </m:e>
                      <m:sub>
                        <m:r>
                          <a:rPr kumimoji="1" lang="en-US" altLang="ja-JP" sz="2000" b="0" i="1" smtClean="0">
                            <a:latin typeface="Cambria Math" panose="02040503050406030204" pitchFamily="18" charset="0"/>
                          </a:rPr>
                          <m:t>𝑙</m:t>
                        </m:r>
                      </m:sub>
                    </m:sSub>
                  </m:oMath>
                </a14:m>
                <a:r>
                  <a:rPr kumimoji="1" lang="en-US" altLang="ja-JP" sz="2000" dirty="0"/>
                  <a:t> : </a:t>
                </a:r>
                <a:r>
                  <a:rPr lang="ja-JP" altLang="ja-JP" sz="2000">
                    <a:latin typeface="Arial" panose="020B0604020202020204" pitchFamily="34" charset="0"/>
                    <a:cs typeface="Arial" panose="020B0604020202020204" pitchFamily="34" charset="0"/>
                  </a:rPr>
                  <a:t>Generations </a:t>
                </a:r>
                <a:r>
                  <a:rPr lang="en-US" altLang="ja-JP" sz="2000" dirty="0">
                    <a:latin typeface="Arial" panose="020B0604020202020204" pitchFamily="34" charset="0"/>
                    <a:cs typeface="Arial" panose="020B0604020202020204" pitchFamily="34" charset="0"/>
                  </a:rPr>
                  <a:t>u</a:t>
                </a:r>
                <a:r>
                  <a:rPr lang="ja-JP" altLang="ja-JP" sz="2000">
                    <a:latin typeface="Arial" panose="020B0604020202020204" pitchFamily="34" charset="0"/>
                    <a:cs typeface="Arial" panose="020B0604020202020204" pitchFamily="34" charset="0"/>
                  </a:rPr>
                  <a:t>ntil the </a:t>
                </a:r>
                <a:r>
                  <a:rPr lang="en-US" altLang="ja-JP" sz="2000" dirty="0">
                    <a:latin typeface="Arial" panose="020B0604020202020204" pitchFamily="34" charset="0"/>
                    <a:cs typeface="Arial" panose="020B0604020202020204" pitchFamily="34" charset="0"/>
                  </a:rPr>
                  <a:t>n</a:t>
                </a:r>
                <a:r>
                  <a:rPr lang="ja-JP" altLang="ja-JP" sz="2000">
                    <a:latin typeface="Arial" panose="020B0604020202020204" pitchFamily="34" charset="0"/>
                    <a:cs typeface="Arial" panose="020B0604020202020204" pitchFamily="34" charset="0"/>
                  </a:rPr>
                  <a:t>ext </a:t>
                </a:r>
                <a:endParaRPr lang="en-US" altLang="ja-JP" sz="2000" dirty="0">
                  <a:latin typeface="Arial" panose="020B0604020202020204" pitchFamily="34" charset="0"/>
                  <a:cs typeface="Arial" panose="020B0604020202020204" pitchFamily="34" charset="0"/>
                </a:endParaRPr>
              </a:p>
              <a:p>
                <a:r>
                  <a:rPr lang="en-US" altLang="ja-JP" sz="2000" dirty="0">
                    <a:latin typeface="Arial" panose="020B0604020202020204" pitchFamily="34" charset="0"/>
                    <a:cs typeface="Arial" panose="020B0604020202020204" pitchFamily="34" charset="0"/>
                  </a:rPr>
                  <a:t>       c</a:t>
                </a:r>
                <a:r>
                  <a:rPr lang="ja-JP" altLang="ja-JP" sz="2000">
                    <a:latin typeface="Arial" panose="020B0604020202020204" pitchFamily="34" charset="0"/>
                    <a:cs typeface="Arial" panose="020B0604020202020204" pitchFamily="34" charset="0"/>
                  </a:rPr>
                  <a:t>ontrol </a:t>
                </a:r>
                <a:r>
                  <a:rPr lang="en-US" altLang="ja-JP" sz="2000" dirty="0">
                    <a:latin typeface="Arial" panose="020B0604020202020204" pitchFamily="34" charset="0"/>
                    <a:cs typeface="Arial" panose="020B0604020202020204" pitchFamily="34" charset="0"/>
                  </a:rPr>
                  <a:t>u</a:t>
                </a:r>
                <a:r>
                  <a:rPr lang="ja-JP" altLang="ja-JP" sz="2000">
                    <a:latin typeface="Arial" panose="020B0604020202020204" pitchFamily="34" charset="0"/>
                    <a:cs typeface="Arial" panose="020B0604020202020204" pitchFamily="34" charset="0"/>
                  </a:rPr>
                  <a:t>pdate</a:t>
                </a:r>
              </a:p>
            </p:txBody>
          </p:sp>
        </mc:Choice>
        <mc:Fallback xmlns="">
          <p:sp>
            <p:nvSpPr>
              <p:cNvPr id="32" name="テキスト ボックス 31">
                <a:extLst>
                  <a:ext uri="{FF2B5EF4-FFF2-40B4-BE49-F238E27FC236}">
                    <a16:creationId xmlns:a16="http://schemas.microsoft.com/office/drawing/2014/main" id="{9BC8F5A0-A991-8227-EA55-976A56A7EDBF}"/>
                  </a:ext>
                </a:extLst>
              </p:cNvPr>
              <p:cNvSpPr txBox="1">
                <a:spLocks noRot="1" noChangeAspect="1" noMove="1" noResize="1" noEditPoints="1" noAdjustHandles="1" noChangeArrowheads="1" noChangeShapeType="1" noTextEdit="1"/>
              </p:cNvSpPr>
              <p:nvPr/>
            </p:nvSpPr>
            <p:spPr>
              <a:xfrm>
                <a:off x="7064749" y="3506184"/>
                <a:ext cx="3617722" cy="1631216"/>
              </a:xfrm>
              <a:prstGeom prst="rect">
                <a:avLst/>
              </a:prstGeom>
              <a:blipFill>
                <a:blip r:embed="rId9"/>
                <a:stretch>
                  <a:fillRect t="-2326" r="-1053" b="-54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C07DEF82-A6D1-9177-C7AE-9B256AAE3AD5}"/>
                  </a:ext>
                </a:extLst>
              </p:cNvPr>
              <p:cNvSpPr txBox="1"/>
              <p:nvPr/>
            </p:nvSpPr>
            <p:spPr>
              <a:xfrm>
                <a:off x="7163416" y="5175338"/>
                <a:ext cx="2756396" cy="307777"/>
              </a:xfrm>
              <a:prstGeom prst="rect">
                <a:avLst/>
              </a:prstGeom>
              <a:noFill/>
            </p:spPr>
            <p:txBody>
              <a:bodyPr wrap="none" lIns="0" tIns="0" rIns="0" bIns="0" rtlCol="0">
                <a:spAutoFit/>
              </a:bodyPr>
              <a:lstStyle/>
              <a:p>
                <a:r>
                  <a:rPr kumimoji="1" lang="en-US" altLang="ja-JP" sz="2000" dirty="0">
                    <a:latin typeface="Arial" panose="020B0604020202020204" pitchFamily="34" charset="0"/>
                    <a:cs typeface="Arial" panose="020B0604020202020204" pitchFamily="34" charset="0"/>
                  </a:rPr>
                  <a:t>constraint :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𝑐</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𝑚</m:t>
                        </m:r>
                      </m:sub>
                    </m:sSub>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1</m:t>
                    </m:r>
                  </m:oMath>
                </a14:m>
                <a:endParaRPr kumimoji="1" lang="ja-JP" altLang="en-US" sz="2000"/>
              </a:p>
            </p:txBody>
          </p:sp>
        </mc:Choice>
        <mc:Fallback xmlns="">
          <p:sp>
            <p:nvSpPr>
              <p:cNvPr id="34" name="テキスト ボックス 33">
                <a:extLst>
                  <a:ext uri="{FF2B5EF4-FFF2-40B4-BE49-F238E27FC236}">
                    <a16:creationId xmlns:a16="http://schemas.microsoft.com/office/drawing/2014/main" id="{C07DEF82-A6D1-9177-C7AE-9B256AAE3AD5}"/>
                  </a:ext>
                </a:extLst>
              </p:cNvPr>
              <p:cNvSpPr txBox="1">
                <a:spLocks noRot="1" noChangeAspect="1" noMove="1" noResize="1" noEditPoints="1" noAdjustHandles="1" noChangeArrowheads="1" noChangeShapeType="1" noTextEdit="1"/>
              </p:cNvSpPr>
              <p:nvPr/>
            </p:nvSpPr>
            <p:spPr>
              <a:xfrm>
                <a:off x="7163416" y="5175338"/>
                <a:ext cx="2756396" cy="307777"/>
              </a:xfrm>
              <a:prstGeom prst="rect">
                <a:avLst/>
              </a:prstGeom>
              <a:blipFill>
                <a:blip r:embed="rId10"/>
                <a:stretch>
                  <a:fillRect l="-5530" t="-24000" b="-48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A9502EEE-ECE9-A4C3-661B-4C81F914CFD5}"/>
                  </a:ext>
                </a:extLst>
              </p:cNvPr>
              <p:cNvSpPr txBox="1"/>
              <p:nvPr/>
            </p:nvSpPr>
            <p:spPr>
              <a:xfrm>
                <a:off x="2342185" y="5995763"/>
                <a:ext cx="7356501" cy="503728"/>
              </a:xfrm>
              <a:prstGeom prst="rect">
                <a:avLst/>
              </a:prstGeom>
              <a:noFill/>
            </p:spPr>
            <p:txBody>
              <a:bodyPr wrap="none" rtlCol="0">
                <a:spAutoFit/>
              </a:bodyPr>
              <a:lstStyle/>
              <a:p>
                <a:r>
                  <a:rPr lang="en-US" altLang="ja-JP" sz="2400" b="1" dirty="0">
                    <a:latin typeface="Arial" panose="020B0604020202020204" pitchFamily="34" charset="0"/>
                    <a:cs typeface="Arial" panose="020B0604020202020204" pitchFamily="34" charset="0"/>
                  </a:rPr>
                  <a:t>Reward</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𝒓</m:t>
                        </m:r>
                      </m:e>
                      <m:sub>
                        <m:r>
                          <a:rPr kumimoji="1" lang="en-US" altLang="ja-JP" sz="2400" b="1" i="1" smtClean="0">
                            <a:latin typeface="Cambria Math" panose="02040503050406030204" pitchFamily="18" charset="0"/>
                          </a:rPr>
                          <m:t>𝒍</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𝑝</m:t>
                        </m:r>
                      </m:sub>
                    </m:sSub>
                    <m:sSubSup>
                      <m:sSubSupPr>
                        <m:ctrlPr>
                          <a:rPr lang="en-US" altLang="ja-JP" sz="2400">
                            <a:solidFill>
                              <a:srgbClr val="252A2D"/>
                            </a:solidFill>
                            <a:latin typeface="Cambria Math" panose="02040503050406030204" pitchFamily="18" charset="0"/>
                            <a:ea typeface="Yu Gothic"/>
                            <a:cs typeface="Yu Gothic"/>
                          </a:rPr>
                        </m:ctrlPr>
                      </m:sSubSupPr>
                      <m:e>
                        <m:r>
                          <m:rPr>
                            <m:sty m:val="p"/>
                          </m:rPr>
                          <a:rPr lang="en-US" altLang="ja-JP" sz="2400">
                            <a:solidFill>
                              <a:srgbClr val="252A2D"/>
                            </a:solidFill>
                            <a:latin typeface="Cambria Math" panose="02040503050406030204" pitchFamily="18" charset="0"/>
                            <a:ea typeface="Yu Gothic"/>
                            <a:cs typeface="Yu Gothic"/>
                          </a:rPr>
                          <m:t>Δ</m:t>
                        </m:r>
                        <m:r>
                          <a:rPr lang="en-US" altLang="ja-JP" sz="2400" i="1">
                            <a:solidFill>
                              <a:srgbClr val="252A2D"/>
                            </a:solidFill>
                            <a:latin typeface="Cambria Math" panose="02040503050406030204" pitchFamily="18" charset="0"/>
                            <a:ea typeface="Yu Gothic"/>
                            <a:cs typeface="Yu Gothic"/>
                          </a:rPr>
                          <m:t>𝐻𝑉</m:t>
                        </m:r>
                      </m:e>
                      <m:sub>
                        <m:r>
                          <a:rPr kumimoji="1" lang="en-US" altLang="ja-JP" sz="2400" b="0" i="1" smtClean="0">
                            <a:latin typeface="Cambria Math" panose="02040503050406030204" pitchFamily="18" charset="0"/>
                          </a:rPr>
                          <m:t>𝑙</m:t>
                        </m:r>
                      </m:sub>
                      <m:sup>
                        <m:r>
                          <a:rPr kumimoji="1" lang="en-US" altLang="ja-JP" sz="2400" b="0" i="1" smtClean="0">
                            <a:latin typeface="Cambria Math" panose="02040503050406030204" pitchFamily="18" charset="0"/>
                          </a:rPr>
                          <m:t>𝑟𝑎𝑡𝑒</m:t>
                        </m:r>
                      </m:sup>
                    </m:sSubSup>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𝑑</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𝑆</m:t>
                        </m:r>
                      </m:e>
                      <m:sub>
                        <m:r>
                          <a:rPr kumimoji="1" lang="en-US" altLang="ja-JP" sz="2400" b="0" i="1" smtClean="0">
                            <a:latin typeface="Cambria Math" panose="02040503050406030204" pitchFamily="18" charset="0"/>
                          </a:rPr>
                          <m:t>𝐷</m:t>
                        </m:r>
                      </m:sub>
                    </m:sSub>
                    <m:d>
                      <m:dPr>
                        <m:ctrlPr>
                          <a:rPr kumimoji="1" lang="ja-JP" altLang="en-US" sz="2400" b="0" i="1" smtClean="0">
                            <a:latin typeface="Cambria Math" panose="02040503050406030204" pitchFamily="18" charset="0"/>
                          </a:rPr>
                        </m:ctrlPr>
                      </m:dPr>
                      <m:e>
                        <m:acc>
                          <m:accPr>
                            <m:chr m:val="̅"/>
                            <m:ctrlPr>
                              <a:rPr kumimoji="1" lang="ja-JP" altLang="en-US" sz="2400" b="0" i="1" smtClean="0">
                                <a:latin typeface="Cambria Math" panose="02040503050406030204" pitchFamily="18" charset="0"/>
                              </a:rPr>
                            </m:ctrlPr>
                          </m:acc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𝐷</m:t>
                                </m:r>
                              </m:e>
                              <m:sub>
                                <m:r>
                                  <a:rPr kumimoji="1" lang="en-US" altLang="ja-JP" sz="2400" b="0" i="1" smtClean="0">
                                    <a:latin typeface="Cambria Math" panose="02040503050406030204" pitchFamily="18" charset="0"/>
                                  </a:rPr>
                                  <m:t>𝑙</m:t>
                                </m:r>
                              </m:sub>
                            </m:sSub>
                          </m:e>
                        </m:acc>
                        <m:r>
                          <a:rPr kumimoji="1" lang="en-US" altLang="ja-JP" sz="2400" b="0" i="1" smtClean="0">
                            <a:latin typeface="Cambria Math" panose="02040503050406030204" pitchFamily="18" charset="0"/>
                          </a:rPr>
                          <m:t>, </m:t>
                        </m:r>
                        <m:sSub>
                          <m:sSubPr>
                            <m:ctrlPr>
                              <a:rPr lang="ja-JP" altLang="en-US" sz="2400" i="1">
                                <a:solidFill>
                                  <a:srgbClr val="252A2D"/>
                                </a:solidFill>
                                <a:latin typeface="Cambria Math" panose="02040503050406030204" pitchFamily="18" charset="0"/>
                                <a:ea typeface="Yu Gothic"/>
                                <a:cs typeface="Yu Gothic"/>
                              </a:rPr>
                            </m:ctrlPr>
                          </m:sSubPr>
                          <m:e>
                            <m:r>
                              <a:rPr lang="ja-JP" altLang="en-US" sz="2400" i="1">
                                <a:solidFill>
                                  <a:srgbClr val="252A2D"/>
                                </a:solidFill>
                                <a:latin typeface="Cambria Math" panose="02040503050406030204" pitchFamily="18" charset="0"/>
                                <a:ea typeface="Yu Gothic"/>
                                <a:cs typeface="Yu Gothic"/>
                              </a:rPr>
                              <m:t>𝜏</m:t>
                            </m:r>
                          </m:e>
                          <m:sub>
                            <m:r>
                              <a:rPr kumimoji="1" lang="en-US" altLang="ja-JP" sz="2400" b="0" i="1" smtClean="0">
                                <a:latin typeface="Cambria Math" panose="02040503050406030204" pitchFamily="18" charset="0"/>
                              </a:rPr>
                              <m:t>𝑙</m:t>
                            </m:r>
                            <m:r>
                              <a:rPr kumimoji="1" lang="en-US" altLang="ja-JP" sz="2400" b="0" i="1" smtClean="0">
                                <a:latin typeface="Cambria Math" panose="02040503050406030204" pitchFamily="18" charset="0"/>
                              </a:rPr>
                              <m:t>+1</m:t>
                            </m:r>
                          </m:sub>
                        </m:sSub>
                      </m:e>
                    </m:d>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𝑐</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𝐶</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𝑘</m:t>
                        </m:r>
                      </m:e>
                      <m:sub>
                        <m:r>
                          <a:rPr kumimoji="1" lang="en-US" altLang="ja-JP" sz="2400" b="0" i="1" smtClean="0">
                            <a:latin typeface="Cambria Math" panose="02040503050406030204" pitchFamily="18" charset="0"/>
                          </a:rPr>
                          <m:t>𝑙</m:t>
                        </m:r>
                      </m:sub>
                    </m:sSub>
                    <m:r>
                      <a:rPr kumimoji="1" lang="en-US" altLang="ja-JP" sz="2400" b="0" i="1" smtClean="0">
                        <a:latin typeface="Cambria Math" panose="02040503050406030204" pitchFamily="18" charset="0"/>
                      </a:rPr>
                      <m:t>)</m:t>
                    </m:r>
                  </m:oMath>
                </a14:m>
                <a:endParaRPr kumimoji="1" lang="ja-JP" altLang="en-US" sz="2400"/>
              </a:p>
            </p:txBody>
          </p:sp>
        </mc:Choice>
        <mc:Fallback xmlns="">
          <p:sp>
            <p:nvSpPr>
              <p:cNvPr id="35" name="テキスト ボックス 34">
                <a:extLst>
                  <a:ext uri="{FF2B5EF4-FFF2-40B4-BE49-F238E27FC236}">
                    <a16:creationId xmlns:a16="http://schemas.microsoft.com/office/drawing/2014/main" id="{A9502EEE-ECE9-A4C3-661B-4C81F914CFD5}"/>
                  </a:ext>
                </a:extLst>
              </p:cNvPr>
              <p:cNvSpPr txBox="1">
                <a:spLocks noRot="1" noChangeAspect="1" noMove="1" noResize="1" noEditPoints="1" noAdjustHandles="1" noChangeArrowheads="1" noChangeShapeType="1" noTextEdit="1"/>
              </p:cNvSpPr>
              <p:nvPr/>
            </p:nvSpPr>
            <p:spPr>
              <a:xfrm>
                <a:off x="2342185" y="5995763"/>
                <a:ext cx="7356501" cy="503728"/>
              </a:xfrm>
              <a:prstGeom prst="rect">
                <a:avLst/>
              </a:prstGeom>
              <a:blipFill>
                <a:blip r:embed="rId11"/>
                <a:stretch>
                  <a:fillRect l="-1207" t="-7500" b="-20000"/>
                </a:stretch>
              </a:blipFill>
            </p:spPr>
            <p:txBody>
              <a:bodyPr/>
              <a:lstStyle/>
              <a:p>
                <a:r>
                  <a:rPr lang="ja-JP" altLang="en-US">
                    <a:noFill/>
                  </a:rPr>
                  <a:t> </a:t>
                </a:r>
              </a:p>
            </p:txBody>
          </p:sp>
        </mc:Fallback>
      </mc:AlternateContent>
      <p:sp>
        <p:nvSpPr>
          <p:cNvPr id="39" name="スライド番号プレースホルダー 2">
            <a:extLst>
              <a:ext uri="{FF2B5EF4-FFF2-40B4-BE49-F238E27FC236}">
                <a16:creationId xmlns:a16="http://schemas.microsoft.com/office/drawing/2014/main" id="{60E0A1A1-1348-1A51-9C8F-34B6EF514455}"/>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28</a:t>
            </a:fld>
            <a:endParaRPr lang="ja-JP" altLang="en-US"/>
          </a:p>
        </p:txBody>
      </p:sp>
    </p:spTree>
    <p:extLst>
      <p:ext uri="{BB962C8B-B14F-4D97-AF65-F5344CB8AC3E}">
        <p14:creationId xmlns:p14="http://schemas.microsoft.com/office/powerpoint/2010/main" val="565009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フローチャート: 代替処理 19">
            <a:extLst>
              <a:ext uri="{FF2B5EF4-FFF2-40B4-BE49-F238E27FC236}">
                <a16:creationId xmlns:a16="http://schemas.microsoft.com/office/drawing/2014/main" id="{568708F1-F674-C823-F034-C9FADF9C0CE6}"/>
              </a:ext>
            </a:extLst>
          </p:cNvPr>
          <p:cNvSpPr/>
          <p:nvPr/>
        </p:nvSpPr>
        <p:spPr>
          <a:xfrm>
            <a:off x="741265" y="4875378"/>
            <a:ext cx="10632916" cy="1105291"/>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フローチャート: 代替処理 13">
            <a:extLst>
              <a:ext uri="{FF2B5EF4-FFF2-40B4-BE49-F238E27FC236}">
                <a16:creationId xmlns:a16="http://schemas.microsoft.com/office/drawing/2014/main" id="{19104B94-8943-F296-BEB8-8D81EB46311D}"/>
              </a:ext>
            </a:extLst>
          </p:cNvPr>
          <p:cNvSpPr/>
          <p:nvPr/>
        </p:nvSpPr>
        <p:spPr>
          <a:xfrm>
            <a:off x="609129" y="2716733"/>
            <a:ext cx="5806173" cy="1237765"/>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フローチャート: 代替処理 9">
            <a:extLst>
              <a:ext uri="{FF2B5EF4-FFF2-40B4-BE49-F238E27FC236}">
                <a16:creationId xmlns:a16="http://schemas.microsoft.com/office/drawing/2014/main" id="{C5209310-4374-C845-97F0-C49A17E00B0B}"/>
              </a:ext>
            </a:extLst>
          </p:cNvPr>
          <p:cNvSpPr/>
          <p:nvPr/>
        </p:nvSpPr>
        <p:spPr>
          <a:xfrm>
            <a:off x="609129" y="1339785"/>
            <a:ext cx="10632916" cy="99589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4F90727-C9E2-A364-885F-87535BC091E5}"/>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Proposed Method</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8D4C5FD3-CD99-1E83-A42C-9CFADFC74FB8}"/>
                  </a:ext>
                </a:extLst>
              </p:cNvPr>
              <p:cNvSpPr txBox="1"/>
              <p:nvPr/>
            </p:nvSpPr>
            <p:spPr>
              <a:xfrm>
                <a:off x="873402" y="1566666"/>
                <a:ext cx="9912457" cy="523220"/>
              </a:xfrm>
              <a:prstGeom prst="rect">
                <a:avLst/>
              </a:prstGeom>
              <a:noFill/>
            </p:spPr>
            <p:txBody>
              <a:bodyPr wrap="none" rtlCol="0">
                <a:spAutoFit/>
              </a:bodyPr>
              <a:lstStyle/>
              <a:p>
                <a:r>
                  <a:rPr lang="ja-JP" altLang="ja-JP" sz="2800">
                    <a:latin typeface="Arial" panose="020B0604020202020204" pitchFamily="34" charset="0"/>
                    <a:cs typeface="Arial" panose="020B0604020202020204" pitchFamily="34" charset="0"/>
                  </a:rPr>
                  <a:t>Sequentially </a:t>
                </a:r>
                <a:r>
                  <a:rPr lang="en-US" altLang="ja-JP" sz="2800" dirty="0">
                    <a:latin typeface="Arial" panose="020B0604020202020204" pitchFamily="34" charset="0"/>
                    <a:cs typeface="Arial" panose="020B0604020202020204" pitchFamily="34" charset="0"/>
                  </a:rPr>
                  <a:t>d</a:t>
                </a:r>
                <a:r>
                  <a:rPr lang="ja-JP" altLang="ja-JP" sz="2800">
                    <a:latin typeface="Arial" panose="020B0604020202020204" pitchFamily="34" charset="0"/>
                    <a:cs typeface="Arial" panose="020B0604020202020204" pitchFamily="34" charset="0"/>
                  </a:rPr>
                  <a:t>etermine </a:t>
                </a:r>
                <a14:m>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𝑢</m:t>
                        </m:r>
                      </m:e>
                      <m:sub>
                        <m:r>
                          <a:rPr lang="en-US" altLang="ja-JP" sz="2800" b="0" i="1" smtClean="0">
                            <a:latin typeface="Cambria Math" panose="02040503050406030204" pitchFamily="18" charset="0"/>
                          </a:rPr>
                          <m:t>𝑙</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𝑝</m:t>
                        </m:r>
                      </m:e>
                      <m:sub>
                        <m:r>
                          <a:rPr lang="en-US" altLang="ja-JP" sz="2800" b="0" i="1" smtClean="0">
                            <a:latin typeface="Cambria Math" panose="02040503050406030204" pitchFamily="18" charset="0"/>
                          </a:rPr>
                          <m:t>𝑐</m:t>
                        </m:r>
                      </m:sub>
                    </m:sSub>
                    <m:r>
                      <a:rPr lang="en-US" altLang="ja-JP" sz="2800" b="0" i="1" smtClean="0">
                        <a:latin typeface="Cambria Math" panose="02040503050406030204" pitchFamily="18" charset="0"/>
                      </a:rPr>
                      <m:t> </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𝑝</m:t>
                        </m:r>
                      </m:e>
                      <m:sub>
                        <m:r>
                          <a:rPr lang="en-US" altLang="ja-JP" sz="2800" b="0" i="1" smtClean="0">
                            <a:latin typeface="Cambria Math" panose="02040503050406030204" pitchFamily="18" charset="0"/>
                          </a:rPr>
                          <m:t>𝑚</m:t>
                        </m:r>
                      </m:sub>
                    </m:sSub>
                    <m:r>
                      <a:rPr lang="en-US" altLang="ja-JP" sz="2800" b="0" i="1" smtClean="0">
                        <a:latin typeface="Cambria Math" panose="02040503050406030204" pitchFamily="18" charset="0"/>
                      </a:rPr>
                      <m:t>, </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𝑘</m:t>
                        </m:r>
                      </m:e>
                      <m:sub>
                        <m:r>
                          <a:rPr lang="en-US" altLang="ja-JP" sz="2800" b="0" i="1" smtClean="0">
                            <a:latin typeface="Cambria Math" panose="02040503050406030204" pitchFamily="18" charset="0"/>
                          </a:rPr>
                          <m:t>𝑙</m:t>
                        </m:r>
                      </m:sub>
                    </m:sSub>
                    <m:r>
                      <a:rPr lang="en-US" altLang="ja-JP" sz="2800" b="0" i="1" smtClean="0">
                        <a:latin typeface="Cambria Math" panose="02040503050406030204" pitchFamily="18" charset="0"/>
                      </a:rPr>
                      <m:t>)</m:t>
                    </m:r>
                  </m:oMath>
                </a14:m>
                <a:r>
                  <a:rPr lang="en-US" altLang="ja-JP" sz="2800" dirty="0">
                    <a:latin typeface="Arial" panose="020B0604020202020204" pitchFamily="34" charset="0"/>
                    <a:cs typeface="Arial" panose="020B0604020202020204" pitchFamily="34" charset="0"/>
                  </a:rPr>
                  <a:t> u</a:t>
                </a:r>
                <a:r>
                  <a:rPr lang="ja-JP" altLang="ja-JP" sz="2800">
                    <a:latin typeface="Arial" panose="020B0604020202020204" pitchFamily="34" charset="0"/>
                    <a:cs typeface="Arial" panose="020B0604020202020204" pitchFamily="34" charset="0"/>
                  </a:rPr>
                  <a:t>sing </a:t>
                </a:r>
                <a:r>
                  <a:rPr lang="en-US" altLang="ja-JP" sz="2800" b="1" dirty="0">
                    <a:solidFill>
                      <a:srgbClr val="FF0000"/>
                    </a:solidFill>
                    <a:latin typeface="Arial" panose="020B0604020202020204" pitchFamily="34" charset="0"/>
                    <a:cs typeface="Arial" panose="020B0604020202020204" pitchFamily="34" charset="0"/>
                  </a:rPr>
                  <a:t>Contextual</a:t>
                </a:r>
                <a:r>
                  <a:rPr lang="en-US" altLang="ja-JP" sz="2800" b="1" dirty="0">
                    <a:latin typeface="Arial" panose="020B0604020202020204" pitchFamily="34" charset="0"/>
                    <a:cs typeface="Arial" panose="020B0604020202020204" pitchFamily="34" charset="0"/>
                  </a:rPr>
                  <a:t> </a:t>
                </a:r>
                <a:r>
                  <a:rPr lang="ja-JP" altLang="ja-JP" sz="2800" b="1">
                    <a:solidFill>
                      <a:srgbClr val="FF0000"/>
                    </a:solidFill>
                    <a:latin typeface="Arial" panose="020B0604020202020204" pitchFamily="34" charset="0"/>
                    <a:cs typeface="Arial" panose="020B0604020202020204" pitchFamily="34" charset="0"/>
                  </a:rPr>
                  <a:t>BO</a:t>
                </a:r>
              </a:p>
            </p:txBody>
          </p:sp>
        </mc:Choice>
        <mc:Fallback xmlns="">
          <p:sp>
            <p:nvSpPr>
              <p:cNvPr id="8" name="テキスト ボックス 7">
                <a:extLst>
                  <a:ext uri="{FF2B5EF4-FFF2-40B4-BE49-F238E27FC236}">
                    <a16:creationId xmlns:a16="http://schemas.microsoft.com/office/drawing/2014/main" id="{8D4C5FD3-CD99-1E83-A42C-9CFADFC74FB8}"/>
                  </a:ext>
                </a:extLst>
              </p:cNvPr>
              <p:cNvSpPr txBox="1">
                <a:spLocks noRot="1" noChangeAspect="1" noMove="1" noResize="1" noEditPoints="1" noAdjustHandles="1" noChangeArrowheads="1" noChangeShapeType="1" noTextEdit="1"/>
              </p:cNvSpPr>
              <p:nvPr/>
            </p:nvSpPr>
            <p:spPr>
              <a:xfrm>
                <a:off x="873402" y="1566666"/>
                <a:ext cx="9912457" cy="523220"/>
              </a:xfrm>
              <a:prstGeom prst="rect">
                <a:avLst/>
              </a:prstGeom>
              <a:blipFill>
                <a:blip r:embed="rId2"/>
                <a:stretch>
                  <a:fillRect l="-1279" t="-11905" r="-384"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B8804878-4BF9-412A-372C-9B16027494B9}"/>
                  </a:ext>
                </a:extLst>
              </p:cNvPr>
              <p:cNvSpPr txBox="1"/>
              <p:nvPr/>
            </p:nvSpPr>
            <p:spPr>
              <a:xfrm>
                <a:off x="7299233" y="2451242"/>
                <a:ext cx="4738092" cy="1200329"/>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𝑙</m:t>
                    </m:r>
                  </m:oMath>
                </a14:m>
                <a:r>
                  <a:rPr kumimoji="1" lang="en-US" altLang="ja-JP" dirty="0"/>
                  <a:t> : </a:t>
                </a:r>
                <a:r>
                  <a:rPr lang="ja-JP" altLang="ja-JP">
                    <a:latin typeface="Arial" panose="020B0604020202020204" pitchFamily="34" charset="0"/>
                    <a:cs typeface="Arial" panose="020B0604020202020204" pitchFamily="34" charset="0"/>
                  </a:rPr>
                  <a:t>Updating Step</a:t>
                </a:r>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𝑐</m:t>
                        </m:r>
                      </m:sub>
                    </m:sSub>
                  </m:oMath>
                </a14:m>
                <a:r>
                  <a:rPr kumimoji="1" lang="en-US" altLang="ja-JP" dirty="0"/>
                  <a:t> : </a:t>
                </a:r>
                <a:r>
                  <a:rPr kumimoji="1" lang="en-US" altLang="ja-JP" dirty="0">
                    <a:latin typeface="Arial" panose="020B0604020202020204" pitchFamily="34" charset="0"/>
                    <a:cs typeface="Arial" panose="020B0604020202020204" pitchFamily="34" charset="0"/>
                  </a:rPr>
                  <a:t>Crossover rate</a:t>
                </a:r>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𝑚</m:t>
                        </m:r>
                      </m:sub>
                    </m:sSub>
                  </m:oMath>
                </a14:m>
                <a:r>
                  <a:rPr kumimoji="1" lang="en-US" altLang="ja-JP" dirty="0"/>
                  <a:t> : </a:t>
                </a:r>
                <a:r>
                  <a:rPr kumimoji="1" lang="en-US" altLang="ja-JP" dirty="0">
                    <a:latin typeface="Arial" panose="020B0604020202020204" pitchFamily="34" charset="0"/>
                    <a:cs typeface="Arial" panose="020B0604020202020204" pitchFamily="34" charset="0"/>
                  </a:rPr>
                  <a:t>Mutation rate</a:t>
                </a:r>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a:rPr kumimoji="1" lang="en-US" altLang="ja-JP" b="0" i="1" smtClean="0">
                            <a:latin typeface="Cambria Math" panose="02040503050406030204" pitchFamily="18" charset="0"/>
                          </a:rPr>
                          <m:t>𝑙</m:t>
                        </m:r>
                      </m:sub>
                    </m:sSub>
                  </m:oMath>
                </a14:m>
                <a:r>
                  <a:rPr kumimoji="1" lang="en-US" altLang="ja-JP" dirty="0"/>
                  <a:t> : </a:t>
                </a:r>
                <a:r>
                  <a:rPr lang="ja-JP" altLang="ja-JP">
                    <a:latin typeface="Arial" panose="020B0604020202020204" pitchFamily="34" charset="0"/>
                    <a:cs typeface="Arial" panose="020B0604020202020204" pitchFamily="34" charset="0"/>
                  </a:rPr>
                  <a:t>Generations </a:t>
                </a:r>
                <a:r>
                  <a:rPr lang="en-US" altLang="ja-JP" dirty="0">
                    <a:latin typeface="Arial" panose="020B0604020202020204" pitchFamily="34" charset="0"/>
                    <a:cs typeface="Arial" panose="020B0604020202020204" pitchFamily="34" charset="0"/>
                  </a:rPr>
                  <a:t>u</a:t>
                </a:r>
                <a:r>
                  <a:rPr lang="ja-JP" altLang="ja-JP">
                    <a:latin typeface="Arial" panose="020B0604020202020204" pitchFamily="34" charset="0"/>
                    <a:cs typeface="Arial" panose="020B0604020202020204" pitchFamily="34" charset="0"/>
                  </a:rPr>
                  <a:t>ntil the </a:t>
                </a:r>
                <a:r>
                  <a:rPr lang="en-US" altLang="ja-JP" dirty="0">
                    <a:latin typeface="Arial" panose="020B0604020202020204" pitchFamily="34" charset="0"/>
                    <a:cs typeface="Arial" panose="020B0604020202020204" pitchFamily="34" charset="0"/>
                  </a:rPr>
                  <a:t>n</a:t>
                </a:r>
                <a:r>
                  <a:rPr lang="ja-JP" altLang="ja-JP">
                    <a:latin typeface="Arial" panose="020B0604020202020204" pitchFamily="34" charset="0"/>
                    <a:cs typeface="Arial" panose="020B0604020202020204" pitchFamily="34" charset="0"/>
                  </a:rPr>
                  <a:t>ext </a:t>
                </a:r>
                <a:r>
                  <a:rPr lang="en-US" altLang="ja-JP" dirty="0">
                    <a:latin typeface="Arial" panose="020B0604020202020204" pitchFamily="34" charset="0"/>
                    <a:cs typeface="Arial" panose="020B0604020202020204" pitchFamily="34" charset="0"/>
                  </a:rPr>
                  <a:t>c</a:t>
                </a:r>
                <a:r>
                  <a:rPr lang="ja-JP" altLang="ja-JP">
                    <a:latin typeface="Arial" panose="020B0604020202020204" pitchFamily="34" charset="0"/>
                    <a:cs typeface="Arial" panose="020B0604020202020204" pitchFamily="34" charset="0"/>
                  </a:rPr>
                  <a:t>ontrol </a:t>
                </a:r>
                <a:r>
                  <a:rPr lang="en-US" altLang="ja-JP" dirty="0">
                    <a:latin typeface="Arial" panose="020B0604020202020204" pitchFamily="34" charset="0"/>
                    <a:cs typeface="Arial" panose="020B0604020202020204" pitchFamily="34" charset="0"/>
                  </a:rPr>
                  <a:t>u</a:t>
                </a:r>
                <a:r>
                  <a:rPr lang="ja-JP" altLang="ja-JP">
                    <a:latin typeface="Arial" panose="020B0604020202020204" pitchFamily="34" charset="0"/>
                    <a:cs typeface="Arial" panose="020B0604020202020204" pitchFamily="34" charset="0"/>
                  </a:rPr>
                  <a:t>pdate</a:t>
                </a:r>
              </a:p>
            </p:txBody>
          </p:sp>
        </mc:Choice>
        <mc:Fallback xmlns="">
          <p:sp>
            <p:nvSpPr>
              <p:cNvPr id="11" name="テキスト ボックス 10">
                <a:extLst>
                  <a:ext uri="{FF2B5EF4-FFF2-40B4-BE49-F238E27FC236}">
                    <a16:creationId xmlns:a16="http://schemas.microsoft.com/office/drawing/2014/main" id="{B8804878-4BF9-412A-372C-9B16027494B9}"/>
                  </a:ext>
                </a:extLst>
              </p:cNvPr>
              <p:cNvSpPr txBox="1">
                <a:spLocks noRot="1" noChangeAspect="1" noMove="1" noResize="1" noEditPoints="1" noAdjustHandles="1" noChangeArrowheads="1" noChangeShapeType="1" noTextEdit="1"/>
              </p:cNvSpPr>
              <p:nvPr/>
            </p:nvSpPr>
            <p:spPr>
              <a:xfrm>
                <a:off x="7299233" y="2451242"/>
                <a:ext cx="4738092" cy="1200329"/>
              </a:xfrm>
              <a:prstGeom prst="rect">
                <a:avLst/>
              </a:prstGeom>
              <a:blipFill>
                <a:blip r:embed="rId3"/>
                <a:stretch>
                  <a:fillRect t="-2083" b="-7292"/>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A8F5BE11-79B5-5959-99DC-8ACC5AB0E9FA}"/>
              </a:ext>
            </a:extLst>
          </p:cNvPr>
          <p:cNvSpPr txBox="1"/>
          <p:nvPr/>
        </p:nvSpPr>
        <p:spPr>
          <a:xfrm>
            <a:off x="476992" y="2451242"/>
            <a:ext cx="3924472" cy="523220"/>
          </a:xfrm>
          <a:prstGeom prst="rect">
            <a:avLst/>
          </a:prstGeom>
          <a:solidFill>
            <a:schemeClr val="bg1"/>
          </a:solidFill>
        </p:spPr>
        <p:txBody>
          <a:bodyPr wrap="none" rtlCol="0">
            <a:spAutoFit/>
          </a:bodyPr>
          <a:lstStyle/>
          <a:p>
            <a:r>
              <a:rPr lang="en-US" altLang="ja-JP" sz="2800" dirty="0">
                <a:latin typeface="Arial" panose="020B0604020202020204" pitchFamily="34" charset="0"/>
                <a:cs typeface="Arial" panose="020B0604020202020204" pitchFamily="34" charset="0"/>
              </a:rPr>
              <a:t>Contextual optimization</a:t>
            </a:r>
            <a:endParaRPr kumimoji="1" lang="ja-JP" altLang="en-US" sz="2800">
              <a:latin typeface="Arial" panose="020B0604020202020204" pitchFamily="34" charset="0"/>
              <a:cs typeface="Arial" panose="020B0604020202020204" pitchFamily="34" charset="0"/>
            </a:endParaRPr>
          </a:p>
        </p:txBody>
      </p:sp>
      <p:sp>
        <p:nvSpPr>
          <p:cNvPr id="13" name="テキスト ボックス 12">
            <a:extLst>
              <a:ext uri="{FF2B5EF4-FFF2-40B4-BE49-F238E27FC236}">
                <a16:creationId xmlns:a16="http://schemas.microsoft.com/office/drawing/2014/main" id="{367A001E-4637-1E2D-E5E8-C6E18F8F62C8}"/>
              </a:ext>
            </a:extLst>
          </p:cNvPr>
          <p:cNvSpPr txBox="1"/>
          <p:nvPr/>
        </p:nvSpPr>
        <p:spPr>
          <a:xfrm>
            <a:off x="741265" y="2978343"/>
            <a:ext cx="5541902" cy="830997"/>
          </a:xfrm>
          <a:prstGeom prst="rect">
            <a:avLst/>
          </a:prstGeom>
          <a:noFill/>
        </p:spPr>
        <p:txBody>
          <a:bodyPr wrap="square" rtlCol="0">
            <a:spAutoFit/>
          </a:bodyPr>
          <a:lstStyle/>
          <a:p>
            <a:r>
              <a:rPr lang="ja-JP" altLang="ja-JP" sz="2400">
                <a:latin typeface="Arial" panose="020B0604020202020204" pitchFamily="34" charset="0"/>
                <a:cs typeface="Arial" panose="020B0604020202020204" pitchFamily="34" charset="0"/>
              </a:rPr>
              <a:t>Selecting actions based on the </a:t>
            </a:r>
            <a:r>
              <a:rPr lang="en-US" altLang="ja-JP" sz="2400" dirty="0">
                <a:latin typeface="Arial" panose="020B0604020202020204" pitchFamily="34" charset="0"/>
                <a:cs typeface="Arial" panose="020B0604020202020204" pitchFamily="34" charset="0"/>
              </a:rPr>
              <a:t>state</a:t>
            </a:r>
            <a:r>
              <a:rPr lang="ja-JP" altLang="ja-JP" sz="2400">
                <a:latin typeface="Arial" panose="020B0604020202020204" pitchFamily="34" charset="0"/>
                <a:cs typeface="Arial" panose="020B0604020202020204" pitchFamily="34" charset="0"/>
              </a:rPr>
              <a:t>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observed at each time point</a:t>
            </a:r>
            <a:r>
              <a:rPr lang="en-US" altLang="ja-JP" sz="2400" dirty="0">
                <a:latin typeface="Arial" panose="020B0604020202020204" pitchFamily="34" charset="0"/>
                <a:cs typeface="Arial" panose="020B0604020202020204" pitchFamily="34" charset="0"/>
              </a:rPr>
              <a:t>[3]</a:t>
            </a:r>
            <a:endParaRPr lang="ja-JP" altLang="ja-JP" sz="2400">
              <a:latin typeface="Arial" panose="020B0604020202020204" pitchFamily="34" charset="0"/>
              <a:cs typeface="Arial" panose="020B0604020202020204" pitchFamily="34" charset="0"/>
            </a:endParaRPr>
          </a:p>
        </p:txBody>
      </p:sp>
      <p:sp>
        <p:nvSpPr>
          <p:cNvPr id="16" name="下矢印 15">
            <a:extLst>
              <a:ext uri="{FF2B5EF4-FFF2-40B4-BE49-F238E27FC236}">
                <a16:creationId xmlns:a16="http://schemas.microsoft.com/office/drawing/2014/main" id="{C643D4C2-12C1-05AF-04E3-117B2379177A}"/>
              </a:ext>
            </a:extLst>
          </p:cNvPr>
          <p:cNvSpPr/>
          <p:nvPr/>
        </p:nvSpPr>
        <p:spPr>
          <a:xfrm>
            <a:off x="3037653" y="4070950"/>
            <a:ext cx="949124" cy="4325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9C20F0E4-0AEC-6833-FA10-EC940F808770}"/>
                  </a:ext>
                </a:extLst>
              </p:cNvPr>
              <p:cNvSpPr txBox="1"/>
              <p:nvPr/>
            </p:nvSpPr>
            <p:spPr>
              <a:xfrm>
                <a:off x="873402" y="5048954"/>
                <a:ext cx="8819274" cy="830997"/>
              </a:xfrm>
              <a:prstGeom prst="rect">
                <a:avLst/>
              </a:prstGeom>
              <a:noFill/>
            </p:spPr>
            <p:txBody>
              <a:bodyPr wrap="none" rtlCol="0">
                <a:spAutoFit/>
              </a:bodyPr>
              <a:lstStyle/>
              <a:p>
                <a:r>
                  <a:rPr lang="ja-JP" altLang="ja-JP" sz="2400">
                    <a:latin typeface="Arial" panose="020B0604020202020204" pitchFamily="34" charset="0"/>
                    <a:cs typeface="Arial" panose="020B0604020202020204" pitchFamily="34" charset="0"/>
                  </a:rPr>
                  <a:t>Parameter adaptation according to the GP state by treating the </a:t>
                </a:r>
                <a:endParaRPr lang="en-US" altLang="ja-JP" sz="2400" dirty="0">
                  <a:latin typeface="Arial" panose="020B0604020202020204" pitchFamily="34" charset="0"/>
                  <a:cs typeface="Arial" panose="020B0604020202020204" pitchFamily="34" charset="0"/>
                </a:endParaRPr>
              </a:p>
              <a:p>
                <a:r>
                  <a:rPr lang="ja-JP" altLang="ja-JP" sz="2400" b="1">
                    <a:latin typeface="Arial" panose="020B0604020202020204" pitchFamily="34" charset="0"/>
                    <a:cs typeface="Arial" panose="020B0604020202020204" pitchFamily="34" charset="0"/>
                  </a:rPr>
                  <a:t>generational state of GP </a:t>
                </a:r>
                <a:r>
                  <a:rPr lang="ja-JP" altLang="ja-JP" sz="2400">
                    <a:latin typeface="Arial" panose="020B0604020202020204" pitchFamily="34" charset="0"/>
                    <a:cs typeface="Arial" panose="020B0604020202020204" pitchFamily="34" charset="0"/>
                  </a:rPr>
                  <a:t>as the </a:t>
                </a:r>
                <a:r>
                  <a:rPr lang="ja-JP" altLang="ja-JP" sz="2400" b="1">
                    <a:latin typeface="Arial" panose="020B0604020202020204" pitchFamily="34" charset="0"/>
                    <a:cs typeface="Arial" panose="020B0604020202020204" pitchFamily="34" charset="0"/>
                  </a:rPr>
                  <a:t>context</a:t>
                </a:r>
                <a:r>
                  <a:rPr lang="ja-JP" altLang="ja-JP" sz="2400">
                    <a:latin typeface="Arial" panose="020B0604020202020204" pitchFamily="34" charset="0"/>
                    <a:cs typeface="Arial" panose="020B0604020202020204" pitchFamily="34" charset="0"/>
                  </a:rPr>
                  <a:t> and </a:t>
                </a:r>
                <a14:m>
                  <m:oMath xmlns:m="http://schemas.openxmlformats.org/officeDocument/2006/math">
                    <m:sSub>
                      <m:sSubPr>
                        <m:ctrlPr>
                          <a:rPr lang="en-US" altLang="ja-JP" sz="2400" b="1" i="1" smtClean="0">
                            <a:latin typeface="Cambria Math" panose="02040503050406030204" pitchFamily="18" charset="0"/>
                            <a:cs typeface="Arial" panose="020B0604020202020204" pitchFamily="34" charset="0"/>
                          </a:rPr>
                        </m:ctrlPr>
                      </m:sSubPr>
                      <m:e>
                        <m:r>
                          <a:rPr lang="en-US" altLang="ja-JP" sz="2400" b="1" i="1" smtClean="0">
                            <a:latin typeface="Cambria Math" panose="02040503050406030204" pitchFamily="18" charset="0"/>
                            <a:cs typeface="Arial" panose="020B0604020202020204" pitchFamily="34" charset="0"/>
                          </a:rPr>
                          <m:t>𝒖</m:t>
                        </m:r>
                      </m:e>
                      <m:sub>
                        <m:r>
                          <a:rPr lang="en-US" altLang="ja-JP" sz="2400" b="1" i="1" smtClean="0">
                            <a:latin typeface="Cambria Math" panose="02040503050406030204" pitchFamily="18" charset="0"/>
                            <a:cs typeface="Arial" panose="020B0604020202020204" pitchFamily="34" charset="0"/>
                          </a:rPr>
                          <m:t>𝒍</m:t>
                        </m:r>
                      </m:sub>
                    </m:sSub>
                  </m:oMath>
                </a14:m>
                <a:r>
                  <a:rPr lang="ja-JP" altLang="ja-JP" sz="2400">
                    <a:latin typeface="Arial" panose="020B0604020202020204" pitchFamily="34" charset="0"/>
                    <a:cs typeface="Arial" panose="020B0604020202020204" pitchFamily="34" charset="0"/>
                  </a:rPr>
                  <a:t> as the </a:t>
                </a:r>
                <a:r>
                  <a:rPr lang="ja-JP" altLang="ja-JP" sz="2400" b="1">
                    <a:latin typeface="Arial" panose="020B0604020202020204" pitchFamily="34" charset="0"/>
                    <a:cs typeface="Arial" panose="020B0604020202020204" pitchFamily="34" charset="0"/>
                  </a:rPr>
                  <a:t>action</a:t>
                </a:r>
              </a:p>
            </p:txBody>
          </p:sp>
        </mc:Choice>
        <mc:Fallback xmlns="">
          <p:sp>
            <p:nvSpPr>
              <p:cNvPr id="18" name="テキスト ボックス 17">
                <a:extLst>
                  <a:ext uri="{FF2B5EF4-FFF2-40B4-BE49-F238E27FC236}">
                    <a16:creationId xmlns:a16="http://schemas.microsoft.com/office/drawing/2014/main" id="{9C20F0E4-0AEC-6833-FA10-EC940F808770}"/>
                  </a:ext>
                </a:extLst>
              </p:cNvPr>
              <p:cNvSpPr txBox="1">
                <a:spLocks noRot="1" noChangeAspect="1" noMove="1" noResize="1" noEditPoints="1" noAdjustHandles="1" noChangeArrowheads="1" noChangeShapeType="1" noTextEdit="1"/>
              </p:cNvSpPr>
              <p:nvPr/>
            </p:nvSpPr>
            <p:spPr>
              <a:xfrm>
                <a:off x="873402" y="5048954"/>
                <a:ext cx="8819274" cy="830997"/>
              </a:xfrm>
              <a:prstGeom prst="rect">
                <a:avLst/>
              </a:prstGeom>
              <a:blipFill>
                <a:blip r:embed="rId4"/>
                <a:stretch>
                  <a:fillRect l="-1006" t="-5970" r="-144" b="-13433"/>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6C708354-A7E6-8B94-2D7C-977038E2F5B0}"/>
              </a:ext>
            </a:extLst>
          </p:cNvPr>
          <p:cNvSpPr txBox="1"/>
          <p:nvPr/>
        </p:nvSpPr>
        <p:spPr>
          <a:xfrm>
            <a:off x="601884" y="4548851"/>
            <a:ext cx="3025187" cy="523220"/>
          </a:xfrm>
          <a:prstGeom prst="rect">
            <a:avLst/>
          </a:prstGeom>
          <a:solidFill>
            <a:schemeClr val="bg1"/>
          </a:solidFill>
        </p:spPr>
        <p:txBody>
          <a:bodyPr wrap="none" rtlCol="0">
            <a:spAutoFit/>
          </a:bodyPr>
          <a:lstStyle/>
          <a:p>
            <a:r>
              <a:rPr kumimoji="1" lang="en-US" altLang="ja-JP" sz="2800" dirty="0">
                <a:latin typeface="Arial" panose="020B0604020202020204" pitchFamily="34" charset="0"/>
                <a:cs typeface="Arial" panose="020B0604020202020204" pitchFamily="34" charset="0"/>
              </a:rPr>
              <a:t>Proposed Method</a:t>
            </a:r>
            <a:endParaRPr kumimoji="1" lang="ja-JP" altLang="en-US" sz="2800">
              <a:latin typeface="Arial" panose="020B0604020202020204" pitchFamily="34" charset="0"/>
              <a:cs typeface="Arial" panose="020B0604020202020204" pitchFamily="34" charset="0"/>
            </a:endParaRPr>
          </a:p>
        </p:txBody>
      </p:sp>
      <p:sp>
        <p:nvSpPr>
          <p:cNvPr id="21" name="テキスト ボックス 20">
            <a:extLst>
              <a:ext uri="{FF2B5EF4-FFF2-40B4-BE49-F238E27FC236}">
                <a16:creationId xmlns:a16="http://schemas.microsoft.com/office/drawing/2014/main" id="{DCCE842D-0026-BA74-08E4-219E9EFB531C}"/>
              </a:ext>
            </a:extLst>
          </p:cNvPr>
          <p:cNvSpPr txBox="1"/>
          <p:nvPr/>
        </p:nvSpPr>
        <p:spPr>
          <a:xfrm>
            <a:off x="1098844" y="6255218"/>
            <a:ext cx="10632916" cy="646331"/>
          </a:xfrm>
          <a:prstGeom prst="rect">
            <a:avLst/>
          </a:prstGeom>
          <a:noFill/>
        </p:spPr>
        <p:txBody>
          <a:bodyPr wrap="square" rtlCol="0">
            <a:spAutoFit/>
          </a:bodyPr>
          <a:lstStyle/>
          <a:p>
            <a:r>
              <a:rPr lang="en-US" altLang="ja-JP" dirty="0"/>
              <a:t>[3]</a:t>
            </a:r>
            <a:r>
              <a:rPr lang="ja-JP" altLang="ja-JP"/>
              <a:t>A. Krause and C. S. Ong, “Contextual GaussianProcess Bandit Optimization,” in Advances in Neural Information Processing Systems, 2011</a:t>
            </a:r>
            <a:endParaRPr kumimoji="1" lang="ja-JP" altLang="en-US"/>
          </a:p>
        </p:txBody>
      </p:sp>
      <p:sp>
        <p:nvSpPr>
          <p:cNvPr id="22" name="スライド番号プレースホルダー 2">
            <a:extLst>
              <a:ext uri="{FF2B5EF4-FFF2-40B4-BE49-F238E27FC236}">
                <a16:creationId xmlns:a16="http://schemas.microsoft.com/office/drawing/2014/main" id="{33695B90-D347-0917-0739-BC99CFDCE303}"/>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29</a:t>
            </a:fld>
            <a:endParaRPr lang="ja-JP" altLang="en-US"/>
          </a:p>
        </p:txBody>
      </p:sp>
    </p:spTree>
    <p:extLst>
      <p:ext uri="{BB962C8B-B14F-4D97-AF65-F5344CB8AC3E}">
        <p14:creationId xmlns:p14="http://schemas.microsoft.com/office/powerpoint/2010/main" val="2730489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690126-296B-1307-EA16-65A4875829C2}"/>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Bayesian Optimization (BO)</a:t>
            </a:r>
            <a:endParaRPr kumimoji="1" lang="ja-JP" altLang="en-US" b="1">
              <a:latin typeface="Arial" panose="020B0604020202020204" pitchFamily="34" charset="0"/>
              <a:cs typeface="Arial" panose="020B0604020202020204" pitchFamily="34" charset="0"/>
            </a:endParaRPr>
          </a:p>
        </p:txBody>
      </p:sp>
      <p:sp>
        <p:nvSpPr>
          <p:cNvPr id="3" name="テキスト ボックス 2">
            <a:extLst>
              <a:ext uri="{FF2B5EF4-FFF2-40B4-BE49-F238E27FC236}">
                <a16:creationId xmlns:a16="http://schemas.microsoft.com/office/drawing/2014/main" id="{1353637F-3B23-0121-A1A0-F9A6977152FC}"/>
              </a:ext>
            </a:extLst>
          </p:cNvPr>
          <p:cNvSpPr txBox="1"/>
          <p:nvPr/>
        </p:nvSpPr>
        <p:spPr>
          <a:xfrm>
            <a:off x="504476" y="1415378"/>
            <a:ext cx="4423006" cy="1815882"/>
          </a:xfrm>
          <a:prstGeom prst="rect">
            <a:avLst/>
          </a:prstGeom>
          <a:noFill/>
        </p:spPr>
        <p:txBody>
          <a:bodyPr wrap="none" rtlCol="0">
            <a:spAutoFit/>
          </a:bodyPr>
          <a:lstStyle/>
          <a:p>
            <a:r>
              <a:rPr lang="ja-JP" altLang="ja-JP" sz="2800">
                <a:latin typeface="Arial" panose="020B0604020202020204" pitchFamily="34" charset="0"/>
                <a:cs typeface="Arial" panose="020B0604020202020204" pitchFamily="34" charset="0"/>
              </a:rPr>
              <a:t>Optimization </a:t>
            </a:r>
            <a:r>
              <a:rPr lang="en-US" altLang="ja-JP" sz="2800" dirty="0">
                <a:latin typeface="Arial" panose="020B0604020202020204" pitchFamily="34" charset="0"/>
                <a:cs typeface="Arial" panose="020B0604020202020204" pitchFamily="34" charset="0"/>
              </a:rPr>
              <a:t>method </a:t>
            </a:r>
            <a:r>
              <a:rPr lang="ja-JP" altLang="ja-JP" sz="2800">
                <a:latin typeface="Arial" panose="020B0604020202020204" pitchFamily="34" charset="0"/>
                <a:cs typeface="Arial" panose="020B0604020202020204" pitchFamily="34" charset="0"/>
              </a:rPr>
              <a:t>of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a </a:t>
            </a:r>
            <a:r>
              <a:rPr lang="en-US" altLang="ja-JP" sz="2800" dirty="0">
                <a:latin typeface="Arial" panose="020B0604020202020204" pitchFamily="34" charset="0"/>
                <a:cs typeface="Arial" panose="020B0604020202020204" pitchFamily="34" charset="0"/>
              </a:rPr>
              <a:t>black box f</a:t>
            </a:r>
            <a:r>
              <a:rPr lang="ja-JP" altLang="ja-JP" sz="2800">
                <a:latin typeface="Arial" panose="020B0604020202020204" pitchFamily="34" charset="0"/>
                <a:cs typeface="Arial" panose="020B0604020202020204" pitchFamily="34" charset="0"/>
              </a:rPr>
              <a:t>unction </a:t>
            </a:r>
            <a:r>
              <a:rPr lang="en-US" altLang="ja-JP" sz="2800" dirty="0">
                <a:latin typeface="Arial" panose="020B0604020202020204" pitchFamily="34" charset="0"/>
                <a:cs typeface="Arial" panose="020B0604020202020204" pitchFamily="34" charset="0"/>
              </a:rPr>
              <a:t>u</a:t>
            </a:r>
            <a:r>
              <a:rPr lang="ja-JP" altLang="ja-JP" sz="2800">
                <a:latin typeface="Arial" panose="020B0604020202020204" pitchFamily="34" charset="0"/>
                <a:cs typeface="Arial" panose="020B0604020202020204" pitchFamily="34" charset="0"/>
              </a:rPr>
              <a:t>sing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a </a:t>
            </a:r>
            <a:r>
              <a:rPr lang="en-US" altLang="ja-JP" sz="2800" b="1" dirty="0">
                <a:latin typeface="Arial" panose="020B0604020202020204" pitchFamily="34" charset="0"/>
                <a:cs typeface="Arial" panose="020B0604020202020204" pitchFamily="34" charset="0"/>
              </a:rPr>
              <a:t>surrogate</a:t>
            </a:r>
            <a:r>
              <a:rPr lang="ja-JP" altLang="ja-JP" sz="2800" b="1">
                <a:latin typeface="Arial" panose="020B0604020202020204" pitchFamily="34" charset="0"/>
                <a:cs typeface="Arial" panose="020B0604020202020204" pitchFamily="34" charset="0"/>
              </a:rPr>
              <a:t> </a:t>
            </a:r>
            <a:r>
              <a:rPr lang="en-US" altLang="ja-JP" sz="2800" b="1" dirty="0">
                <a:latin typeface="Arial" panose="020B0604020202020204" pitchFamily="34" charset="0"/>
                <a:cs typeface="Arial" panose="020B0604020202020204" pitchFamily="34" charset="0"/>
              </a:rPr>
              <a:t>m</a:t>
            </a:r>
            <a:r>
              <a:rPr lang="ja-JP" altLang="ja-JP" sz="2800" b="1">
                <a:latin typeface="Arial" panose="020B0604020202020204" pitchFamily="34" charset="0"/>
                <a:cs typeface="Arial" panose="020B0604020202020204" pitchFamily="34" charset="0"/>
              </a:rPr>
              <a:t>odel</a:t>
            </a:r>
            <a:r>
              <a:rPr lang="en-US" altLang="ja-JP" sz="2800" b="1" dirty="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and</a:t>
            </a:r>
          </a:p>
          <a:p>
            <a:r>
              <a:rPr lang="en-US" altLang="ja-JP" sz="2800" b="1" dirty="0">
                <a:latin typeface="Arial" panose="020B0604020202020204" pitchFamily="34" charset="0"/>
                <a:cs typeface="Arial" panose="020B0604020202020204" pitchFamily="34" charset="0"/>
              </a:rPr>
              <a:t>acquisition function</a:t>
            </a:r>
            <a:endParaRPr lang="ja-JP" altLang="ja-JP" sz="2800" b="1">
              <a:latin typeface="Arial" panose="020B0604020202020204" pitchFamily="34" charset="0"/>
              <a:cs typeface="Arial" panose="020B0604020202020204" pitchFamily="34" charset="0"/>
            </a:endParaRPr>
          </a:p>
        </p:txBody>
      </p:sp>
      <p:grpSp>
        <p:nvGrpSpPr>
          <p:cNvPr id="15" name="グループ化 14">
            <a:extLst>
              <a:ext uri="{FF2B5EF4-FFF2-40B4-BE49-F238E27FC236}">
                <a16:creationId xmlns:a16="http://schemas.microsoft.com/office/drawing/2014/main" id="{02F2BC09-9499-1546-78E1-7D7329E6748C}"/>
              </a:ext>
            </a:extLst>
          </p:cNvPr>
          <p:cNvGrpSpPr/>
          <p:nvPr/>
        </p:nvGrpSpPr>
        <p:grpSpPr>
          <a:xfrm>
            <a:off x="5653055" y="2083679"/>
            <a:ext cx="6255349" cy="2476509"/>
            <a:chOff x="4422718" y="2913854"/>
            <a:chExt cx="6255349" cy="2476509"/>
          </a:xfrm>
        </p:grpSpPr>
        <p:sp>
          <p:nvSpPr>
            <p:cNvPr id="4" name="Rounded Rectangle 4">
              <a:extLst>
                <a:ext uri="{FF2B5EF4-FFF2-40B4-BE49-F238E27FC236}">
                  <a16:creationId xmlns:a16="http://schemas.microsoft.com/office/drawing/2014/main" id="{8571C50C-8E08-0E3C-63B4-6C96F8FC1A76}"/>
                </a:ext>
              </a:extLst>
            </p:cNvPr>
            <p:cNvSpPr/>
            <p:nvPr/>
          </p:nvSpPr>
          <p:spPr>
            <a:xfrm>
              <a:off x="4425165" y="4214540"/>
              <a:ext cx="2432835"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5" name="Rounded Rectangle 4">
              <a:extLst>
                <a:ext uri="{FF2B5EF4-FFF2-40B4-BE49-F238E27FC236}">
                  <a16:creationId xmlns:a16="http://schemas.microsoft.com/office/drawing/2014/main" id="{9A899B88-11B8-6B38-6992-E007A49EED32}"/>
                </a:ext>
              </a:extLst>
            </p:cNvPr>
            <p:cNvSpPr/>
            <p:nvPr/>
          </p:nvSpPr>
          <p:spPr>
            <a:xfrm>
              <a:off x="6333879" y="2913854"/>
              <a:ext cx="2560320" cy="1143000"/>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cxnSp>
          <p:nvCxnSpPr>
            <p:cNvPr id="8" name="Connector 8">
              <a:extLst>
                <a:ext uri="{FF2B5EF4-FFF2-40B4-BE49-F238E27FC236}">
                  <a16:creationId xmlns:a16="http://schemas.microsoft.com/office/drawing/2014/main" id="{44CCDF87-4E79-8DC4-70A0-9103D1665B9F}"/>
                </a:ext>
              </a:extLst>
            </p:cNvPr>
            <p:cNvCxnSpPr>
              <a:cxnSpLocks/>
            </p:cNvCxnSpPr>
            <p:nvPr/>
          </p:nvCxnSpPr>
          <p:spPr>
            <a:xfrm rot="10800000" flipV="1">
              <a:off x="5858122" y="3697357"/>
              <a:ext cx="475757" cy="511232"/>
            </a:xfrm>
            <a:prstGeom prst="line">
              <a:avLst/>
            </a:prstGeom>
            <a:ln w="31750">
              <a:solidFill>
                <a:srgbClr val="5F6F82"/>
              </a:solidFill>
              <a:headEnd type="triangle"/>
            </a:ln>
          </p:spPr>
          <p:style>
            <a:lnRef idx="2">
              <a:schemeClr val="accent1"/>
            </a:lnRef>
            <a:fillRef idx="0">
              <a:schemeClr val="accent1"/>
            </a:fillRef>
            <a:effectRef idx="1">
              <a:schemeClr val="accent1"/>
            </a:effectRef>
            <a:fontRef idx="minor">
              <a:schemeClr val="tx1"/>
            </a:fontRef>
          </p:style>
        </p:cxnSp>
        <p:cxnSp>
          <p:nvCxnSpPr>
            <p:cNvPr id="9" name="Connector 9">
              <a:extLst>
                <a:ext uri="{FF2B5EF4-FFF2-40B4-BE49-F238E27FC236}">
                  <a16:creationId xmlns:a16="http://schemas.microsoft.com/office/drawing/2014/main" id="{3C5261A4-287D-9A26-BA1E-7D12EAF95387}"/>
                </a:ext>
              </a:extLst>
            </p:cNvPr>
            <p:cNvCxnSpPr>
              <a:cxnSpLocks/>
            </p:cNvCxnSpPr>
            <p:nvPr/>
          </p:nvCxnSpPr>
          <p:spPr>
            <a:xfrm>
              <a:off x="6858000" y="4805999"/>
              <a:ext cx="1257300" cy="0"/>
            </a:xfrm>
            <a:prstGeom prst="line">
              <a:avLst/>
            </a:prstGeom>
            <a:ln w="31750">
              <a:solidFill>
                <a:srgbClr val="5F6F82"/>
              </a:solidFill>
              <a:headEnd type="triangle"/>
            </a:ln>
          </p:spPr>
          <p:style>
            <a:lnRef idx="2">
              <a:schemeClr val="accent1"/>
            </a:lnRef>
            <a:fillRef idx="0">
              <a:schemeClr val="accent1"/>
            </a:fillRef>
            <a:effectRef idx="1">
              <a:schemeClr val="accent1"/>
            </a:effectRef>
            <a:fontRef idx="minor">
              <a:schemeClr val="tx1"/>
            </a:fontRef>
          </p:style>
        </p:cxnSp>
        <p:cxnSp>
          <p:nvCxnSpPr>
            <p:cNvPr id="10" name="Connector 8">
              <a:extLst>
                <a:ext uri="{FF2B5EF4-FFF2-40B4-BE49-F238E27FC236}">
                  <a16:creationId xmlns:a16="http://schemas.microsoft.com/office/drawing/2014/main" id="{44DEBD38-017F-8079-1379-6199024921DD}"/>
                </a:ext>
              </a:extLst>
            </p:cNvPr>
            <p:cNvCxnSpPr>
              <a:cxnSpLocks/>
            </p:cNvCxnSpPr>
            <p:nvPr/>
          </p:nvCxnSpPr>
          <p:spPr>
            <a:xfrm>
              <a:off x="8894199" y="3604311"/>
              <a:ext cx="475757" cy="617219"/>
            </a:xfrm>
            <a:prstGeom prst="line">
              <a:avLst/>
            </a:prstGeom>
            <a:ln w="31750">
              <a:solidFill>
                <a:srgbClr val="5F6F82"/>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4">
              <a:extLst>
                <a:ext uri="{FF2B5EF4-FFF2-40B4-BE49-F238E27FC236}">
                  <a16:creationId xmlns:a16="http://schemas.microsoft.com/office/drawing/2014/main" id="{047FB210-036D-B90B-6062-B0BFE5668429}"/>
                </a:ext>
              </a:extLst>
            </p:cNvPr>
            <p:cNvSpPr/>
            <p:nvPr/>
          </p:nvSpPr>
          <p:spPr>
            <a:xfrm>
              <a:off x="8117747" y="4214540"/>
              <a:ext cx="2560320"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12" name="テキスト ボックス 11">
              <a:extLst>
                <a:ext uri="{FF2B5EF4-FFF2-40B4-BE49-F238E27FC236}">
                  <a16:creationId xmlns:a16="http://schemas.microsoft.com/office/drawing/2014/main" id="{99E098B4-0A6F-1E11-817C-D64CC6F1D7B9}"/>
                </a:ext>
              </a:extLst>
            </p:cNvPr>
            <p:cNvSpPr txBox="1"/>
            <p:nvPr/>
          </p:nvSpPr>
          <p:spPr>
            <a:xfrm>
              <a:off x="6536660" y="3069855"/>
              <a:ext cx="2154757" cy="830997"/>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Experiments</a:t>
              </a:r>
            </a:p>
            <a:p>
              <a:pPr algn="ctr"/>
              <a:r>
                <a:rPr lang="en-US" altLang="ja-JP" sz="2400" dirty="0">
                  <a:latin typeface="Arial" panose="020B0604020202020204" pitchFamily="34" charset="0"/>
                  <a:cs typeface="Arial" panose="020B0604020202020204" pitchFamily="34" charset="0"/>
                </a:rPr>
                <a:t>Acquiring data</a:t>
              </a:r>
              <a:endParaRPr kumimoji="1" lang="ja-JP" altLang="en-US" sz="2400">
                <a:latin typeface="Arial" panose="020B0604020202020204" pitchFamily="34" charset="0"/>
                <a:cs typeface="Arial" panose="020B0604020202020204" pitchFamily="34" charset="0"/>
              </a:endParaRPr>
            </a:p>
          </p:txBody>
        </p:sp>
        <p:sp>
          <p:nvSpPr>
            <p:cNvPr id="13" name="テキスト ボックス 12">
              <a:extLst>
                <a:ext uri="{FF2B5EF4-FFF2-40B4-BE49-F238E27FC236}">
                  <a16:creationId xmlns:a16="http://schemas.microsoft.com/office/drawing/2014/main" id="{612DA4A2-BB52-4720-1B82-556100EA7735}"/>
                </a:ext>
              </a:extLst>
            </p:cNvPr>
            <p:cNvSpPr txBox="1"/>
            <p:nvPr/>
          </p:nvSpPr>
          <p:spPr>
            <a:xfrm>
              <a:off x="8166640" y="4331812"/>
              <a:ext cx="2462534" cy="830997"/>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Construct</a:t>
              </a:r>
            </a:p>
            <a:p>
              <a:pPr algn="ctr"/>
              <a:r>
                <a:rPr lang="en-US" altLang="ja-JP" sz="2400" dirty="0">
                  <a:latin typeface="Arial" panose="020B0604020202020204" pitchFamily="34" charset="0"/>
                  <a:cs typeface="Arial" panose="020B0604020202020204" pitchFamily="34" charset="0"/>
                </a:rPr>
                <a:t>Surrogate model</a:t>
              </a:r>
              <a:endParaRPr kumimoji="1" lang="ja-JP" altLang="en-US" sz="2400">
                <a:latin typeface="Arial" panose="020B0604020202020204" pitchFamily="34" charset="0"/>
                <a:cs typeface="Arial" panose="020B0604020202020204" pitchFamily="34" charset="0"/>
              </a:endParaRPr>
            </a:p>
          </p:txBody>
        </p:sp>
        <p:sp>
          <p:nvSpPr>
            <p:cNvPr id="14" name="テキスト ボックス 13">
              <a:extLst>
                <a:ext uri="{FF2B5EF4-FFF2-40B4-BE49-F238E27FC236}">
                  <a16:creationId xmlns:a16="http://schemas.microsoft.com/office/drawing/2014/main" id="{2623A636-070B-1693-D20E-5FAADFBF13CC}"/>
                </a:ext>
              </a:extLst>
            </p:cNvPr>
            <p:cNvSpPr txBox="1"/>
            <p:nvPr/>
          </p:nvSpPr>
          <p:spPr>
            <a:xfrm>
              <a:off x="4422718" y="4331812"/>
              <a:ext cx="2393605" cy="830997"/>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Suggest</a:t>
              </a:r>
            </a:p>
            <a:p>
              <a:pPr algn="ctr"/>
              <a:r>
                <a:rPr lang="en-US" altLang="ja-JP" sz="2400" dirty="0">
                  <a:latin typeface="Arial" panose="020B0604020202020204" pitchFamily="34" charset="0"/>
                  <a:cs typeface="Arial" panose="020B0604020202020204" pitchFamily="34" charset="0"/>
                </a:rPr>
                <a:t>Optimal solution</a:t>
              </a:r>
              <a:endParaRPr kumimoji="1" lang="ja-JP" altLang="en-US" sz="2400">
                <a:latin typeface="Arial" panose="020B0604020202020204" pitchFamily="34" charset="0"/>
                <a:cs typeface="Arial" panose="020B0604020202020204" pitchFamily="34" charset="0"/>
              </a:endParaRPr>
            </a:p>
          </p:txBody>
        </p:sp>
      </p:grpSp>
      <p:sp>
        <p:nvSpPr>
          <p:cNvPr id="17" name="フローチャート: 代替処理 16">
            <a:extLst>
              <a:ext uri="{FF2B5EF4-FFF2-40B4-BE49-F238E27FC236}">
                <a16:creationId xmlns:a16="http://schemas.microsoft.com/office/drawing/2014/main" id="{0C91BD83-BF81-E83A-AB72-EC50D7B5A8D5}"/>
              </a:ext>
            </a:extLst>
          </p:cNvPr>
          <p:cNvSpPr/>
          <p:nvPr/>
        </p:nvSpPr>
        <p:spPr>
          <a:xfrm>
            <a:off x="283596" y="1357746"/>
            <a:ext cx="4672188" cy="1964188"/>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8441E2AB-0551-4F40-AE8E-8DB74AB36E8D}"/>
              </a:ext>
            </a:extLst>
          </p:cNvPr>
          <p:cNvSpPr txBox="1"/>
          <p:nvPr/>
        </p:nvSpPr>
        <p:spPr>
          <a:xfrm>
            <a:off x="283596" y="3840237"/>
            <a:ext cx="2845651"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Surrogate model</a:t>
            </a:r>
            <a:endParaRPr kumimoji="1" lang="ja-JP" altLang="en-US" sz="2800">
              <a:latin typeface="Arial" panose="020B0604020202020204" pitchFamily="34" charset="0"/>
              <a:cs typeface="Arial" panose="020B0604020202020204" pitchFamily="34" charset="0"/>
            </a:endParaRPr>
          </a:p>
        </p:txBody>
      </p:sp>
      <p:sp>
        <p:nvSpPr>
          <p:cNvPr id="20" name="テキスト ボックス 19">
            <a:extLst>
              <a:ext uri="{FF2B5EF4-FFF2-40B4-BE49-F238E27FC236}">
                <a16:creationId xmlns:a16="http://schemas.microsoft.com/office/drawing/2014/main" id="{3CB0C187-5FCB-D2FE-DF3C-7AA4378A6F06}"/>
              </a:ext>
            </a:extLst>
          </p:cNvPr>
          <p:cNvSpPr txBox="1"/>
          <p:nvPr/>
        </p:nvSpPr>
        <p:spPr>
          <a:xfrm>
            <a:off x="590309" y="4384522"/>
            <a:ext cx="5505691" cy="461665"/>
          </a:xfrm>
          <a:prstGeom prst="rect">
            <a:avLst/>
          </a:prstGeom>
          <a:noFill/>
        </p:spPr>
        <p:txBody>
          <a:bodyPr wrap="square" rtlCol="0">
            <a:spAutoFit/>
          </a:bodyPr>
          <a:lstStyle/>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Modeling the </a:t>
            </a:r>
            <a:r>
              <a:rPr lang="en-US" altLang="ja-JP" sz="2400" dirty="0">
                <a:latin typeface="Arial" panose="020B0604020202020204" pitchFamily="34" charset="0"/>
                <a:cs typeface="Arial" panose="020B0604020202020204" pitchFamily="34" charset="0"/>
              </a:rPr>
              <a:t>black box</a:t>
            </a:r>
            <a:r>
              <a:rPr lang="ja-JP" altLang="ja-JP" sz="2400">
                <a:latin typeface="Arial" panose="020B0604020202020204" pitchFamily="34" charset="0"/>
                <a:cs typeface="Arial" panose="020B0604020202020204" pitchFamily="34" charset="0"/>
              </a:rPr>
              <a:t> </a:t>
            </a:r>
            <a:r>
              <a:rPr lang="en-US" altLang="ja-JP" sz="2400" dirty="0">
                <a:latin typeface="Arial" panose="020B0604020202020204" pitchFamily="34" charset="0"/>
                <a:cs typeface="Arial" panose="020B0604020202020204" pitchFamily="34" charset="0"/>
              </a:rPr>
              <a:t>f</a:t>
            </a:r>
            <a:r>
              <a:rPr lang="ja-JP" altLang="ja-JP" sz="2400">
                <a:latin typeface="Arial" panose="020B0604020202020204" pitchFamily="34" charset="0"/>
                <a:cs typeface="Arial" panose="020B0604020202020204" pitchFamily="34" charset="0"/>
              </a:rPr>
              <a:t>unction</a:t>
            </a:r>
          </a:p>
        </p:txBody>
      </p:sp>
      <p:sp>
        <p:nvSpPr>
          <p:cNvPr id="21" name="テキスト ボックス 20">
            <a:extLst>
              <a:ext uri="{FF2B5EF4-FFF2-40B4-BE49-F238E27FC236}">
                <a16:creationId xmlns:a16="http://schemas.microsoft.com/office/drawing/2014/main" id="{33C8B100-6148-6B80-5456-AD98771570B9}"/>
              </a:ext>
            </a:extLst>
          </p:cNvPr>
          <p:cNvSpPr txBox="1"/>
          <p:nvPr/>
        </p:nvSpPr>
        <p:spPr>
          <a:xfrm>
            <a:off x="283596" y="4974556"/>
            <a:ext cx="3283271"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Acquisition function</a:t>
            </a:r>
            <a:endParaRPr kumimoji="1" lang="ja-JP" altLang="en-US" sz="2800">
              <a:latin typeface="Arial" panose="020B0604020202020204" pitchFamily="34" charset="0"/>
              <a:cs typeface="Arial" panose="020B0604020202020204" pitchFamily="34" charset="0"/>
            </a:endParaRPr>
          </a:p>
        </p:txBody>
      </p:sp>
      <p:sp>
        <p:nvSpPr>
          <p:cNvPr id="22" name="テキスト ボックス 21">
            <a:extLst>
              <a:ext uri="{FF2B5EF4-FFF2-40B4-BE49-F238E27FC236}">
                <a16:creationId xmlns:a16="http://schemas.microsoft.com/office/drawing/2014/main" id="{0485C7E4-3F89-2B81-61FA-C8EA70CB0D48}"/>
              </a:ext>
            </a:extLst>
          </p:cNvPr>
          <p:cNvSpPr txBox="1"/>
          <p:nvPr/>
        </p:nvSpPr>
        <p:spPr>
          <a:xfrm>
            <a:off x="590309" y="5517320"/>
            <a:ext cx="8657863" cy="830997"/>
          </a:xfrm>
          <a:prstGeom prst="rect">
            <a:avLst/>
          </a:prstGeom>
          <a:noFill/>
        </p:spPr>
        <p:txBody>
          <a:bodyPr wrap="square" rtlCol="0">
            <a:spAutoFit/>
          </a:bodyPr>
          <a:lstStyle/>
          <a:p>
            <a:r>
              <a:rPr lang="ja-JP" altLang="en-US" sz="2400">
                <a:latin typeface="Arial" panose="020B0604020202020204" pitchFamily="34" charset="0"/>
                <a:cs typeface="Arial" panose="020B0604020202020204" pitchFamily="34" charset="0"/>
              </a:rPr>
              <a:t>・</a:t>
            </a:r>
            <a:r>
              <a:rPr lang="en-US" altLang="ja-JP" sz="2400" dirty="0">
                <a:latin typeface="Arial" panose="020B0604020202020204" pitchFamily="34" charset="0"/>
                <a:cs typeface="Arial" panose="020B0604020202020204" pitchFamily="34" charset="0"/>
              </a:rPr>
              <a:t>F</a:t>
            </a:r>
            <a:r>
              <a:rPr lang="ja-JP" altLang="ja-JP" sz="2400">
                <a:latin typeface="Arial" panose="020B0604020202020204" pitchFamily="34" charset="0"/>
                <a:cs typeface="Arial" panose="020B0604020202020204" pitchFamily="34" charset="0"/>
              </a:rPr>
              <a:t>unction for </a:t>
            </a:r>
            <a:r>
              <a:rPr lang="en-US" altLang="ja-JP" sz="2400" dirty="0">
                <a:latin typeface="Arial" panose="020B0604020202020204" pitchFamily="34" charset="0"/>
                <a:cs typeface="Arial" panose="020B0604020202020204" pitchFamily="34" charset="0"/>
              </a:rPr>
              <a:t>d</a:t>
            </a:r>
            <a:r>
              <a:rPr lang="ja-JP" altLang="ja-JP" sz="2400">
                <a:latin typeface="Arial" panose="020B0604020202020204" pitchFamily="34" charset="0"/>
                <a:cs typeface="Arial" panose="020B0604020202020204" pitchFamily="34" charset="0"/>
              </a:rPr>
              <a:t>etermining the </a:t>
            </a:r>
            <a:r>
              <a:rPr lang="en-US" altLang="ja-JP" sz="2400" dirty="0">
                <a:latin typeface="Arial" panose="020B0604020202020204" pitchFamily="34" charset="0"/>
                <a:cs typeface="Arial" panose="020B0604020202020204" pitchFamily="34" charset="0"/>
              </a:rPr>
              <a:t>n</a:t>
            </a:r>
            <a:r>
              <a:rPr lang="ja-JP" altLang="ja-JP" sz="2400">
                <a:latin typeface="Arial" panose="020B0604020202020204" pitchFamily="34" charset="0"/>
                <a:cs typeface="Arial" panose="020B0604020202020204" pitchFamily="34" charset="0"/>
              </a:rPr>
              <a:t>ext </a:t>
            </a:r>
            <a:r>
              <a:rPr lang="en-US" altLang="ja-JP" sz="2400" dirty="0">
                <a:latin typeface="Arial" panose="020B0604020202020204" pitchFamily="34" charset="0"/>
                <a:cs typeface="Arial" panose="020B0604020202020204" pitchFamily="34" charset="0"/>
              </a:rPr>
              <a:t>e</a:t>
            </a:r>
            <a:r>
              <a:rPr lang="ja-JP" altLang="ja-JP" sz="2400">
                <a:latin typeface="Arial" panose="020B0604020202020204" pitchFamily="34" charset="0"/>
                <a:cs typeface="Arial" panose="020B0604020202020204" pitchFamily="34" charset="0"/>
              </a:rPr>
              <a:t>xperimental </a:t>
            </a:r>
            <a:r>
              <a:rPr lang="en-US" altLang="ja-JP" sz="2400" dirty="0">
                <a:latin typeface="Arial" panose="020B0604020202020204" pitchFamily="34" charset="0"/>
                <a:cs typeface="Arial" panose="020B0604020202020204" pitchFamily="34" charset="0"/>
              </a:rPr>
              <a:t>p</a:t>
            </a:r>
            <a:r>
              <a:rPr lang="ja-JP" altLang="ja-JP" sz="2400">
                <a:latin typeface="Arial" panose="020B0604020202020204" pitchFamily="34" charset="0"/>
                <a:cs typeface="Arial" panose="020B0604020202020204" pitchFamily="34" charset="0"/>
              </a:rPr>
              <a:t>oint</a:t>
            </a:r>
          </a:p>
          <a:p>
            <a:endParaRPr lang="ja-JP" altLang="ja-JP" sz="2400">
              <a:latin typeface="Arial" panose="020B0604020202020204" pitchFamily="34" charset="0"/>
              <a:cs typeface="Arial" panose="020B0604020202020204" pitchFamily="34" charset="0"/>
            </a:endParaRPr>
          </a:p>
        </p:txBody>
      </p:sp>
      <p:sp>
        <p:nvSpPr>
          <p:cNvPr id="24" name="スライド番号プレースホルダー 2">
            <a:extLst>
              <a:ext uri="{FF2B5EF4-FFF2-40B4-BE49-F238E27FC236}">
                <a16:creationId xmlns:a16="http://schemas.microsoft.com/office/drawing/2014/main" id="{71BEF127-914E-DDD1-9CA8-3CD36BD35F7D}"/>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30</a:t>
            </a:fld>
            <a:endParaRPr lang="ja-JP" altLang="en-US"/>
          </a:p>
        </p:txBody>
      </p:sp>
    </p:spTree>
    <p:extLst>
      <p:ext uri="{BB962C8B-B14F-4D97-AF65-F5344CB8AC3E}">
        <p14:creationId xmlns:p14="http://schemas.microsoft.com/office/powerpoint/2010/main" val="1127721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A2EF85-7F46-A876-FC1C-53D1D59BC562}"/>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 4 : Update Period k</a:t>
            </a:r>
            <a:endParaRPr kumimoji="1" lang="ja-JP" altLang="en-US" b="1">
              <a:latin typeface="Arial" panose="020B0604020202020204" pitchFamily="34" charset="0"/>
              <a:cs typeface="Arial" panose="020B0604020202020204" pitchFamily="34" charset="0"/>
            </a:endParaRPr>
          </a:p>
        </p:txBody>
      </p:sp>
      <p:pic>
        <p:nvPicPr>
          <p:cNvPr id="3" name="slide14_image1.png">
            <a:extLst>
              <a:ext uri="{FF2B5EF4-FFF2-40B4-BE49-F238E27FC236}">
                <a16:creationId xmlns:a16="http://schemas.microsoft.com/office/drawing/2014/main" id="{165AE70A-2B52-473B-BEFD-21B9318F4C00}"/>
              </a:ext>
            </a:extLst>
          </p:cNvPr>
          <p:cNvPicPr/>
          <p:nvPr/>
        </p:nvPicPr>
        <p:blipFill>
          <a:blip r:embed="rId3"/>
          <a:stretch>
            <a:fillRect/>
          </a:stretch>
        </p:blipFill>
        <p:spPr>
          <a:xfrm>
            <a:off x="685800" y="1325880"/>
            <a:ext cx="6309360" cy="4343400"/>
          </a:xfrm>
          <a:prstGeom prst="rect">
            <a:avLst/>
          </a:prstGeom>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68661035-B298-A121-A46E-2BD016E4C4E5}"/>
                  </a:ext>
                </a:extLst>
              </p:cNvPr>
              <p:cNvSpPr txBox="1"/>
              <p:nvPr/>
            </p:nvSpPr>
            <p:spPr>
              <a:xfrm>
                <a:off x="7203989" y="1615092"/>
                <a:ext cx="4772460" cy="5539978"/>
              </a:xfrm>
              <a:prstGeom prst="rect">
                <a:avLst/>
              </a:prstGeom>
              <a:noFill/>
            </p:spPr>
            <p:txBody>
              <a:bodyPr wrap="none" rtlCol="0">
                <a:spAutoFit/>
              </a:bodyPr>
              <a:lstStyle/>
              <a:p>
                <a14:m>
                  <m:oMath xmlns:m="http://schemas.openxmlformats.org/officeDocument/2006/math">
                    <m:r>
                      <a:rPr lang="ja-JP" altLang="ja-JP" sz="2400" i="1" smtClean="0">
                        <a:latin typeface="Cambria Math" panose="02040503050406030204" pitchFamily="18" charset="0"/>
                      </a:rPr>
                      <m:t>𝑘</m:t>
                    </m:r>
                    <m:r>
                      <a:rPr lang="ja-JP" altLang="ja-JP" sz="2400" i="1" smtClean="0">
                        <a:latin typeface="Cambria Math" panose="02040503050406030204" pitchFamily="18" charset="0"/>
                      </a:rPr>
                      <m:t> = 1 </m:t>
                    </m:r>
                  </m:oMath>
                </a14:m>
                <a:r>
                  <a:rPr lang="ja-JP" altLang="ja-JP" sz="2400">
                    <a:latin typeface="Arial" panose="020B0604020202020204" pitchFamily="34" charset="0"/>
                    <a:cs typeface="Arial" panose="020B0604020202020204" pitchFamily="34" charset="0"/>
                  </a:rPr>
                  <a:t>was selected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most frequently</a:t>
                </a:r>
                <a:endParaRPr lang="en-US" altLang="ja-JP" sz="2400" dirty="0">
                  <a:latin typeface="Arial" panose="020B0604020202020204" pitchFamily="34" charset="0"/>
                  <a:cs typeface="Arial" panose="020B0604020202020204" pitchFamily="34" charset="0"/>
                </a:endParaRPr>
              </a:p>
              <a:p>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earch state in Friedman-II may</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 have varied over short intervals,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suggesting that frequent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parameter readjustment was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effective</a:t>
                </a:r>
                <a:endParaRPr lang="en-US" altLang="ja-JP" sz="2400" dirty="0">
                  <a:latin typeface="Arial" panose="020B0604020202020204" pitchFamily="34" charset="0"/>
                  <a:cs typeface="Arial" panose="020B0604020202020204" pitchFamily="34" charset="0"/>
                </a:endParaRPr>
              </a:p>
              <a:p>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The design of the warm-up phase</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may have biased the selection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toward shorter update intervals</a:t>
                </a:r>
              </a:p>
              <a:p>
                <a:endParaRPr lang="ja-JP" altLang="ja-JP" sz="2400">
                  <a:latin typeface="Arial" panose="020B0604020202020204" pitchFamily="34" charset="0"/>
                  <a:cs typeface="Arial" panose="020B0604020202020204" pitchFamily="34" charset="0"/>
                </a:endParaRPr>
              </a:p>
              <a:p>
                <a:endParaRPr lang="ja-JP" altLang="ja-JP" sz="2400">
                  <a:latin typeface="Arial" panose="020B0604020202020204" pitchFamily="34" charset="0"/>
                  <a:cs typeface="Arial" panose="020B0604020202020204" pitchFamily="34" charset="0"/>
                </a:endParaRPr>
              </a:p>
              <a:p>
                <a:endParaRPr kumimoji="1" lang="ja-JP" altLang="en-US"/>
              </a:p>
            </p:txBody>
          </p:sp>
        </mc:Choice>
        <mc:Fallback xmlns="">
          <p:sp>
            <p:nvSpPr>
              <p:cNvPr id="4" name="テキスト ボックス 3">
                <a:extLst>
                  <a:ext uri="{FF2B5EF4-FFF2-40B4-BE49-F238E27FC236}">
                    <a16:creationId xmlns:a16="http://schemas.microsoft.com/office/drawing/2014/main" id="{68661035-B298-A121-A46E-2BD016E4C4E5}"/>
                  </a:ext>
                </a:extLst>
              </p:cNvPr>
              <p:cNvSpPr txBox="1">
                <a:spLocks noRot="1" noChangeAspect="1" noMove="1" noResize="1" noEditPoints="1" noAdjustHandles="1" noChangeArrowheads="1" noChangeShapeType="1" noTextEdit="1"/>
              </p:cNvSpPr>
              <p:nvPr/>
            </p:nvSpPr>
            <p:spPr>
              <a:xfrm>
                <a:off x="7203989" y="1615092"/>
                <a:ext cx="4772460" cy="5539978"/>
              </a:xfrm>
              <a:prstGeom prst="rect">
                <a:avLst/>
              </a:prstGeom>
              <a:blipFill>
                <a:blip r:embed="rId4"/>
                <a:stretch>
                  <a:fillRect l="-2122" t="-915" r="-1061"/>
                </a:stretch>
              </a:blipFill>
            </p:spPr>
            <p:txBody>
              <a:bodyPr/>
              <a:lstStyle/>
              <a:p>
                <a:r>
                  <a:rPr lang="ja-JP" altLang="en-US">
                    <a:noFill/>
                  </a:rPr>
                  <a:t> </a:t>
                </a:r>
              </a:p>
            </p:txBody>
          </p:sp>
        </mc:Fallback>
      </mc:AlternateContent>
      <p:sp>
        <p:nvSpPr>
          <p:cNvPr id="6" name="スライド番号プレースホルダー 2">
            <a:extLst>
              <a:ext uri="{FF2B5EF4-FFF2-40B4-BE49-F238E27FC236}">
                <a16:creationId xmlns:a16="http://schemas.microsoft.com/office/drawing/2014/main" id="{B7336B3E-8F68-D644-70FC-C29C9BA3ED4C}"/>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31</a:t>
            </a:fld>
            <a:endParaRPr lang="ja-JP" altLang="en-US"/>
          </a:p>
        </p:txBody>
      </p:sp>
    </p:spTree>
    <p:extLst>
      <p:ext uri="{BB962C8B-B14F-4D97-AF65-F5344CB8AC3E}">
        <p14:creationId xmlns:p14="http://schemas.microsoft.com/office/powerpoint/2010/main" val="1293441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7642B3-B25F-00B1-39A4-B9CCA7C9E7B1}"/>
            </a:ext>
          </a:extLst>
        </p:cNvPr>
        <p:cNvGrpSpPr/>
        <p:nvPr/>
      </p:nvGrpSpPr>
      <p:grpSpPr>
        <a:xfrm>
          <a:off x="0" y="0"/>
          <a:ext cx="0" cy="0"/>
          <a:chOff x="0" y="0"/>
          <a:chExt cx="0" cy="0"/>
        </a:xfrm>
      </p:grpSpPr>
      <p:sp>
        <p:nvSpPr>
          <p:cNvPr id="6" name="フローチャート: 代替処理 5">
            <a:extLst>
              <a:ext uri="{FF2B5EF4-FFF2-40B4-BE49-F238E27FC236}">
                <a16:creationId xmlns:a16="http://schemas.microsoft.com/office/drawing/2014/main" id="{A20C9FE5-89D1-4829-215F-E85DF697ABDB}"/>
              </a:ext>
            </a:extLst>
          </p:cNvPr>
          <p:cNvSpPr/>
          <p:nvPr/>
        </p:nvSpPr>
        <p:spPr>
          <a:xfrm>
            <a:off x="476992" y="2308324"/>
            <a:ext cx="9773008" cy="110586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92FD763-5542-2371-057E-86DEB8D41919}"/>
              </a:ext>
            </a:extLst>
          </p:cNvPr>
          <p:cNvSpPr>
            <a:spLocks noGrp="1"/>
          </p:cNvSpPr>
          <p:nvPr>
            <p:ph type="title"/>
          </p:nvPr>
        </p:nvSpPr>
        <p:spPr/>
        <p:txBody>
          <a:bodyPr>
            <a:normAutofit fontScale="90000"/>
          </a:bodyPr>
          <a:lstStyle/>
          <a:p>
            <a:r>
              <a:rPr lang="en-US" altLang="ja-JP" b="1" dirty="0">
                <a:latin typeface="Arial" panose="020B0604020202020204" pitchFamily="34" charset="0"/>
                <a:cs typeface="Arial" panose="020B0604020202020204" pitchFamily="34" charset="0"/>
              </a:rPr>
              <a:t>Conclusion</a:t>
            </a:r>
            <a:endParaRPr kumimoji="1" lang="ja-JP" altLang="en-US" b="1">
              <a:latin typeface="Arial" panose="020B0604020202020204" pitchFamily="34" charset="0"/>
              <a:cs typeface="Arial" panose="020B0604020202020204" pitchFamily="34" charset="0"/>
            </a:endParaRPr>
          </a:p>
        </p:txBody>
      </p:sp>
      <p:sp>
        <p:nvSpPr>
          <p:cNvPr id="3" name="スライド番号プレースホルダー 2">
            <a:extLst>
              <a:ext uri="{FF2B5EF4-FFF2-40B4-BE49-F238E27FC236}">
                <a16:creationId xmlns:a16="http://schemas.microsoft.com/office/drawing/2014/main" id="{DFA49645-F478-8652-43FF-68E443BE4A04}"/>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32</a:t>
            </a:fld>
            <a:endParaRPr lang="ja-JP" altLang="en-US"/>
          </a:p>
        </p:txBody>
      </p:sp>
      <p:sp>
        <p:nvSpPr>
          <p:cNvPr id="4" name="テキスト ボックス 3">
            <a:extLst>
              <a:ext uri="{FF2B5EF4-FFF2-40B4-BE49-F238E27FC236}">
                <a16:creationId xmlns:a16="http://schemas.microsoft.com/office/drawing/2014/main" id="{AC465180-E89C-49E3-C95F-45C38E11C96C}"/>
              </a:ext>
            </a:extLst>
          </p:cNvPr>
          <p:cNvSpPr txBox="1"/>
          <p:nvPr/>
        </p:nvSpPr>
        <p:spPr>
          <a:xfrm>
            <a:off x="477346" y="1092026"/>
            <a:ext cx="10815951" cy="1384995"/>
          </a:xfrm>
          <a:prstGeom prst="rect">
            <a:avLst/>
          </a:prstGeom>
          <a:noFill/>
        </p:spPr>
        <p:txBody>
          <a:bodyPr wrap="square" rtlCol="0">
            <a:spAutoFit/>
          </a:bodyPr>
          <a:lstStyle/>
          <a:p>
            <a:r>
              <a:rPr lang="en-US" altLang="ja-JP" sz="2800" dirty="0">
                <a:latin typeface="Arial" panose="020B0604020202020204" pitchFamily="34" charset="0"/>
                <a:cs typeface="Arial" panose="020B0604020202020204" pitchFamily="34" charset="0"/>
              </a:rPr>
              <a:t>Objective : </a:t>
            </a:r>
            <a:r>
              <a:rPr lang="ja-JP" altLang="ja-JP" sz="2800">
                <a:latin typeface="Arial" panose="020B0604020202020204" pitchFamily="34" charset="0"/>
                <a:cs typeface="Arial" panose="020B0604020202020204" pitchFamily="34" charset="0"/>
              </a:rPr>
              <a:t>Improving Diversity and Convergenc</a:t>
            </a:r>
            <a:r>
              <a:rPr lang="en-US" altLang="ja-JP" sz="2800" dirty="0">
                <a:latin typeface="Arial" panose="020B0604020202020204" pitchFamily="34" charset="0"/>
                <a:cs typeface="Arial" panose="020B0604020202020204" pitchFamily="34" charset="0"/>
              </a:rPr>
              <a:t>y</a:t>
            </a:r>
            <a:r>
              <a:rPr lang="ja-JP" altLang="ja-JP" sz="2800">
                <a:latin typeface="Arial" panose="020B0604020202020204" pitchFamily="34" charset="0"/>
                <a:cs typeface="Arial" panose="020B0604020202020204" pitchFamily="34" charset="0"/>
              </a:rPr>
              <a:t> throug</a:t>
            </a:r>
            <a:r>
              <a:rPr lang="en-US" altLang="ja-JP" sz="2800" dirty="0">
                <a:latin typeface="Arial" panose="020B0604020202020204" pitchFamily="34" charset="0"/>
                <a:cs typeface="Arial" panose="020B0604020202020204" pitchFamily="34" charset="0"/>
              </a:rPr>
              <a:t>h </a:t>
            </a:r>
          </a:p>
          <a:p>
            <a:r>
              <a:rPr lang="en-US" altLang="ja-JP" sz="2800" dirty="0">
                <a:solidFill>
                  <a:srgbClr val="FF0000"/>
                </a:solidFill>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Dynamic Adjustment of Crossover and Mutation Rates</a:t>
            </a:r>
          </a:p>
          <a:p>
            <a:endParaRPr kumimoji="1" lang="ja-JP" altLang="en-US" sz="2800">
              <a:latin typeface="Arial" panose="020B0604020202020204" pitchFamily="34" charset="0"/>
              <a:cs typeface="Arial" panose="020B0604020202020204" pitchFamily="34" charset="0"/>
            </a:endParaRPr>
          </a:p>
        </p:txBody>
      </p:sp>
      <p:sp>
        <p:nvSpPr>
          <p:cNvPr id="5" name="テキスト ボックス 4">
            <a:extLst>
              <a:ext uri="{FF2B5EF4-FFF2-40B4-BE49-F238E27FC236}">
                <a16:creationId xmlns:a16="http://schemas.microsoft.com/office/drawing/2014/main" id="{0462ADC4-5E76-EAC3-B717-3D5DE49246E5}"/>
              </a:ext>
            </a:extLst>
          </p:cNvPr>
          <p:cNvSpPr txBox="1"/>
          <p:nvPr/>
        </p:nvSpPr>
        <p:spPr>
          <a:xfrm>
            <a:off x="961128" y="2384204"/>
            <a:ext cx="7794057" cy="954107"/>
          </a:xfrm>
          <a:prstGeom prst="rect">
            <a:avLst/>
          </a:prstGeom>
          <a:noFill/>
        </p:spPr>
        <p:txBody>
          <a:bodyPr wrap="none" rtlCol="0">
            <a:spAutoFit/>
          </a:bodyPr>
          <a:lstStyle/>
          <a:p>
            <a:r>
              <a:rPr lang="ja-JP" altLang="ja-JP" sz="2800">
                <a:latin typeface="Arial" panose="020B0604020202020204" pitchFamily="34" charset="0"/>
                <a:cs typeface="Arial" panose="020B0604020202020204" pitchFamily="34" charset="0"/>
              </a:rPr>
              <a:t>The results showed indications of effectiveness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over standard fixed-rate GP</a:t>
            </a:r>
            <a:endParaRPr lang="ja-JP" altLang="ja-JP"/>
          </a:p>
        </p:txBody>
      </p:sp>
      <p:sp>
        <p:nvSpPr>
          <p:cNvPr id="7" name="テキスト ボックス 6">
            <a:extLst>
              <a:ext uri="{FF2B5EF4-FFF2-40B4-BE49-F238E27FC236}">
                <a16:creationId xmlns:a16="http://schemas.microsoft.com/office/drawing/2014/main" id="{B04D21A1-512A-863F-769B-1F8E9D11EE94}"/>
              </a:ext>
            </a:extLst>
          </p:cNvPr>
          <p:cNvSpPr txBox="1"/>
          <p:nvPr/>
        </p:nvSpPr>
        <p:spPr>
          <a:xfrm>
            <a:off x="476992" y="3720324"/>
            <a:ext cx="4546437"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Future research challenges</a:t>
            </a:r>
            <a:endParaRPr kumimoji="1" lang="ja-JP" altLang="en-US" sz="2800">
              <a:latin typeface="Arial" panose="020B0604020202020204" pitchFamily="34" charset="0"/>
              <a:cs typeface="Arial" panose="020B0604020202020204" pitchFamily="34" charset="0"/>
            </a:endParaRPr>
          </a:p>
        </p:txBody>
      </p:sp>
      <p:sp>
        <p:nvSpPr>
          <p:cNvPr id="8" name="テキスト ボックス 7">
            <a:extLst>
              <a:ext uri="{FF2B5EF4-FFF2-40B4-BE49-F238E27FC236}">
                <a16:creationId xmlns:a16="http://schemas.microsoft.com/office/drawing/2014/main" id="{B5D82B46-EB92-99CE-D1D1-D212B5C79422}"/>
              </a:ext>
            </a:extLst>
          </p:cNvPr>
          <p:cNvSpPr txBox="1"/>
          <p:nvPr/>
        </p:nvSpPr>
        <p:spPr>
          <a:xfrm>
            <a:off x="790832" y="4380980"/>
            <a:ext cx="9805890" cy="2382191"/>
          </a:xfrm>
          <a:prstGeom prst="rect">
            <a:avLst/>
          </a:prstGeom>
          <a:noFill/>
        </p:spPr>
        <p:txBody>
          <a:bodyPr wrap="none" rtlCol="0">
            <a:spAutoFit/>
          </a:bodyPr>
          <a:lstStyle/>
          <a:p>
            <a:pPr>
              <a:lnSpc>
                <a:spcPct val="120000"/>
              </a:lnSpc>
            </a:pPr>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Further examine the effects of state-dependent control more clearly</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Analyze structural acquisition tendencies that cannot be understood </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from objective function values alone</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Analyze the types of problems for which the proposed method </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works effectively</a:t>
            </a:r>
          </a:p>
          <a:p>
            <a:endParaRPr lang="ja-JP" altLang="ja-JP"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0564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C73FCA-F660-82CD-F90F-4A295DD53BF5}"/>
              </a:ext>
            </a:extLst>
          </p:cNvPr>
          <p:cNvSpPr>
            <a:spLocks noGrp="1"/>
          </p:cNvSpPr>
          <p:nvPr>
            <p:ph type="title"/>
          </p:nvPr>
        </p:nvSpPr>
        <p:spPr>
          <a:xfrm>
            <a:off x="476991" y="276874"/>
            <a:ext cx="9890327" cy="638485"/>
          </a:xfrm>
        </p:spPr>
        <p:txBody>
          <a:bodyPr wrap="square" lIns="0" tIns="0" rIns="19050" bIns="0" anchor="ctr">
            <a:normAutofit/>
          </a:bodyPr>
          <a:lstStyle/>
          <a:p>
            <a:pPr>
              <a:defRPr sz="2550" b="1">
                <a:solidFill>
                  <a:srgbClr val="000000"/>
                </a:solidFill>
                <a:latin typeface="Arial"/>
                <a:ea typeface="Arial"/>
                <a:cs typeface="Arial"/>
              </a:defRPr>
            </a:pPr>
            <a:r>
              <a:rPr sz="2550" b="1">
                <a:solidFill>
                  <a:srgbClr val="000000"/>
                </a:solidFill>
                <a:latin typeface="Arial"/>
                <a:ea typeface="Arial"/>
                <a:cs typeface="Arial"/>
              </a:rPr>
              <a:t>GPR Re-fitting Is the Main Source of Additional Time</a:t>
            </a:r>
          </a:p>
        </p:txBody>
      </p:sp>
      <p:sp>
        <p:nvSpPr>
          <p:cNvPr id="6" name="テキスト ボックス 5">
            <a:extLst>
              <a:ext uri="{FF2B5EF4-FFF2-40B4-BE49-F238E27FC236}">
                <a16:creationId xmlns:a16="http://schemas.microsoft.com/office/drawing/2014/main" id="{2C1CF740-23CC-7C86-9680-60F094F582B3}"/>
              </a:ext>
            </a:extLst>
          </p:cNvPr>
          <p:cNvSpPr>
            <a:spLocks noGrp="1"/>
          </p:cNvSpPr>
          <p:nvPr/>
        </p:nvSpPr>
        <p:spPr>
          <a:xfrm>
            <a:off x="7825099" y="2276745"/>
            <a:ext cx="4366901" cy="3693319"/>
          </a:xfrm>
          <a:prstGeom prst="rect">
            <a:avLst/>
          </a:prstGeom>
          <a:noFill/>
        </p:spPr>
        <p:txBody>
          <a:bodyPr wrap="square" lIns="114300" tIns="76200" rIns="114300" bIns="76200" anchor="ctr">
            <a:normAutofit/>
          </a:bodyPr>
          <a:lstStyle/>
          <a:p>
            <a:pPr>
              <a:defRPr sz="1500">
                <a:solidFill>
                  <a:srgbClr val="1F1F1F"/>
                </a:solidFill>
                <a:latin typeface="Arial"/>
                <a:ea typeface="Arial"/>
                <a:cs typeface="Arial"/>
              </a:defRPr>
            </a:pPr>
            <a:r>
              <a:rPr sz="1500" b="1">
                <a:solidFill>
                  <a:srgbClr val="1F1F1F"/>
                </a:solidFill>
                <a:latin typeface="Arial"/>
                <a:ea typeface="Arial"/>
                <a:cs typeface="Arial"/>
              </a:rPr>
              <a:t>Proposed method</a:t>
            </a:r>
            <a:r>
              <a:rPr sz="1500">
                <a:solidFill>
                  <a:srgbClr val="1F1F1F"/>
                </a:solidFill>
                <a:latin typeface="Arial"/>
                <a:ea typeface="Arial"/>
                <a:cs typeface="Arial"/>
              </a:rPr>
              <a:t>   7.60 s</a:t>
            </a:r>
          </a:p>
          <a:p>
            <a:pPr>
              <a:defRPr sz="1500">
                <a:solidFill>
                  <a:srgbClr val="1F1F1F"/>
                </a:solidFill>
                <a:latin typeface="Arial"/>
                <a:ea typeface="Arial"/>
                <a:cs typeface="Arial"/>
              </a:defRPr>
            </a:pPr>
            <a:r>
              <a:rPr sz="1500" b="1">
                <a:solidFill>
                  <a:srgbClr val="1F1F1F"/>
                </a:solidFill>
                <a:latin typeface="Arial"/>
                <a:ea typeface="Arial"/>
                <a:cs typeface="Arial"/>
              </a:rPr>
              <a:t>Replay (diagnostic)</a:t>
            </a:r>
            <a:r>
              <a:rPr sz="1500">
                <a:solidFill>
                  <a:srgbClr val="1F1F1F"/>
                </a:solidFill>
                <a:latin typeface="Arial"/>
                <a:ea typeface="Arial"/>
                <a:cs typeface="Arial"/>
              </a:rPr>
              <a:t>   3.31 s</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b="1">
                <a:solidFill>
                  <a:srgbClr val="1F1F1F"/>
                </a:solidFill>
                <a:latin typeface="Arial"/>
                <a:ea typeface="Arial"/>
                <a:cs typeface="Arial"/>
              </a:rPr>
              <a:t>Online BO increment</a:t>
            </a:r>
            <a:r>
              <a:rPr sz="1500">
                <a:solidFill>
                  <a:srgbClr val="1F1F1F"/>
                </a:solidFill>
                <a:latin typeface="Arial"/>
                <a:ea typeface="Arial"/>
                <a:cs typeface="Arial"/>
              </a:rPr>
              <a:t>   +4.29 s</a:t>
            </a:r>
          </a:p>
          <a:p>
            <a:pPr>
              <a:defRPr sz="1500">
                <a:solidFill>
                  <a:srgbClr val="1F1F1F"/>
                </a:solidFill>
                <a:latin typeface="Arial"/>
                <a:ea typeface="Arial"/>
                <a:cs typeface="Arial"/>
              </a:defRPr>
            </a:pPr>
            <a:r>
              <a:rPr sz="1500" b="1">
                <a:solidFill>
                  <a:srgbClr val="1F1F1F"/>
                </a:solidFill>
                <a:latin typeface="Arial"/>
                <a:ea typeface="Arial"/>
                <a:cs typeface="Arial"/>
              </a:rPr>
              <a:t>Measured GPR fit</a:t>
            </a:r>
            <a:r>
              <a:rPr sz="1500">
                <a:solidFill>
                  <a:srgbClr val="1F1F1F"/>
                </a:solidFill>
                <a:latin typeface="Arial"/>
                <a:ea typeface="Arial"/>
                <a:cs typeface="Arial"/>
              </a:rPr>
              <a:t>   4.24 s</a:t>
            </a:r>
          </a:p>
          <a:p>
            <a:pPr>
              <a:defRPr sz="1500">
                <a:solidFill>
                  <a:srgbClr val="1F1F1F"/>
                </a:solidFill>
                <a:latin typeface="Arial"/>
                <a:ea typeface="Arial"/>
                <a:cs typeface="Arial"/>
              </a:defRPr>
            </a:pPr>
            <a:r>
              <a:rPr sz="1500">
                <a:solidFill>
                  <a:srgbClr val="1F1F1F"/>
                </a:solidFill>
                <a:latin typeface="Arial"/>
                <a:ea typeface="Arial"/>
                <a:cs typeface="Arial"/>
              </a:rPr>
              <a:t>Controller time share   99%</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i="1">
                <a:solidFill>
                  <a:srgbClr val="1F1F1F"/>
                </a:solidFill>
                <a:latin typeface="Arial"/>
                <a:ea typeface="Arial"/>
                <a:cs typeface="Arial"/>
              </a:rPr>
              <a:t>Replay is diagnostic—not a deployable competitor.</a:t>
            </a:r>
          </a:p>
        </p:txBody>
      </p:sp>
      <p:sp>
        <p:nvSpPr>
          <p:cNvPr id="7" name="スライド番号プレースホルダー 2">
            <a:extLst>
              <a:ext uri="{FF2B5EF4-FFF2-40B4-BE49-F238E27FC236}">
                <a16:creationId xmlns:a16="http://schemas.microsoft.com/office/drawing/2014/main" id="{48810A09-CC83-C358-29E4-CC3FBB3456C4}"/>
              </a:ext>
            </a:extLst>
          </p:cNvPr>
          <p:cNvSpPr>
            <a:spLocks noGrp="1"/>
          </p:cNvSpPr>
          <p:nvPr>
            <p:ph type="sldNum" idx="12"/>
          </p:nvPr>
        </p:nvSpPr>
        <p:spPr>
          <a:xfrm>
            <a:off x="9202121" y="368959"/>
            <a:ext cx="1841809" cy="546400"/>
          </a:xfrm>
        </p:spPr>
        <p:txBody>
          <a:bodyPr/>
          <a:lstStyle/>
          <a:p>
            <a:fld id="{A9AD3F58-349D-3A41-BFFC-DA89322664A4}" type="slidenum">
              <a:rPr/>
              <a:t>33</a:t>
            </a:fld>
            <a:endParaRPr/>
          </a:p>
        </p:txBody>
      </p:sp>
      <p:sp>
        <p:nvSpPr>
          <p:cNvPr id="8" name="テキスト ボックス 7">
            <a:extLst>
              <a:ext uri="{FF2B5EF4-FFF2-40B4-BE49-F238E27FC236}">
                <a16:creationId xmlns:a16="http://schemas.microsoft.com/office/drawing/2014/main" id="{B0DA3AFF-AA91-EE98-76BC-652B4ABCFAB4}"/>
              </a:ext>
            </a:extLst>
          </p:cNvPr>
          <p:cNvSpPr>
            <a:spLocks noGrp="1"/>
          </p:cNvSpPr>
          <p:nvPr/>
        </p:nvSpPr>
        <p:spPr>
          <a:xfrm>
            <a:off x="7766926" y="1312985"/>
            <a:ext cx="3403496" cy="369332"/>
          </a:xfrm>
          <a:prstGeom prst="rect">
            <a:avLst/>
          </a:prstGeom>
          <a:noFill/>
        </p:spPr>
        <p:txBody>
          <a:bodyPr wrap="square">
            <a:normAutofit fontScale="82642" lnSpcReduction="10000"/>
          </a:bodyPr>
          <a:lstStyle/>
          <a:p>
            <a:pPr algn="ctr">
              <a:defRPr sz="1350" b="1">
                <a:solidFill>
                  <a:srgbClr val="17365D"/>
                </a:solidFill>
                <a:latin typeface="Arial"/>
                <a:ea typeface="Arial"/>
                <a:cs typeface="Arial"/>
              </a:defRPr>
            </a:pPr>
            <a:r>
              <a:rPr sz="1350" b="1">
                <a:solidFill>
                  <a:srgbClr val="17365D"/>
                </a:solidFill>
                <a:latin typeface="Arial"/>
                <a:ea typeface="Arial"/>
                <a:cs typeface="Arial"/>
              </a:rPr>
              <a:t>Same control sequence, trajectory, and final HV</a:t>
            </a:r>
          </a:p>
        </p:txBody>
      </p:sp>
      <p:graphicFrame>
        <p:nvGraphicFramePr>
          <p:cNvPr id="14" name="Chart"/>
          <p:cNvGraphicFramePr/>
          <p:nvPr/>
        </p:nvGraphicFramePr>
        <p:xfrm>
          <a:off x="0" y="1470454"/>
          <a:ext cx="7825099" cy="49049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4138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A2EF85-7F46-A876-FC1C-53D1D59BC562}"/>
              </a:ext>
            </a:extLst>
          </p:cNvPr>
          <p:cNvSpPr>
            <a:spLocks noGrp="1"/>
          </p:cNvSpPr>
          <p:nvPr>
            <p:ph type="title"/>
          </p:nvPr>
        </p:nvSpPr>
        <p:spPr>
          <a:xfrm>
            <a:off x="477012" y="276892"/>
            <a:ext cx="8572500" cy="638461"/>
          </a:xfrm>
        </p:spPr>
        <p:txBody>
          <a:bodyPr wrap="square" lIns="0" tIns="0" rIns="19050" bIns="0" anchor="ctr">
            <a:normAutofit/>
          </a:bodyPr>
          <a:lstStyle/>
          <a:p>
            <a:pPr>
              <a:defRPr sz="2175" b="1">
                <a:solidFill>
                  <a:srgbClr val="000000"/>
                </a:solidFill>
                <a:latin typeface="Arial"/>
                <a:ea typeface="Arial"/>
                <a:cs typeface="Arial"/>
              </a:defRPr>
            </a:pPr>
            <a:r>
              <a:rPr sz="2175" b="1">
                <a:solidFill>
                  <a:srgbClr val="000000"/>
                </a:solidFill>
                <a:latin typeface="Arial"/>
                <a:ea typeface="Arial"/>
                <a:cs typeface="Arial"/>
              </a:rPr>
              <a:t>63% of GPR Fits Repeated</a:t>
            </a:r>
          </a:p>
          <a:p>
            <a:pPr>
              <a:defRPr sz="2175" b="1">
                <a:solidFill>
                  <a:srgbClr val="000000"/>
                </a:solidFill>
                <a:latin typeface="Arial"/>
                <a:ea typeface="Arial"/>
                <a:cs typeface="Arial"/>
              </a:defRPr>
            </a:pPr>
            <a:r>
              <a:rPr sz="2175" b="1">
                <a:solidFill>
                  <a:srgbClr val="000000"/>
                </a:solidFill>
                <a:latin typeface="Arial"/>
                <a:ea typeface="Arial"/>
                <a:cs typeface="Arial"/>
              </a:rPr>
              <a:t>Unchanged Training Data</a:t>
            </a:r>
          </a:p>
        </p:txBody>
      </p:sp>
      <p:sp>
        <p:nvSpPr>
          <p:cNvPr id="4" name="テキスト ボックス 3">
            <a:extLst>
              <a:ext uri="{FF2B5EF4-FFF2-40B4-BE49-F238E27FC236}">
                <a16:creationId xmlns:a16="http://schemas.microsoft.com/office/drawing/2014/main" id="{68661035-B298-A121-A46E-2BD016E4C4E5}"/>
              </a:ext>
            </a:extLst>
          </p:cNvPr>
          <p:cNvSpPr>
            <a:spLocks noGrp="1"/>
          </p:cNvSpPr>
          <p:nvPr/>
        </p:nvSpPr>
        <p:spPr>
          <a:xfrm>
            <a:off x="7203989" y="1615092"/>
            <a:ext cx="4772460" cy="5539978"/>
          </a:xfrm>
          <a:prstGeom prst="rect">
            <a:avLst/>
          </a:prstGeom>
          <a:noFill/>
        </p:spPr>
        <p:txBody>
          <a:bodyPr wrap="square" lIns="95250" tIns="76200" rIns="95250" bIns="76200" anchor="ctr">
            <a:normAutofit/>
          </a:bodyPr>
          <a:lstStyle/>
          <a:p>
            <a:pPr>
              <a:defRPr sz="1500">
                <a:solidFill>
                  <a:srgbClr val="1F1F1F"/>
                </a:solidFill>
                <a:latin typeface="Arial"/>
                <a:ea typeface="Arial"/>
                <a:cs typeface="Arial"/>
              </a:defRPr>
            </a:pPr>
            <a:r>
              <a:rPr sz="1500" b="1">
                <a:solidFill>
                  <a:srgbClr val="1F1F1F"/>
                </a:solidFill>
                <a:latin typeface="Arial"/>
                <a:ea typeface="Arial"/>
                <a:cs typeface="Arial"/>
              </a:rPr>
              <a:t>4,749 of 7,543 fit calls</a:t>
            </a:r>
          </a:p>
          <a:p>
            <a:pPr>
              <a:defRPr sz="1500">
                <a:solidFill>
                  <a:srgbClr val="1F1F1F"/>
                </a:solidFill>
                <a:latin typeface="Arial"/>
                <a:ea typeface="Arial"/>
                <a:cs typeface="Arial"/>
              </a:defRPr>
            </a:pPr>
            <a:r>
              <a:rPr sz="1500" b="1">
                <a:solidFill>
                  <a:srgbClr val="1F1F1F"/>
                </a:solidFill>
                <a:latin typeface="Arial"/>
                <a:ea typeface="Arial"/>
                <a:cs typeface="Arial"/>
              </a:rPr>
              <a:t>63%</a:t>
            </a:r>
            <a:r>
              <a:rPr sz="1500">
                <a:solidFill>
                  <a:srgbClr val="1F1F1F"/>
                </a:solidFill>
                <a:latin typeface="Arial"/>
                <a:ea typeface="Arial"/>
                <a:cs typeface="Arial"/>
              </a:rPr>
              <a:t> repeated unchanged data</a:t>
            </a:r>
          </a:p>
          <a:p>
            <a:pPr>
              <a:defRPr sz="1500">
                <a:solidFill>
                  <a:srgbClr val="1F1F1F"/>
                </a:solidFill>
                <a:latin typeface="Arial"/>
                <a:ea typeface="Arial"/>
                <a:cs typeface="Arial"/>
              </a:defRPr>
            </a:pPr>
            <a:r>
              <a:rPr sz="1500">
                <a:solidFill>
                  <a:srgbClr val="1F1F1F"/>
                </a:solidFill>
                <a:latin typeface="Arial"/>
                <a:ea typeface="Arial"/>
                <a:cs typeface="Arial"/>
              </a:rPr>
              <a:t>for the same candidate k.</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b="1">
                <a:solidFill>
                  <a:srgbClr val="1F1F1F"/>
                </a:solidFill>
                <a:latin typeface="Arial"/>
                <a:ea typeface="Arial"/>
                <a:cs typeface="Arial"/>
              </a:rPr>
              <a:t>Next step</a:t>
            </a:r>
          </a:p>
          <a:p>
            <a:pPr>
              <a:defRPr sz="1500">
                <a:solidFill>
                  <a:srgbClr val="1F1F1F"/>
                </a:solidFill>
                <a:latin typeface="Arial"/>
                <a:ea typeface="Arial"/>
                <a:cs typeface="Arial"/>
              </a:defRPr>
            </a:pPr>
            <a:r>
              <a:rPr sz="1500">
                <a:solidFill>
                  <a:srgbClr val="1F1F1F"/>
                </a:solidFill>
                <a:latin typeface="Arial"/>
                <a:ea typeface="Arial"/>
                <a:cs typeface="Arial"/>
              </a:rPr>
              <a:t>Cache models whose training data did not change.</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i="1">
                <a:solidFill>
                  <a:srgbClr val="1F1F1F"/>
                </a:solidFill>
                <a:latin typeface="Arial"/>
                <a:ea typeface="Arial"/>
                <a:cs typeface="Arial"/>
              </a:rPr>
              <a:t>63% of calls does not imply 63% less time.</a:t>
            </a:r>
          </a:p>
        </p:txBody>
      </p:sp>
      <p:sp>
        <p:nvSpPr>
          <p:cNvPr id="6" name="スライド番号プレースホルダー 2">
            <a:extLst>
              <a:ext uri="{FF2B5EF4-FFF2-40B4-BE49-F238E27FC236}">
                <a16:creationId xmlns:a16="http://schemas.microsoft.com/office/drawing/2014/main" id="{B7336B3E-8F68-D644-70FC-C29C9BA3ED4C}"/>
              </a:ext>
            </a:extLst>
          </p:cNvPr>
          <p:cNvSpPr>
            <a:spLocks noGrp="1"/>
          </p:cNvSpPr>
          <p:nvPr>
            <p:ph type="sldNum" idx="12"/>
          </p:nvPr>
        </p:nvSpPr>
        <p:spPr>
          <a:xfrm>
            <a:off x="9202121" y="368959"/>
            <a:ext cx="1841809" cy="546400"/>
          </a:xfrm>
        </p:spPr>
        <p:txBody>
          <a:bodyPr/>
          <a:lstStyle/>
          <a:p>
            <a:fld id="{A9AD3F58-349D-3A41-BFFC-DA89322664A4}" type="slidenum">
              <a:t>34</a:t>
            </a:fld>
            <a:endParaRPr/>
          </a:p>
        </p:txBody>
      </p:sp>
      <p:graphicFrame>
        <p:nvGraphicFramePr>
          <p:cNvPr id="11" name="Chart"/>
          <p:cNvGraphicFramePr/>
          <p:nvPr/>
        </p:nvGraphicFramePr>
        <p:xfrm>
          <a:off x="685800" y="1325880"/>
          <a:ext cx="6309360" cy="4343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93441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4D644-2F7D-0E6F-C896-89D5FA193B1B}"/>
              </a:ext>
            </a:extLst>
          </p:cNvPr>
          <p:cNvSpPr>
            <a:spLocks noGrp="1"/>
          </p:cNvSpPr>
          <p:nvPr>
            <p:ph type="title"/>
          </p:nvPr>
        </p:nvSpPr>
        <p:spPr/>
        <p:txBody>
          <a:bodyPr wrap="square" lIns="0" tIns="0" rIns="19050" bIns="0" anchor="ctr">
            <a:normAutofit/>
          </a:bodyPr>
          <a:lstStyle/>
          <a:p>
            <a:pPr>
              <a:defRPr sz="3150" b="1">
                <a:solidFill>
                  <a:srgbClr val="000000"/>
                </a:solidFill>
                <a:latin typeface="Arial"/>
                <a:ea typeface="Arial"/>
                <a:cs typeface="Arial"/>
              </a:defRPr>
            </a:pPr>
            <a:r>
              <a:rPr sz="3150" b="1">
                <a:solidFill>
                  <a:srgbClr val="000000"/>
                </a:solidFill>
                <a:latin typeface="Arial"/>
                <a:ea typeface="Arial"/>
                <a:cs typeface="Arial"/>
              </a:rPr>
              <a:t>Backup: 30-Generation Results</a:t>
            </a:r>
          </a:p>
        </p:txBody>
      </p:sp>
      <p:sp>
        <p:nvSpPr>
          <p:cNvPr id="5" name="スライド番号プレースホルダー 2">
            <a:extLst>
              <a:ext uri="{FF2B5EF4-FFF2-40B4-BE49-F238E27FC236}">
                <a16:creationId xmlns:a16="http://schemas.microsoft.com/office/drawing/2014/main" id="{860AD0DA-79EC-E503-6CB9-C77ED17DE506}"/>
              </a:ext>
            </a:extLst>
          </p:cNvPr>
          <p:cNvSpPr>
            <a:spLocks noGrp="1"/>
          </p:cNvSpPr>
          <p:nvPr>
            <p:ph type="sldNum" idx="12"/>
          </p:nvPr>
        </p:nvSpPr>
        <p:spPr>
          <a:xfrm>
            <a:off x="9202121" y="368959"/>
            <a:ext cx="1841809" cy="546400"/>
          </a:xfrm>
        </p:spPr>
        <p:txBody>
          <a:bodyPr/>
          <a:lstStyle/>
          <a:p>
            <a:fld id="{A9AD3F58-349D-3A41-BFFC-DA89322664A4}" type="slidenum">
              <a:rPr/>
              <a:t>35</a:t>
            </a:fld>
            <a:endParaRPr/>
          </a:p>
        </p:txBody>
      </p:sp>
      <p:cxnSp>
        <p:nvCxnSpPr>
          <p:cNvPr id="48" name="直線矢印コネクタ 7"/>
          <p:cNvCxnSpPr/>
          <p:nvPr/>
        </p:nvCxnSpPr>
        <p:spPr>
          <a:xfrm flipH="1" flipV="1">
            <a:off x="5931877" y="2438400"/>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15"/>
          <p:cNvCxnSpPr>
            <a:endCxn id="15" idx="3"/>
          </p:cNvCxnSpPr>
          <p:nvPr/>
        </p:nvCxnSpPr>
        <p:spPr>
          <a:xfrm flipV="1">
            <a:off x="3715426" y="2766008"/>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4185B4DD-9D74-08F9-C9C0-68ACB58A4FF3}"/>
              </a:ext>
            </a:extLst>
          </p:cNvPr>
          <p:cNvSpPr>
            <a:spLocks noGrp="1"/>
          </p:cNvSpPr>
          <p:nvPr/>
        </p:nvSpPr>
        <p:spPr>
          <a:xfrm>
            <a:off x="8756885" y="4014686"/>
            <a:ext cx="3200054" cy="2286000"/>
          </a:xfrm>
          <a:prstGeom prst="rect">
            <a:avLst/>
          </a:prstGeom>
          <a:noFill/>
        </p:spPr>
        <p:txBody>
          <a:bodyPr wrap="square" lIns="76200" tIns="76200" rIns="76200" bIns="76200" anchor="ctr">
            <a:normAutofit/>
          </a:bodyPr>
          <a:lstStyle/>
          <a:p>
            <a:pPr>
              <a:defRPr sz="1425">
                <a:solidFill>
                  <a:srgbClr val="1F1F1F"/>
                </a:solidFill>
                <a:latin typeface="Arial"/>
                <a:ea typeface="Arial"/>
                <a:cs typeface="Arial"/>
              </a:defRPr>
            </a:pPr>
            <a:r>
              <a:rPr sz="1425" b="1">
                <a:solidFill>
                  <a:srgbClr val="1F1F1F"/>
                </a:solidFill>
                <a:latin typeface="Arial"/>
                <a:ea typeface="Arial"/>
                <a:cs typeface="Arial"/>
              </a:rPr>
              <a:t>Quality result</a:t>
            </a:r>
          </a:p>
          <a:p>
            <a:pPr>
              <a:defRPr sz="1425">
                <a:solidFill>
                  <a:srgbClr val="1F1F1F"/>
                </a:solidFill>
                <a:latin typeface="Arial"/>
                <a:ea typeface="Arial"/>
                <a:cs typeface="Arial"/>
              </a:defRPr>
            </a:pPr>
            <a:r>
              <a:rPr sz="1425">
                <a:solidFill>
                  <a:srgbClr val="1F1F1F"/>
                </a:solidFill>
                <a:latin typeface="Arial"/>
                <a:ea typeface="Arial"/>
                <a:cs typeface="Arial"/>
              </a:rPr>
              <a:t>No clear mean-HV improvement</a:t>
            </a:r>
          </a:p>
          <a:p>
            <a:pPr>
              <a:defRPr sz="1425">
                <a:solidFill>
                  <a:srgbClr val="1F1F1F"/>
                </a:solidFill>
                <a:latin typeface="Arial"/>
                <a:ea typeface="Arial"/>
                <a:cs typeface="Arial"/>
              </a:defRPr>
            </a:pPr>
            <a:r>
              <a:rPr sz="1425">
                <a:solidFill>
                  <a:srgbClr val="1F1F1F"/>
                </a:solidFill>
                <a:latin typeface="Arial"/>
                <a:ea typeface="Arial"/>
                <a:cs typeface="Arial"/>
              </a:rPr>
              <a:t>over Fixed standard</a:t>
            </a:r>
          </a:p>
          <a:p>
            <a:pPr>
              <a:defRPr sz="1425">
                <a:solidFill>
                  <a:srgbClr val="1F1F1F"/>
                </a:solidFill>
                <a:latin typeface="Arial"/>
                <a:ea typeface="Arial"/>
                <a:cs typeface="Arial"/>
              </a:defRPr>
            </a:pPr>
            <a:r>
              <a:rPr sz="1425">
                <a:solidFill>
                  <a:srgbClr val="1F1F1F"/>
                </a:solidFill>
                <a:latin typeface="Arial"/>
                <a:ea typeface="Arial"/>
                <a:cs typeface="Arial"/>
              </a:rPr>
              <a:t>95% CI  [−0.001, +0.034]</a:t>
            </a:r>
          </a:p>
          <a:p>
            <a:endParaRPr sz="1425">
              <a:solidFill>
                <a:srgbClr val="1F1F1F"/>
              </a:solidFill>
              <a:latin typeface="Arial"/>
              <a:ea typeface="Arial"/>
              <a:cs typeface="Arial"/>
            </a:endParaRPr>
          </a:p>
          <a:p>
            <a:pPr>
              <a:defRPr sz="1425">
                <a:solidFill>
                  <a:srgbClr val="1F1F1F"/>
                </a:solidFill>
                <a:latin typeface="Arial"/>
                <a:ea typeface="Arial"/>
                <a:cs typeface="Arial"/>
              </a:defRPr>
            </a:pPr>
            <a:r>
              <a:rPr sz="1425">
                <a:solidFill>
                  <a:srgbClr val="1F1F1F"/>
                </a:solidFill>
                <a:latin typeface="Arial"/>
                <a:ea typeface="Arial"/>
                <a:cs typeface="Arial"/>
              </a:rPr>
              <a:t>No time advantage over High mutation</a:t>
            </a:r>
          </a:p>
        </p:txBody>
      </p:sp>
      <p:sp>
        <p:nvSpPr>
          <p:cNvPr id="23" name="テキスト ボックス 22">
            <a:extLst>
              <a:ext uri="{FF2B5EF4-FFF2-40B4-BE49-F238E27FC236}">
                <a16:creationId xmlns:a16="http://schemas.microsoft.com/office/drawing/2014/main" id="{D7FB3FE6-5F7F-D75B-A496-FEC45AEBCEAA}"/>
              </a:ext>
            </a:extLst>
          </p:cNvPr>
          <p:cNvSpPr>
            <a:spLocks noGrp="1"/>
          </p:cNvSpPr>
          <p:nvPr/>
        </p:nvSpPr>
        <p:spPr>
          <a:xfrm>
            <a:off x="8756885" y="1960746"/>
            <a:ext cx="3200054" cy="1846659"/>
          </a:xfrm>
          <a:prstGeom prst="rect">
            <a:avLst/>
          </a:prstGeom>
          <a:noFill/>
        </p:spPr>
        <p:txBody>
          <a:bodyPr wrap="square" lIns="76200" tIns="76200" rIns="76200" bIns="76200" anchor="ctr">
            <a:normAutofit/>
          </a:bodyPr>
          <a:lstStyle/>
          <a:p>
            <a:pPr>
              <a:defRPr sz="1575">
                <a:solidFill>
                  <a:srgbClr val="1F1F1F"/>
                </a:solidFill>
                <a:latin typeface="Arial"/>
                <a:ea typeface="Arial"/>
                <a:cs typeface="Arial"/>
              </a:defRPr>
            </a:pPr>
            <a:r>
              <a:rPr sz="1575" b="1">
                <a:solidFill>
                  <a:srgbClr val="1F1F1F"/>
                </a:solidFill>
                <a:latin typeface="Arial"/>
                <a:ea typeface="Arial"/>
                <a:cs typeface="Arial"/>
              </a:rPr>
              <a:t>Short-run timing</a:t>
            </a:r>
          </a:p>
          <a:p>
            <a:pPr>
              <a:defRPr sz="1575">
                <a:solidFill>
                  <a:srgbClr val="1F1F1F"/>
                </a:solidFill>
                <a:latin typeface="Arial"/>
                <a:ea typeface="Arial"/>
                <a:cs typeface="Arial"/>
              </a:defRPr>
            </a:pPr>
            <a:r>
              <a:rPr sz="1575">
                <a:solidFill>
                  <a:srgbClr val="1F1F1F"/>
                </a:solidFill>
                <a:latin typeface="Arial"/>
                <a:ea typeface="Arial"/>
                <a:cs typeface="Arial"/>
              </a:rPr>
              <a:t>Proposed method   1.40 s</a:t>
            </a:r>
          </a:p>
          <a:p>
            <a:pPr>
              <a:defRPr sz="1575">
                <a:solidFill>
                  <a:srgbClr val="1F1F1F"/>
                </a:solidFill>
                <a:latin typeface="Arial"/>
                <a:ea typeface="Arial"/>
                <a:cs typeface="Arial"/>
              </a:defRPr>
            </a:pPr>
            <a:r>
              <a:rPr sz="1575">
                <a:solidFill>
                  <a:srgbClr val="1F1F1F"/>
                </a:solidFill>
                <a:latin typeface="Arial"/>
                <a:ea typeface="Arial"/>
                <a:cs typeface="Arial"/>
              </a:rPr>
              <a:t>Fixed standard       1.16 s</a:t>
            </a:r>
          </a:p>
          <a:p>
            <a:pPr>
              <a:defRPr sz="1575">
                <a:solidFill>
                  <a:srgbClr val="1F1F1F"/>
                </a:solidFill>
                <a:latin typeface="Arial"/>
                <a:ea typeface="Arial"/>
                <a:cs typeface="Arial"/>
              </a:defRPr>
            </a:pPr>
            <a:r>
              <a:rPr sz="1575" b="1">
                <a:solidFill>
                  <a:srgbClr val="1F1F1F"/>
                </a:solidFill>
                <a:latin typeface="Arial"/>
                <a:ea typeface="Arial"/>
                <a:cs typeface="Arial"/>
              </a:rPr>
              <a:t>Time ratio   1.21×</a:t>
            </a:r>
          </a:p>
        </p:txBody>
      </p:sp>
      <p:graphicFrame>
        <p:nvGraphicFramePr>
          <p:cNvPr id="52" name="Chart"/>
          <p:cNvGraphicFramePr/>
          <p:nvPr/>
        </p:nvGraphicFramePr>
        <p:xfrm>
          <a:off x="93785" y="1546125"/>
          <a:ext cx="8660967" cy="4621697"/>
        </p:xfrm>
        <a:graphic>
          <a:graphicData uri="http://schemas.openxmlformats.org/drawingml/2006/chart">
            <c:chart xmlns:c="http://schemas.openxmlformats.org/drawingml/2006/chart" xmlns:r="http://schemas.openxmlformats.org/officeDocument/2006/relationships" r:id="rId3"/>
          </a:graphicData>
        </a:graphic>
      </p:graphicFrame>
      <p:sp>
        <p:nvSpPr>
          <p:cNvPr id="43" name="Direct label - High mutation">
            <a:extLst>
              <a:ext uri="{FF2B5EF4-FFF2-40B4-BE49-F238E27FC236}">
                <a16:creationId xmlns:a16="http://schemas.microsoft.com/office/drawing/2014/main" id="{A1FC0EF4-62B7-4ED9-B796-FBE09DC29F5E}"/>
              </a:ext>
            </a:extLst>
          </p:cNvPr>
          <p:cNvSpPr>
            <a:spLocks noGrp="1"/>
          </p:cNvSpPr>
          <p:nvPr/>
        </p:nvSpPr>
        <p:spPr>
          <a:xfrm>
            <a:off x="952500" y="1666875"/>
            <a:ext cx="2047875" cy="428625"/>
          </a:xfrm>
          <a:prstGeom prst="rect">
            <a:avLst/>
          </a:prstGeom>
          <a:solidFill>
            <a:srgbClr val="000000">
              <a:alpha val="0"/>
            </a:srgbClr>
          </a:solidFill>
          <a:ln w="0">
            <a:solidFill>
              <a:srgbClr val="000000">
                <a:alpha val="0"/>
              </a:srgbClr>
            </a:solidFill>
            <a:prstDash val="solid"/>
          </a:ln>
        </p:spPr>
        <p:txBody>
          <a:bodyPr wrap="square" lIns="19050" tIns="9525" rIns="19050" bIns="9525" anchor="ctr">
            <a:normAutofit/>
          </a:bodyPr>
          <a:lstStyle/>
          <a:p>
            <a:pPr algn="ctr">
              <a:defRPr sz="1125" b="1">
                <a:solidFill>
                  <a:srgbClr val="70AD47"/>
                </a:solidFill>
                <a:latin typeface="Arial"/>
                <a:ea typeface="Arial"/>
                <a:cs typeface="Arial"/>
              </a:defRPr>
            </a:pPr>
            <a:r>
              <a:rPr sz="1125" b="1">
                <a:solidFill>
                  <a:srgbClr val="70AD47"/>
                </a:solidFill>
                <a:latin typeface="Arial"/>
                <a:ea typeface="Arial"/>
                <a:cs typeface="Arial"/>
              </a:rPr>
              <a:t>High mutation</a:t>
            </a:r>
          </a:p>
          <a:p>
            <a:pPr algn="ctr">
              <a:defRPr sz="1125" b="1">
                <a:solidFill>
                  <a:srgbClr val="70AD47"/>
                </a:solidFill>
                <a:latin typeface="Arial"/>
                <a:ea typeface="Arial"/>
                <a:cs typeface="Arial"/>
              </a:defRPr>
            </a:pPr>
            <a:r>
              <a:rPr sz="1125" b="1">
                <a:solidFill>
                  <a:srgbClr val="70AD47"/>
                </a:solidFill>
                <a:latin typeface="Arial"/>
                <a:ea typeface="Arial"/>
                <a:cs typeface="Arial"/>
              </a:rPr>
              <a:t>1.08 s | 0.777</a:t>
            </a:r>
          </a:p>
        </p:txBody>
      </p:sp>
      <p:sp>
        <p:nvSpPr>
          <p:cNvPr id="44" name="Direct label - Fixed standard">
            <a:extLst>
              <a:ext uri="{FF2B5EF4-FFF2-40B4-BE49-F238E27FC236}">
                <a16:creationId xmlns:a16="http://schemas.microsoft.com/office/drawing/2014/main" id="{B8DB8E50-3219-4E4A-926A-785A519F1FE5}"/>
              </a:ext>
            </a:extLst>
          </p:cNvPr>
          <p:cNvSpPr>
            <a:spLocks noGrp="1"/>
          </p:cNvSpPr>
          <p:nvPr/>
        </p:nvSpPr>
        <p:spPr>
          <a:xfrm>
            <a:off x="2524125" y="4524375"/>
            <a:ext cx="2095500" cy="428625"/>
          </a:xfrm>
          <a:prstGeom prst="rect">
            <a:avLst/>
          </a:prstGeom>
          <a:solidFill>
            <a:srgbClr val="000000">
              <a:alpha val="0"/>
            </a:srgbClr>
          </a:solidFill>
          <a:ln w="0">
            <a:solidFill>
              <a:srgbClr val="000000">
                <a:alpha val="0"/>
              </a:srgbClr>
            </a:solidFill>
            <a:prstDash val="solid"/>
          </a:ln>
        </p:spPr>
        <p:txBody>
          <a:bodyPr wrap="square" lIns="19050" tIns="9525" rIns="19050" bIns="9525" anchor="ctr">
            <a:normAutofit/>
          </a:bodyPr>
          <a:lstStyle/>
          <a:p>
            <a:pPr algn="ctr">
              <a:defRPr sz="1125" b="1">
                <a:solidFill>
                  <a:srgbClr val="6A8CAF"/>
                </a:solidFill>
                <a:latin typeface="Arial"/>
                <a:ea typeface="Arial"/>
                <a:cs typeface="Arial"/>
              </a:defRPr>
            </a:pPr>
            <a:r>
              <a:rPr sz="1125" b="1">
                <a:solidFill>
                  <a:srgbClr val="6A8CAF"/>
                </a:solidFill>
                <a:latin typeface="Arial"/>
                <a:ea typeface="Arial"/>
                <a:cs typeface="Arial"/>
              </a:rPr>
              <a:t>Fixed standard</a:t>
            </a:r>
          </a:p>
          <a:p>
            <a:pPr algn="ctr">
              <a:defRPr sz="1125" b="1">
                <a:solidFill>
                  <a:srgbClr val="6A8CAF"/>
                </a:solidFill>
                <a:latin typeface="Arial"/>
                <a:ea typeface="Arial"/>
                <a:cs typeface="Arial"/>
              </a:defRPr>
            </a:pPr>
            <a:r>
              <a:rPr sz="1125" b="1">
                <a:solidFill>
                  <a:srgbClr val="6A8CAF"/>
                </a:solidFill>
                <a:latin typeface="Arial"/>
                <a:ea typeface="Arial"/>
                <a:cs typeface="Arial"/>
              </a:rPr>
              <a:t>1.16 s | 0.757</a:t>
            </a:r>
          </a:p>
        </p:txBody>
      </p:sp>
      <p:sp>
        <p:nvSpPr>
          <p:cNvPr id="45" name="Direct label - Proposed method">
            <a:extLst>
              <a:ext uri="{FF2B5EF4-FFF2-40B4-BE49-F238E27FC236}">
                <a16:creationId xmlns:a16="http://schemas.microsoft.com/office/drawing/2014/main" id="{6AD09A01-2411-415C-A9F3-9B2AF1E65550}"/>
              </a:ext>
            </a:extLst>
          </p:cNvPr>
          <p:cNvSpPr>
            <a:spLocks noGrp="1"/>
          </p:cNvSpPr>
          <p:nvPr/>
        </p:nvSpPr>
        <p:spPr>
          <a:xfrm>
            <a:off x="5810250" y="2209800"/>
            <a:ext cx="2305050" cy="428625"/>
          </a:xfrm>
          <a:prstGeom prst="rect">
            <a:avLst/>
          </a:prstGeom>
          <a:solidFill>
            <a:srgbClr val="000000">
              <a:alpha val="0"/>
            </a:srgbClr>
          </a:solidFill>
          <a:ln w="0">
            <a:solidFill>
              <a:srgbClr val="000000">
                <a:alpha val="0"/>
              </a:srgbClr>
            </a:solidFill>
            <a:prstDash val="solid"/>
          </a:ln>
        </p:spPr>
        <p:txBody>
          <a:bodyPr wrap="square" lIns="19050" tIns="9525" rIns="19050" bIns="9525" anchor="ctr">
            <a:normAutofit/>
          </a:bodyPr>
          <a:lstStyle/>
          <a:p>
            <a:pPr algn="ctr">
              <a:defRPr sz="1125" b="1">
                <a:solidFill>
                  <a:srgbClr val="D95F5F"/>
                </a:solidFill>
                <a:latin typeface="Arial"/>
                <a:ea typeface="Arial"/>
                <a:cs typeface="Arial"/>
              </a:defRPr>
            </a:pPr>
            <a:r>
              <a:rPr sz="1125" b="1">
                <a:solidFill>
                  <a:srgbClr val="D95F5F"/>
                </a:solidFill>
                <a:latin typeface="Arial"/>
                <a:ea typeface="Arial"/>
                <a:cs typeface="Arial"/>
              </a:rPr>
              <a:t>Proposed method</a:t>
            </a:r>
          </a:p>
          <a:p>
            <a:pPr algn="ctr">
              <a:defRPr sz="1125" b="1">
                <a:solidFill>
                  <a:srgbClr val="D95F5F"/>
                </a:solidFill>
                <a:latin typeface="Arial"/>
                <a:ea typeface="Arial"/>
                <a:cs typeface="Arial"/>
              </a:defRPr>
            </a:pPr>
            <a:r>
              <a:rPr sz="1125" b="1">
                <a:solidFill>
                  <a:srgbClr val="D95F5F"/>
                </a:solidFill>
                <a:latin typeface="Arial"/>
                <a:ea typeface="Arial"/>
                <a:cs typeface="Arial"/>
              </a:rPr>
              <a:t>1.40 s | 0.773</a:t>
            </a:r>
          </a:p>
        </p:txBody>
      </p:sp>
    </p:spTree>
    <p:extLst>
      <p:ext uri="{BB962C8B-B14F-4D97-AF65-F5344CB8AC3E}">
        <p14:creationId xmlns:p14="http://schemas.microsoft.com/office/powerpoint/2010/main" val="216371431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2528</TotalTime>
  <Words>7228</Words>
  <Application>Microsoft Macintosh PowerPoint</Application>
  <DocSecurity>0</DocSecurity>
  <PresentationFormat>ワイド画面</PresentationFormat>
  <Paragraphs>640</Paragraphs>
  <Slides>35</Slides>
  <Notes>30</Notes>
  <HiddenSlides>15</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35</vt:i4>
      </vt:variant>
    </vt:vector>
  </HeadingPairs>
  <TitlesOfParts>
    <vt:vector size="42" baseType="lpstr">
      <vt:lpstr>游ゴシック</vt:lpstr>
      <vt:lpstr>游ゴシック</vt:lpstr>
      <vt:lpstr>游ゴシック Light</vt:lpstr>
      <vt:lpstr>Arial</vt:lpstr>
      <vt:lpstr>Cambria Math</vt:lpstr>
      <vt:lpstr>Wingdings</vt:lpstr>
      <vt:lpstr>Office テーマ</vt:lpstr>
      <vt:lpstr>進捗報告</vt:lpstr>
      <vt:lpstr>PC組みました</vt:lpstr>
      <vt:lpstr>Bayesian Optimization-Based Design of Diversity and Convergence Characteristics in Genetic Programming</vt:lpstr>
      <vt:lpstr>Introduction</vt:lpstr>
      <vt:lpstr>Introduction : Background</vt:lpstr>
      <vt:lpstr>Related Research</vt:lpstr>
      <vt:lpstr>Research Objective</vt:lpstr>
      <vt:lpstr>Proposed method</vt:lpstr>
      <vt:lpstr>BO : Bayesian Optimization</vt:lpstr>
      <vt:lpstr>Experiment</vt:lpstr>
      <vt:lpstr>Experiment</vt:lpstr>
      <vt:lpstr>Result 1 : Final Archive HV・Diversity</vt:lpstr>
      <vt:lpstr>Result 2 : Archive HV Progress</vt:lpstr>
      <vt:lpstr>Result 3 : Update timing</vt:lpstr>
      <vt:lpstr>Conclusion &amp; Summary</vt:lpstr>
      <vt:lpstr>Computation-Cost Experiment</vt:lpstr>
      <vt:lpstr>Computation-Cost Experiment</vt:lpstr>
      <vt:lpstr>The proposed method improves on fixed standard, but requires more time</vt:lpstr>
      <vt:lpstr>Under the same deadline, high mutation leads</vt:lpstr>
      <vt:lpstr>Conclusion</vt:lpstr>
      <vt:lpstr>Current Takeaway and Next Validation</vt:lpstr>
      <vt:lpstr>Computation-Cost Experiment</vt:lpstr>
      <vt:lpstr>The proposed method improves on fixed standard, but requires more time</vt:lpstr>
      <vt:lpstr>Under the same deadline, high mutation leads</vt:lpstr>
      <vt:lpstr>Pareto Front</vt:lpstr>
      <vt:lpstr>Multi-Objective GP (MOGP)</vt:lpstr>
      <vt:lpstr>Result 3 : Pareto Front</vt:lpstr>
      <vt:lpstr>Proposed method</vt:lpstr>
      <vt:lpstr>Proposed Method</vt:lpstr>
      <vt:lpstr>Bayesian Optimization (BO)</vt:lpstr>
      <vt:lpstr>Result 4 : Update Period k</vt:lpstr>
      <vt:lpstr>Conclusion</vt:lpstr>
      <vt:lpstr>GPR Re-fitting Is the Main Source of Additional Time</vt:lpstr>
      <vt:lpstr>63% of GPR Fits Repeated Unchanged Training Data</vt:lpstr>
      <vt:lpstr>Backup: 30-Generation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明神 翔大</cp:lastModifiedBy>
  <cp:revision>4</cp:revision>
  <dcterms:created xsi:type="dcterms:W3CDTF">2026-07-31T16:41:25Z</dcterms:created>
  <dcterms:modified xsi:type="dcterms:W3CDTF">2026-08-03T03:53:21Z</dcterms:modified>
</cp:coreProperties>
</file>